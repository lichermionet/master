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  <p:sldMasterId id="2147483773" r:id="rId2"/>
  </p:sldMasterIdLst>
  <p:notesMasterIdLst>
    <p:notesMasterId r:id="rId31"/>
  </p:notesMasterIdLst>
  <p:sldIdLst>
    <p:sldId id="256" r:id="rId3"/>
    <p:sldId id="259" r:id="rId4"/>
    <p:sldId id="257" r:id="rId5"/>
    <p:sldId id="287" r:id="rId6"/>
    <p:sldId id="362" r:id="rId7"/>
    <p:sldId id="370" r:id="rId8"/>
    <p:sldId id="363" r:id="rId9"/>
    <p:sldId id="344" r:id="rId10"/>
    <p:sldId id="369" r:id="rId11"/>
    <p:sldId id="264" r:id="rId12"/>
    <p:sldId id="290" r:id="rId13"/>
    <p:sldId id="364" r:id="rId14"/>
    <p:sldId id="350" r:id="rId15"/>
    <p:sldId id="355" r:id="rId16"/>
    <p:sldId id="304" r:id="rId17"/>
    <p:sldId id="353" r:id="rId18"/>
    <p:sldId id="365" r:id="rId19"/>
    <p:sldId id="366" r:id="rId20"/>
    <p:sldId id="358" r:id="rId21"/>
    <p:sldId id="351" r:id="rId22"/>
    <p:sldId id="359" r:id="rId23"/>
    <p:sldId id="360" r:id="rId24"/>
    <p:sldId id="325" r:id="rId25"/>
    <p:sldId id="267" r:id="rId26"/>
    <p:sldId id="340" r:id="rId27"/>
    <p:sldId id="341" r:id="rId28"/>
    <p:sldId id="342" r:id="rId29"/>
    <p:sldId id="285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09EDE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493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33236A-D10C-4730-8456-2C9A2A350BBA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304ECB-28B6-4831-8436-F017BBB1A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511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1B2860-E65F-49AE-8253-484EA5C39B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0F8AA6B-BCD6-4B5D-BA01-1BBD9BEFB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4E96E9-65C3-480A-9D15-D7860E6B7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5C7F47-9931-4C2A-88AC-D29D48663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85F178-10C6-43E1-842D-579353C52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7314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7739C7-39CB-4B5F-8CA5-25EDD72EA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6A021D-15E2-4284-972F-0732E78D5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44772F-49C7-4B48-A291-FEB330AAA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0FFD17-F3EA-4108-86EC-4AD4D4638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7F4410-581A-40B8-945D-9424F425C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4037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847AB6-FB4B-465D-A4D4-F89AD758E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51F3AD-F2B6-43D0-8275-2B6DEFA59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A7CB62-E79D-47B9-944A-FF2049CD9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67BA84-4818-4702-89C9-217B40785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161E99-4B46-4801-AC1A-F5DA849AA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4100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F32152-0C39-450D-B7B5-B9DA04746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2A99CF-BC3B-46D7-9894-163F0FEEA2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38880B-C946-457B-AFC6-60FC73AB8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222534-743F-41D9-A69C-618D38131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D1100C-4FFC-43B4-8400-3344694E1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B0DE8A-AA22-4DE1-9049-4B02429C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683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A4E8A9-478E-460A-B5F7-9CC007A5B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0C2C03-6D79-40DF-A114-5E0219D05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644A4E-AA45-439D-8803-F442D3FFE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6F01538-373C-4DF8-ABA4-466BB50281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8B18677-6B45-4597-8479-FB59F32306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31D3D01-8770-46AE-A690-2D74A9A75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BE2F0BE-143D-43F8-B70A-2EDCE0847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8B90C3D-F669-44ED-BB62-2CBCF9687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167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426442-E5B4-41BB-9829-A065FB762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01FAE1-D914-4C25-AC9C-7E1B74613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6E2FACF-42D9-4C68-BAB4-7D5316987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6DEA1C3-61E4-48AD-9F44-5527DB12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46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DED24BA-2934-415F-B582-F017C1EFA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EC34EEB-9965-42DA-9DEC-487765CB6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E852C5-C25F-4FDE-AC4E-B997FC154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882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FED84E-DDA2-463C-848E-2C964D854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157814-ABE2-48D6-A4B0-85122E3DD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5867A3-66CD-4685-B5F7-CF5DE508C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C0C776-6A3A-4193-9032-729CB02AD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C83D47-BCEB-47B4-B5C8-8C3937BC6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0CA156-D209-4A69-82EF-DA52A97E0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1084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44FA3E-472C-4765-B7DF-6A6C44ED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89820D9-AAC7-405B-B391-6384FF7D0A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7E530F-7142-44C8-97D9-39F5D47CE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180FE6-18E8-4DC9-94FF-64AC44E1D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27D4CE-C7E0-4197-8C90-A7C82A9CD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5C8610-DA82-4164-8082-68699BC4E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5015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37BC05-F5D3-4AA7-AD48-2ED6C203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F612E4A-3FBA-469C-B749-90D0839203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3E4705-7B18-4FD8-92BC-A1019034B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7D4569-2809-4E26-B5A5-0EEF662B8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403532-5DDA-435E-AF6B-3519FBEF9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036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A7089C1-A40D-46C3-9C47-97BFE2238D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AD63B2-2732-44CF-A00A-46F528760B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CD3B92-679B-4938-811C-27AC34071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193761-7D72-4537-B718-B90DCC98F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FD592A-1DAB-472B-9F14-065B3A325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8382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45171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A8FEE5-D571-4297-AA0E-C2E32E612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67C36D8-FA4C-4875-97D0-949A7752F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2A7C2-A89A-4810-814B-45BDF0D6DEF1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BDF473A-C06F-4648-A989-2103277FC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A6A78AF-3C09-452C-A258-4AEF4BCC1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90AC2-FB05-4800-845E-A5C4058020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040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33919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流程图: 延期 6">
            <a:extLst>
              <a:ext uri="{FF2B5EF4-FFF2-40B4-BE49-F238E27FC236}">
                <a16:creationId xmlns:a16="http://schemas.microsoft.com/office/drawing/2014/main" id="{AB659660-7414-4183-914D-1E8F88C5B4A6}"/>
              </a:ext>
            </a:extLst>
          </p:cNvPr>
          <p:cNvSpPr/>
          <p:nvPr userDrawn="1"/>
        </p:nvSpPr>
        <p:spPr>
          <a:xfrm rot="10800000" flipV="1">
            <a:off x="872454" y="1740715"/>
            <a:ext cx="1585520" cy="1688285"/>
          </a:xfrm>
          <a:prstGeom prst="flowChartDelay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3AA5318-DA55-4B9D-9575-82F892CABC8C}"/>
              </a:ext>
            </a:extLst>
          </p:cNvPr>
          <p:cNvCxnSpPr/>
          <p:nvPr userDrawn="1"/>
        </p:nvCxnSpPr>
        <p:spPr>
          <a:xfrm>
            <a:off x="2860646" y="3521279"/>
            <a:ext cx="6300132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15307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1B3AE6D8-F7DD-488C-872A-E12BA3AE2392}"/>
              </a:ext>
            </a:extLst>
          </p:cNvPr>
          <p:cNvSpPr/>
          <p:nvPr userDrawn="1"/>
        </p:nvSpPr>
        <p:spPr>
          <a:xfrm>
            <a:off x="1057013" y="436228"/>
            <a:ext cx="109057" cy="922789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5946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DF8010-423C-40C9-95E2-4258CF66F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EB2C31-43E3-4100-AE6C-5D8D4F6AA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4662C2-D475-4A0B-B60C-BB33A9F62C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606FF0-057D-45D8-BC7D-659421947EDD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4E7155-D9AD-4312-9F30-B743EF4D2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6459DC-5351-4085-95E5-20196C1CF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13E32C-D119-4EEE-8569-75EA44A100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1926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流程图: 延期 6">
            <a:extLst>
              <a:ext uri="{FF2B5EF4-FFF2-40B4-BE49-F238E27FC236}">
                <a16:creationId xmlns:a16="http://schemas.microsoft.com/office/drawing/2014/main" id="{AB659660-7414-4183-914D-1E8F88C5B4A6}"/>
              </a:ext>
            </a:extLst>
          </p:cNvPr>
          <p:cNvSpPr/>
          <p:nvPr userDrawn="1"/>
        </p:nvSpPr>
        <p:spPr>
          <a:xfrm rot="10800000" flipV="1">
            <a:off x="872454" y="1740715"/>
            <a:ext cx="1585520" cy="1688285"/>
          </a:xfrm>
          <a:prstGeom prst="flowChartDelay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3AA5318-DA55-4B9D-9575-82F892CABC8C}"/>
              </a:ext>
            </a:extLst>
          </p:cNvPr>
          <p:cNvCxnSpPr/>
          <p:nvPr userDrawn="1"/>
        </p:nvCxnSpPr>
        <p:spPr>
          <a:xfrm>
            <a:off x="2860646" y="3521279"/>
            <a:ext cx="6300132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6045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流程图: 延期 6">
            <a:extLst>
              <a:ext uri="{FF2B5EF4-FFF2-40B4-BE49-F238E27FC236}">
                <a16:creationId xmlns:a16="http://schemas.microsoft.com/office/drawing/2014/main" id="{AB659660-7414-4183-914D-1E8F88C5B4A6}"/>
              </a:ext>
            </a:extLst>
          </p:cNvPr>
          <p:cNvSpPr/>
          <p:nvPr userDrawn="1"/>
        </p:nvSpPr>
        <p:spPr>
          <a:xfrm rot="10800000" flipV="1">
            <a:off x="872454" y="1740715"/>
            <a:ext cx="1585520" cy="1688285"/>
          </a:xfrm>
          <a:prstGeom prst="flowChartDelay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3AA5318-DA55-4B9D-9575-82F892CABC8C}"/>
              </a:ext>
            </a:extLst>
          </p:cNvPr>
          <p:cNvCxnSpPr/>
          <p:nvPr userDrawn="1"/>
        </p:nvCxnSpPr>
        <p:spPr>
          <a:xfrm>
            <a:off x="2860646" y="3521279"/>
            <a:ext cx="6300132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0942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流程图: 延期 6">
            <a:extLst>
              <a:ext uri="{FF2B5EF4-FFF2-40B4-BE49-F238E27FC236}">
                <a16:creationId xmlns:a16="http://schemas.microsoft.com/office/drawing/2014/main" id="{AB659660-7414-4183-914D-1E8F88C5B4A6}"/>
              </a:ext>
            </a:extLst>
          </p:cNvPr>
          <p:cNvSpPr/>
          <p:nvPr userDrawn="1"/>
        </p:nvSpPr>
        <p:spPr>
          <a:xfrm rot="10800000" flipV="1">
            <a:off x="872454" y="1740715"/>
            <a:ext cx="1585520" cy="1688285"/>
          </a:xfrm>
          <a:prstGeom prst="flowChartDelay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3AA5318-DA55-4B9D-9575-82F892CABC8C}"/>
              </a:ext>
            </a:extLst>
          </p:cNvPr>
          <p:cNvCxnSpPr/>
          <p:nvPr userDrawn="1"/>
        </p:nvCxnSpPr>
        <p:spPr>
          <a:xfrm>
            <a:off x="2860646" y="3521279"/>
            <a:ext cx="6300132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57929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591560-B65C-48F8-9690-59B8E304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B83FC7-A379-4F5E-8550-F6757CF8A4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AC9C355-B12D-4BAF-99EC-34D315AA66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55B8F6-5886-4BB4-8F0D-E379F5EB61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606FF0-057D-45D8-BC7D-659421947EDD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A12FED-CAA5-4172-B6DE-E79AF4763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0FA516-A41A-4D49-B4C2-47FA877D1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13E32C-D119-4EEE-8569-75EA44A100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72734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99FE1D-1DFD-4613-A467-E9089D540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DB9B3F-81B5-4DE1-A3EF-EBB5C8DDB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E7E7041-26D4-45B2-8FE6-FD8E54D519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2F7299A-8D6F-4BB1-B21D-61664BA748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AB4FF7-C051-454D-8826-B0B2168537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86FB6B3-AF4C-4A92-AEA8-62C4F54FD0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606FF0-057D-45D8-BC7D-659421947EDD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7F251C8-C484-4CE4-A1AE-618C1A897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B57E208-F5A1-4478-8AC7-FC4EC9714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13E32C-D119-4EEE-8569-75EA44A100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79814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9C80F9-D206-4F40-BA3A-3993D59DD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6685451-0BD7-4C3D-B994-1C2187F47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606FF0-057D-45D8-BC7D-659421947EDD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D78FDA9-C166-4BF1-A4FC-BE171F77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1C8B272-3DB5-46E2-9CFB-C7732731D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13E32C-D119-4EEE-8569-75EA44A100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0917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87ADAC2-FBC0-45CD-BA43-9372DB5631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606FF0-057D-45D8-BC7D-659421947EDD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0C53273-D36C-48D6-9C41-27467437B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76B7EC-EE91-4CA3-8B11-198D1A489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13E32C-D119-4EEE-8569-75EA44A100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58289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B35270-2AEA-4C67-8B0C-095CA89B3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3C7D2B-7F71-4CF6-B83F-EC30C4BBF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19AD91C-3E73-4622-AD56-A82765D4B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A01388-20C9-4C7D-9F4C-6BB6F8984D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606FF0-057D-45D8-BC7D-659421947EDD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09F642-5B22-4214-910E-EED9C6DDD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D3C04F-B6AC-482A-B275-8F7F76B24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13E32C-D119-4EEE-8569-75EA44A100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6194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C54A26-2933-4C4B-963E-673D391DD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6D71535-90A8-4156-9EF8-BD42CB0787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9CFFC34-49A6-43CE-A439-830915313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2CAF04-E092-4EC0-B013-19B8DED147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606FF0-057D-45D8-BC7D-659421947EDD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060848-A6E0-4E7E-94DF-446055EDD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55A3AA-9BCD-4DE5-A428-0D1DEFF6F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13E32C-D119-4EEE-8569-75EA44A100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67460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64B1F7-4E43-4909-929B-9FEEA9C8C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1680B3-CED5-46B2-983A-E1497039EF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1CE86D-8BF1-4476-85BC-D69AA0F8D1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606FF0-057D-45D8-BC7D-659421947EDD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4C3E26-DB56-47F3-AAE8-7B41519D5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B72179-DB3F-4883-BFD7-2A08A4440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13E32C-D119-4EEE-8569-75EA44A100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39134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33C264F-02A2-400E-8F4B-A1EB7B00E2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C81F7FD-59F6-472C-9A4C-CBCF81483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9FD3E3-46E1-4C64-A5D1-ED31DDDD13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606FF0-057D-45D8-BC7D-659421947EDD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DD7C74-BF59-4695-9DDF-FF0ED186E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B74047-79C9-40D7-B94B-FC67DCB8B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13E32C-D119-4EEE-8569-75EA44A100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5586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10D042B-C855-4CA4-A76A-F88CDF871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6F4651-A43D-44DC-857C-FD792212B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57A0A5-65C0-4700-A475-9CFA1EBEE4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CCD68-A06F-4074-89FD-17A767110F27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E26947-FF52-4B63-BA37-7E1758E97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70D517-94C8-44D5-BF94-0A0FF02CB7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882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53" r:id="rId12"/>
    <p:sldLayoutId id="2147483721" r:id="rId13"/>
    <p:sldLayoutId id="214748377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直角三角形 8">
            <a:extLst>
              <a:ext uri="{FF2B5EF4-FFF2-40B4-BE49-F238E27FC236}">
                <a16:creationId xmlns:a16="http://schemas.microsoft.com/office/drawing/2014/main" id="{27028D5B-1663-479F-8EB9-F9495075D8F3}"/>
              </a:ext>
            </a:extLst>
          </p:cNvPr>
          <p:cNvSpPr/>
          <p:nvPr userDrawn="1"/>
        </p:nvSpPr>
        <p:spPr>
          <a:xfrm>
            <a:off x="0" y="2369890"/>
            <a:ext cx="6845416" cy="4488110"/>
          </a:xfrm>
          <a:prstGeom prst="rt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直角三角形 9">
            <a:extLst>
              <a:ext uri="{FF2B5EF4-FFF2-40B4-BE49-F238E27FC236}">
                <a16:creationId xmlns:a16="http://schemas.microsoft.com/office/drawing/2014/main" id="{A1618A79-C77A-4893-BCFF-68D20DD544F5}"/>
              </a:ext>
            </a:extLst>
          </p:cNvPr>
          <p:cNvSpPr/>
          <p:nvPr userDrawn="1"/>
        </p:nvSpPr>
        <p:spPr>
          <a:xfrm rot="10800000">
            <a:off x="6342077" y="-1"/>
            <a:ext cx="5849923" cy="4127383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0B63E03-2877-41B0-8994-DCBFFE3148C7}"/>
              </a:ext>
            </a:extLst>
          </p:cNvPr>
          <p:cNvSpPr/>
          <p:nvPr userDrawn="1"/>
        </p:nvSpPr>
        <p:spPr>
          <a:xfrm>
            <a:off x="201336" y="209725"/>
            <a:ext cx="11789328" cy="6476301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79AF3A2-E9EF-489E-986A-F5F0FF0DE521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6728" y="416914"/>
            <a:ext cx="866602" cy="866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941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85" r:id="rId4"/>
    <p:sldLayoutId id="2147483786" r:id="rId5"/>
    <p:sldLayoutId id="2147483787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783" r:id="rId13"/>
    <p:sldLayoutId id="214748378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7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4BB849F-FB66-40FA-A963-889DAC973D48}"/>
              </a:ext>
            </a:extLst>
          </p:cNvPr>
          <p:cNvSpPr txBox="1"/>
          <p:nvPr/>
        </p:nvSpPr>
        <p:spPr>
          <a:xfrm>
            <a:off x="1395654" y="2093855"/>
            <a:ext cx="930007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5CB2D9"/>
                </a:solidFill>
              </a:rPr>
              <a:t>基于局部梯度能量的动态场景</a:t>
            </a:r>
            <a:r>
              <a:rPr lang="en-US" altLang="zh-CN" sz="4000" b="1" dirty="0">
                <a:solidFill>
                  <a:srgbClr val="5CB2D9"/>
                </a:solidFill>
              </a:rPr>
              <a:t>SLAM</a:t>
            </a:r>
            <a:r>
              <a:rPr lang="zh-CN" altLang="en-US" sz="4000" b="1" dirty="0">
                <a:solidFill>
                  <a:srgbClr val="5CB2D9"/>
                </a:solidFill>
              </a:rPr>
              <a:t>建图方法研究</a:t>
            </a:r>
            <a:endParaRPr lang="zh-CN" altLang="en-US" sz="4000" dirty="0">
              <a:solidFill>
                <a:srgbClr val="5CB2D9"/>
              </a:solidFill>
            </a:endParaRPr>
          </a:p>
          <a:p>
            <a:pPr algn="ctr"/>
            <a:endParaRPr lang="en-US" altLang="zh-CN" sz="4000" dirty="0">
              <a:solidFill>
                <a:schemeClr val="accent1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2000" dirty="0">
                <a:solidFill>
                  <a:srgbClr val="1C4885"/>
                </a:solidFill>
                <a:cs typeface="+mn-ea"/>
                <a:sym typeface="+mn-lt"/>
              </a:rPr>
              <a:t>SICHUAN UNIVERSITY OF SCIENCE &amp; ENGINEERING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040F25D-08A4-40D1-B41E-13371D5B71E6}"/>
              </a:ext>
            </a:extLst>
          </p:cNvPr>
          <p:cNvCxnSpPr>
            <a:cxnSpLocks/>
          </p:cNvCxnSpPr>
          <p:nvPr/>
        </p:nvCxnSpPr>
        <p:spPr>
          <a:xfrm>
            <a:off x="4981074" y="3362826"/>
            <a:ext cx="2069431" cy="0"/>
          </a:xfrm>
          <a:prstGeom prst="line">
            <a:avLst/>
          </a:prstGeom>
          <a:ln w="222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299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B8503EC-C188-417F-B193-C768537A07D7}"/>
              </a:ext>
            </a:extLst>
          </p:cNvPr>
          <p:cNvSpPr txBox="1"/>
          <p:nvPr/>
        </p:nvSpPr>
        <p:spPr>
          <a:xfrm>
            <a:off x="2858610" y="1731146"/>
            <a:ext cx="62853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>
                <a:solidFill>
                  <a:schemeClr val="accent1">
                    <a:lumMod val="75000"/>
                  </a:schemeClr>
                </a:solidFill>
              </a:rPr>
              <a:t>研究背景</a:t>
            </a:r>
          </a:p>
        </p:txBody>
      </p:sp>
    </p:spTree>
    <p:extLst>
      <p:ext uri="{BB962C8B-B14F-4D97-AF65-F5344CB8AC3E}">
        <p14:creationId xmlns:p14="http://schemas.microsoft.com/office/powerpoint/2010/main" val="2616943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58A6AF9-5D47-4405-B668-85FFDE86D096}"/>
              </a:ext>
            </a:extLst>
          </p:cNvPr>
          <p:cNvCxnSpPr/>
          <p:nvPr/>
        </p:nvCxnSpPr>
        <p:spPr>
          <a:xfrm>
            <a:off x="4447713" y="1322773"/>
            <a:ext cx="308055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ED027456-2F53-4763-9590-5A1F11ECDE9C}"/>
              </a:ext>
            </a:extLst>
          </p:cNvPr>
          <p:cNvSpPr txBox="1"/>
          <p:nvPr/>
        </p:nvSpPr>
        <p:spPr>
          <a:xfrm>
            <a:off x="4682971" y="399443"/>
            <a:ext cx="26277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>
                    <a:lumMod val="75000"/>
                  </a:schemeClr>
                </a:solidFill>
              </a:rPr>
              <a:t>目   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D4EB3B8-40C7-4895-B034-A690A939751F}"/>
              </a:ext>
            </a:extLst>
          </p:cNvPr>
          <p:cNvSpPr txBox="1"/>
          <p:nvPr/>
        </p:nvSpPr>
        <p:spPr>
          <a:xfrm>
            <a:off x="4447713" y="1589103"/>
            <a:ext cx="308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 O N T E N T</a:t>
            </a:r>
            <a:endParaRPr lang="zh-CN" altLang="en-US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7BE7F8A-5FDC-C6C6-F893-2388D8EAFA8D}"/>
              </a:ext>
            </a:extLst>
          </p:cNvPr>
          <p:cNvGrpSpPr/>
          <p:nvPr/>
        </p:nvGrpSpPr>
        <p:grpSpPr>
          <a:xfrm>
            <a:off x="4208016" y="2417349"/>
            <a:ext cx="4128117" cy="790112"/>
            <a:chOff x="1296139" y="2139519"/>
            <a:chExt cx="4128117" cy="790112"/>
          </a:xfrm>
        </p:grpSpPr>
        <p:sp>
          <p:nvSpPr>
            <p:cNvPr id="8" name="流程图: 延期 7">
              <a:extLst>
                <a:ext uri="{FF2B5EF4-FFF2-40B4-BE49-F238E27FC236}">
                  <a16:creationId xmlns:a16="http://schemas.microsoft.com/office/drawing/2014/main" id="{C7B5BEDD-A97F-4E76-B81B-FDFD63F8BDD8}"/>
                </a:ext>
              </a:extLst>
            </p:cNvPr>
            <p:cNvSpPr/>
            <p:nvPr/>
          </p:nvSpPr>
          <p:spPr>
            <a:xfrm flipH="1">
              <a:off x="1296139" y="2139519"/>
              <a:ext cx="719092" cy="790111"/>
            </a:xfrm>
            <a:prstGeom prst="flowChartDelay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01</a:t>
              </a:r>
              <a:endParaRPr lang="zh-CN" altLang="en-US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73302AD9-FFAB-4528-857C-E22B76197E2B}"/>
                </a:ext>
              </a:extLst>
            </p:cNvPr>
            <p:cNvSpPr txBox="1"/>
            <p:nvPr/>
          </p:nvSpPr>
          <p:spPr>
            <a:xfrm>
              <a:off x="2015231" y="2139519"/>
              <a:ext cx="34090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dirty="0"/>
                <a:t>研究背景</a:t>
              </a: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3DAAFA6E-2549-461D-B4C5-C1260797386F}"/>
                </a:ext>
              </a:extLst>
            </p:cNvPr>
            <p:cNvCxnSpPr/>
            <p:nvPr/>
          </p:nvCxnSpPr>
          <p:spPr>
            <a:xfrm>
              <a:off x="2015231" y="2929631"/>
              <a:ext cx="2192785" cy="0"/>
            </a:xfrm>
            <a:prstGeom prst="line">
              <a:avLst/>
            </a:prstGeom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7825479-D4A6-7691-C385-CBC73749A045}"/>
              </a:ext>
            </a:extLst>
          </p:cNvPr>
          <p:cNvGrpSpPr/>
          <p:nvPr/>
        </p:nvGrpSpPr>
        <p:grpSpPr>
          <a:xfrm>
            <a:off x="4208016" y="3843123"/>
            <a:ext cx="4128117" cy="790112"/>
            <a:chOff x="1296139" y="4219853"/>
            <a:chExt cx="4128117" cy="790112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D32C289D-48AA-40FE-B383-E26594DF6134}"/>
                </a:ext>
              </a:extLst>
            </p:cNvPr>
            <p:cNvSpPr txBox="1"/>
            <p:nvPr/>
          </p:nvSpPr>
          <p:spPr>
            <a:xfrm>
              <a:off x="2015231" y="4219853"/>
              <a:ext cx="34090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dirty="0"/>
                <a:t>研究内容</a:t>
              </a:r>
            </a:p>
          </p:txBody>
        </p: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D34154B3-6C0B-FAC2-9CC1-F1DDF2344262}"/>
                </a:ext>
              </a:extLst>
            </p:cNvPr>
            <p:cNvGrpSpPr/>
            <p:nvPr/>
          </p:nvGrpSpPr>
          <p:grpSpPr>
            <a:xfrm>
              <a:off x="1296139" y="4219853"/>
              <a:ext cx="2911877" cy="790112"/>
              <a:chOff x="1296139" y="4219853"/>
              <a:chExt cx="2911877" cy="790112"/>
            </a:xfrm>
          </p:grpSpPr>
          <p:sp>
            <p:nvSpPr>
              <p:cNvPr id="10" name="流程图: 延期 9">
                <a:extLst>
                  <a:ext uri="{FF2B5EF4-FFF2-40B4-BE49-F238E27FC236}">
                    <a16:creationId xmlns:a16="http://schemas.microsoft.com/office/drawing/2014/main" id="{77C8DCA1-81D8-49CF-8B07-3F403233C4B3}"/>
                  </a:ext>
                </a:extLst>
              </p:cNvPr>
              <p:cNvSpPr/>
              <p:nvPr/>
            </p:nvSpPr>
            <p:spPr>
              <a:xfrm flipH="1">
                <a:off x="1296139" y="4219853"/>
                <a:ext cx="719092" cy="790112"/>
              </a:xfrm>
              <a:prstGeom prst="flowChartDelay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02</a:t>
                </a:r>
                <a:endParaRPr lang="zh-CN" altLang="en-US" dirty="0"/>
              </a:p>
            </p:txBody>
          </p: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04725896-6416-497D-B530-236073B817BA}"/>
                  </a:ext>
                </a:extLst>
              </p:cNvPr>
              <p:cNvCxnSpPr/>
              <p:nvPr/>
            </p:nvCxnSpPr>
            <p:spPr>
              <a:xfrm>
                <a:off x="2015231" y="5009965"/>
                <a:ext cx="2192785" cy="0"/>
              </a:xfrm>
              <a:prstGeom prst="line">
                <a:avLst/>
              </a:prstGeom>
              <a:ln w="254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09950E91-FA52-FFA6-8587-3431532D34CE}"/>
              </a:ext>
            </a:extLst>
          </p:cNvPr>
          <p:cNvGrpSpPr/>
          <p:nvPr/>
        </p:nvGrpSpPr>
        <p:grpSpPr>
          <a:xfrm>
            <a:off x="4208016" y="5268897"/>
            <a:ext cx="4128117" cy="790112"/>
            <a:chOff x="6378605" y="4219853"/>
            <a:chExt cx="4128117" cy="790112"/>
          </a:xfrm>
        </p:grpSpPr>
        <p:sp>
          <p:nvSpPr>
            <p:cNvPr id="9" name="流程图: 延期 8">
              <a:extLst>
                <a:ext uri="{FF2B5EF4-FFF2-40B4-BE49-F238E27FC236}">
                  <a16:creationId xmlns:a16="http://schemas.microsoft.com/office/drawing/2014/main" id="{8EE0D3CE-C7A1-4550-9B6B-A57C9453EF02}"/>
                </a:ext>
              </a:extLst>
            </p:cNvPr>
            <p:cNvSpPr/>
            <p:nvPr/>
          </p:nvSpPr>
          <p:spPr>
            <a:xfrm flipH="1">
              <a:off x="6378605" y="4219853"/>
              <a:ext cx="719092" cy="790112"/>
            </a:xfrm>
            <a:prstGeom prst="flowChartDelay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03</a:t>
              </a:r>
              <a:endParaRPr lang="zh-CN" altLang="en-US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E32AEF4-EE6E-4852-BC70-5925F19BBB25}"/>
                </a:ext>
              </a:extLst>
            </p:cNvPr>
            <p:cNvSpPr txBox="1"/>
            <p:nvPr/>
          </p:nvSpPr>
          <p:spPr>
            <a:xfrm>
              <a:off x="7097697" y="4219853"/>
              <a:ext cx="34090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dirty="0"/>
                <a:t>中期总结</a:t>
              </a:r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B703CCB7-C288-43DC-AAA4-16DC4181FB34}"/>
                </a:ext>
              </a:extLst>
            </p:cNvPr>
            <p:cNvCxnSpPr>
              <a:cxnSpLocks/>
            </p:cNvCxnSpPr>
            <p:nvPr/>
          </p:nvCxnSpPr>
          <p:spPr>
            <a:xfrm>
              <a:off x="7097697" y="5009965"/>
              <a:ext cx="2792027" cy="0"/>
            </a:xfrm>
            <a:prstGeom prst="line">
              <a:avLst/>
            </a:prstGeom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3208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34ADD059-D045-40AD-B4AB-9155D412A9C4}"/>
              </a:ext>
            </a:extLst>
          </p:cNvPr>
          <p:cNvGrpSpPr/>
          <p:nvPr/>
        </p:nvGrpSpPr>
        <p:grpSpPr>
          <a:xfrm>
            <a:off x="322730" y="339134"/>
            <a:ext cx="6890869" cy="860611"/>
            <a:chOff x="322730" y="339134"/>
            <a:chExt cx="6890869" cy="860611"/>
          </a:xfrm>
        </p:grpSpPr>
        <p:sp>
          <p:nvSpPr>
            <p:cNvPr id="9" name="直角三角形 8">
              <a:extLst>
                <a:ext uri="{FF2B5EF4-FFF2-40B4-BE49-F238E27FC236}">
                  <a16:creationId xmlns:a16="http://schemas.microsoft.com/office/drawing/2014/main" id="{11BC5429-5510-433C-B83E-5E96E2152452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84C56DBD-5F58-4229-99BE-3F4125C274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123AA7D-5290-4E3B-AC85-66A0DDB1D314}"/>
                </a:ext>
              </a:extLst>
            </p:cNvPr>
            <p:cNvSpPr txBox="1"/>
            <p:nvPr/>
          </p:nvSpPr>
          <p:spPr>
            <a:xfrm>
              <a:off x="1129552" y="384720"/>
              <a:ext cx="608404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研究背景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071D5984-001C-CAAA-A0DD-5050A0C5FBCE}"/>
              </a:ext>
            </a:extLst>
          </p:cNvPr>
          <p:cNvSpPr txBox="1"/>
          <p:nvPr/>
        </p:nvSpPr>
        <p:spPr>
          <a:xfrm>
            <a:off x="218611" y="1444526"/>
            <a:ext cx="687797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        同时定位与地图建图（</a:t>
            </a:r>
            <a:r>
              <a:rPr lang="en-US" altLang="zh-CN" b="1" dirty="0"/>
              <a:t>SLAM</a:t>
            </a:r>
            <a:r>
              <a:rPr lang="zh-CN" altLang="en-US" b="1" dirty="0"/>
              <a:t>）</a:t>
            </a:r>
            <a:r>
              <a:rPr lang="zh-CN" altLang="en-US" dirty="0"/>
              <a:t> 是一种利用传感器在未知环境中</a:t>
            </a:r>
            <a:r>
              <a:rPr lang="zh-CN" altLang="en-US" b="1" dirty="0"/>
              <a:t>同步估计自身位姿并构建环境地图</a:t>
            </a:r>
            <a:r>
              <a:rPr lang="zh-CN" altLang="en-US" dirty="0"/>
              <a:t>的技术，广泛应用于</a:t>
            </a:r>
            <a:r>
              <a:rPr lang="zh-CN" altLang="en-US" b="1" dirty="0"/>
              <a:t>移动机器人、无人驾驶和增强现实</a:t>
            </a:r>
            <a:r>
              <a:rPr lang="zh-CN" altLang="en-US" dirty="0"/>
              <a:t>等领域。</a:t>
            </a:r>
            <a:endParaRPr lang="en-US" altLang="zh-CN" dirty="0"/>
          </a:p>
          <a:p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dirty="0"/>
              <a:t>机器人在未知环境中通过视觉 </a:t>
            </a:r>
            <a:r>
              <a:rPr lang="en-US" altLang="zh-CN" dirty="0"/>
              <a:t>SLAM</a:t>
            </a:r>
            <a:r>
              <a:rPr lang="zh-CN" altLang="en-US" dirty="0"/>
              <a:t>，利用相机连续获取的图像信息，实时估计自身运动并逐步构建环境地图，从而实现自主定位与环境感知，为后续导航与任务执行提供基础。</a:t>
            </a:r>
            <a:endParaRPr lang="en-US" altLang="zh-CN" dirty="0"/>
          </a:p>
          <a:p>
            <a:endParaRPr lang="en-US" altLang="zh-CN" b="1" dirty="0"/>
          </a:p>
          <a:p>
            <a:r>
              <a:rPr lang="en-US" altLang="zh-CN" b="1" dirty="0"/>
              <a:t> </a:t>
            </a:r>
          </a:p>
          <a:p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dirty="0"/>
              <a:t>增强现实系统通过视觉 </a:t>
            </a:r>
            <a:r>
              <a:rPr lang="en-US" altLang="zh-CN" dirty="0"/>
              <a:t>SLAM </a:t>
            </a:r>
            <a:r>
              <a:rPr lang="zh-CN" altLang="en-US" dirty="0"/>
              <a:t>实时估计相机位姿并构建环境的几何表示，将虚拟内容映射到统一的世界坐标系中，从而实现虚拟物体与真实场景的稳定对齐与自然交互。</a:t>
            </a:r>
            <a:endParaRPr lang="en-US" altLang="zh-CN" b="1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0EFAD9B-D4BE-3616-DE5F-C83316477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588" y="1619827"/>
            <a:ext cx="3539769" cy="2103948"/>
          </a:xfrm>
          <a:prstGeom prst="rect">
            <a:avLst/>
          </a:prstGeom>
        </p:spPr>
      </p:pic>
      <p:pic>
        <p:nvPicPr>
          <p:cNvPr id="15" name="图片 14" descr="图片包含 户外, 人, 男人, 站&#10;&#10;AI 生成的内容可能不正确。">
            <a:extLst>
              <a:ext uri="{FF2B5EF4-FFF2-40B4-BE49-F238E27FC236}">
                <a16:creationId xmlns:a16="http://schemas.microsoft.com/office/drawing/2014/main" id="{9D320D29-A09D-C68D-6F8B-35B4F3867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588" y="4109674"/>
            <a:ext cx="3539769" cy="210394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A72B0A6-53BC-5E98-D705-FBEE7A209030}"/>
              </a:ext>
            </a:extLst>
          </p:cNvPr>
          <p:cNvSpPr txBox="1"/>
          <p:nvPr/>
        </p:nvSpPr>
        <p:spPr>
          <a:xfrm>
            <a:off x="7934827" y="3706683"/>
            <a:ext cx="15007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图</a:t>
            </a:r>
            <a:r>
              <a:rPr lang="en-US" altLang="zh-CN" sz="1200" b="1" dirty="0"/>
              <a:t>1</a:t>
            </a:r>
            <a:r>
              <a:rPr lang="zh-CN" altLang="en-US" sz="1200" b="1" dirty="0"/>
              <a:t>在未知环境工作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40AC4CB-D985-F157-1E77-2FFA409F4138}"/>
              </a:ext>
            </a:extLst>
          </p:cNvPr>
          <p:cNvSpPr txBox="1"/>
          <p:nvPr/>
        </p:nvSpPr>
        <p:spPr>
          <a:xfrm>
            <a:off x="8045116" y="6311380"/>
            <a:ext cx="10390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图</a:t>
            </a:r>
            <a:r>
              <a:rPr lang="en-US" altLang="zh-CN" sz="1200" b="1" dirty="0"/>
              <a:t>2</a:t>
            </a:r>
            <a:r>
              <a:rPr lang="zh-CN" altLang="en-US" sz="1200" b="1" dirty="0"/>
              <a:t>增强现实</a:t>
            </a:r>
          </a:p>
        </p:txBody>
      </p:sp>
    </p:spTree>
    <p:extLst>
      <p:ext uri="{BB962C8B-B14F-4D97-AF65-F5344CB8AC3E}">
        <p14:creationId xmlns:p14="http://schemas.microsoft.com/office/powerpoint/2010/main" val="1824116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80959-DC07-B080-A669-20EA5BC5F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CE04DCC-815A-DE2D-65D9-87379E922046}"/>
              </a:ext>
            </a:extLst>
          </p:cNvPr>
          <p:cNvGrpSpPr/>
          <p:nvPr/>
        </p:nvGrpSpPr>
        <p:grpSpPr>
          <a:xfrm>
            <a:off x="322730" y="339134"/>
            <a:ext cx="6890869" cy="860611"/>
            <a:chOff x="322730" y="339134"/>
            <a:chExt cx="6890869" cy="860611"/>
          </a:xfrm>
        </p:grpSpPr>
        <p:sp>
          <p:nvSpPr>
            <p:cNvPr id="9" name="直角三角形 8">
              <a:extLst>
                <a:ext uri="{FF2B5EF4-FFF2-40B4-BE49-F238E27FC236}">
                  <a16:creationId xmlns:a16="http://schemas.microsoft.com/office/drawing/2014/main" id="{EC041AE2-B3EB-AE9E-A20E-0F99BA6DC200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2B15F538-26BA-8A7F-A538-47AF2AE9B2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EC6A37D3-EB7E-7DCE-1791-067C6A32677B}"/>
                </a:ext>
              </a:extLst>
            </p:cNvPr>
            <p:cNvSpPr txBox="1"/>
            <p:nvPr/>
          </p:nvSpPr>
          <p:spPr>
            <a:xfrm>
              <a:off x="1129552" y="384720"/>
              <a:ext cx="608404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研究背景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8EDB1AAB-2F72-1B6C-BD01-144BD876EA89}"/>
              </a:ext>
            </a:extLst>
          </p:cNvPr>
          <p:cNvSpPr txBox="1"/>
          <p:nvPr/>
        </p:nvSpPr>
        <p:spPr>
          <a:xfrm>
            <a:off x="515428" y="1445954"/>
            <a:ext cx="64267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视觉</a:t>
            </a:r>
            <a:r>
              <a:rPr lang="en-US" altLang="zh-CN" b="1" dirty="0"/>
              <a:t>SLAM</a:t>
            </a:r>
            <a:r>
              <a:rPr lang="zh-CN" altLang="en-US" b="1" dirty="0"/>
              <a:t>的两大分类：特征点法和直接法</a:t>
            </a:r>
            <a:endParaRPr lang="en-US" altLang="zh-CN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D9AA083-5917-9F0B-EB0A-48ACE78FD15B}"/>
              </a:ext>
            </a:extLst>
          </p:cNvPr>
          <p:cNvSpPr txBox="1"/>
          <p:nvPr/>
        </p:nvSpPr>
        <p:spPr>
          <a:xfrm>
            <a:off x="677315" y="2472839"/>
            <a:ext cx="610301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图像</a:t>
            </a:r>
          </a:p>
          <a:p>
            <a:r>
              <a:rPr lang="zh-CN" altLang="en-US" dirty="0"/>
              <a:t> ↓</a:t>
            </a:r>
          </a:p>
          <a:p>
            <a:r>
              <a:rPr lang="zh-CN" altLang="en-US" dirty="0"/>
              <a:t>特征提取（角点/线段）</a:t>
            </a:r>
          </a:p>
          <a:p>
            <a:r>
              <a:rPr lang="zh-CN" altLang="en-US" dirty="0"/>
              <a:t> ↓</a:t>
            </a:r>
          </a:p>
          <a:p>
            <a:r>
              <a:rPr lang="zh-CN" altLang="en-US" dirty="0"/>
              <a:t>特征匹配</a:t>
            </a:r>
          </a:p>
          <a:p>
            <a:r>
              <a:rPr lang="zh-CN" altLang="en-US" dirty="0"/>
              <a:t> ↓</a:t>
            </a:r>
          </a:p>
          <a:p>
            <a:r>
              <a:rPr lang="zh-CN" altLang="en-US" dirty="0"/>
              <a:t>位姿估计 + 建图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43498BA-4BD8-D497-E345-238D3313567C}"/>
              </a:ext>
            </a:extLst>
          </p:cNvPr>
          <p:cNvSpPr txBox="1"/>
          <p:nvPr/>
        </p:nvSpPr>
        <p:spPr>
          <a:xfrm>
            <a:off x="7213599" y="2413337"/>
            <a:ext cx="7625857" cy="2090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图像</a:t>
            </a:r>
          </a:p>
          <a:p>
            <a:r>
              <a:rPr lang="zh-CN" altLang="en-US" dirty="0"/>
              <a:t> ↓</a:t>
            </a:r>
          </a:p>
          <a:p>
            <a:r>
              <a:rPr lang="zh-CN" altLang="en-US" dirty="0"/>
              <a:t>像素灰度对齐</a:t>
            </a:r>
          </a:p>
          <a:p>
            <a:r>
              <a:rPr lang="zh-CN" altLang="en-US" dirty="0"/>
              <a:t> ↓</a:t>
            </a:r>
          </a:p>
          <a:p>
            <a:r>
              <a:rPr lang="zh-CN" altLang="en-US" dirty="0"/>
              <a:t>位姿估计</a:t>
            </a:r>
          </a:p>
          <a:p>
            <a:r>
              <a:rPr lang="zh-CN" altLang="en-US" dirty="0"/>
              <a:t> ↓</a:t>
            </a:r>
          </a:p>
          <a:p>
            <a:r>
              <a:rPr lang="zh-CN" altLang="en-US" dirty="0"/>
              <a:t>稠密 / 半稠密建图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E3A9F55-7991-FF6A-81AA-006CA114472F}"/>
              </a:ext>
            </a:extLst>
          </p:cNvPr>
          <p:cNvSpPr txBox="1"/>
          <p:nvPr/>
        </p:nvSpPr>
        <p:spPr>
          <a:xfrm>
            <a:off x="797052" y="5102215"/>
            <a:ext cx="7421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特征点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4E8C436-4035-C6B8-8061-919312233265}"/>
              </a:ext>
            </a:extLst>
          </p:cNvPr>
          <p:cNvSpPr txBox="1"/>
          <p:nvPr/>
        </p:nvSpPr>
        <p:spPr>
          <a:xfrm>
            <a:off x="7417576" y="5123938"/>
            <a:ext cx="7421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直接法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038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E003D-84FC-51BF-9F94-EB361BAA2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1E55E469-3232-513B-DFEF-49AA75F55D4B}"/>
              </a:ext>
            </a:extLst>
          </p:cNvPr>
          <p:cNvGrpSpPr/>
          <p:nvPr/>
        </p:nvGrpSpPr>
        <p:grpSpPr>
          <a:xfrm>
            <a:off x="322730" y="339134"/>
            <a:ext cx="6890869" cy="860611"/>
            <a:chOff x="322730" y="339134"/>
            <a:chExt cx="6890869" cy="860611"/>
          </a:xfrm>
        </p:grpSpPr>
        <p:sp>
          <p:nvSpPr>
            <p:cNvPr id="9" name="直角三角形 8">
              <a:extLst>
                <a:ext uri="{FF2B5EF4-FFF2-40B4-BE49-F238E27FC236}">
                  <a16:creationId xmlns:a16="http://schemas.microsoft.com/office/drawing/2014/main" id="{71CEF9E2-8E49-8F7A-85CD-78EF515CFB41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AC7008A7-325E-D080-8A56-C73F9EC42C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52F685AF-7BDE-F8CA-B707-531339EEE083}"/>
                </a:ext>
              </a:extLst>
            </p:cNvPr>
            <p:cNvSpPr txBox="1"/>
            <p:nvPr/>
          </p:nvSpPr>
          <p:spPr>
            <a:xfrm>
              <a:off x="1129552" y="384720"/>
              <a:ext cx="608404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研究背景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94B351BE-16E6-80B0-CFB8-361605ED986A}"/>
              </a:ext>
            </a:extLst>
          </p:cNvPr>
          <p:cNvSpPr txBox="1"/>
          <p:nvPr/>
        </p:nvSpPr>
        <p:spPr>
          <a:xfrm>
            <a:off x="515428" y="1445954"/>
            <a:ext cx="64267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基于特征点方法的视觉</a:t>
            </a:r>
            <a:r>
              <a:rPr lang="en-US" altLang="zh-CN" b="1" dirty="0"/>
              <a:t>SLAM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4856BC2-332F-6B24-1517-795ED7CB463C}"/>
              </a:ext>
            </a:extLst>
          </p:cNvPr>
          <p:cNvSpPr txBox="1"/>
          <p:nvPr/>
        </p:nvSpPr>
        <p:spPr>
          <a:xfrm>
            <a:off x="627647" y="4731930"/>
            <a:ext cx="109367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       通过在图像中提取离散、可重复的特征点，并在相邻帧或关键帧之间进行匹配，利用几何约束完成相机位姿估计与地图构建。</a:t>
            </a:r>
          </a:p>
        </p:txBody>
      </p:sp>
      <p:pic>
        <p:nvPicPr>
          <p:cNvPr id="12" name="图片 11" descr="桌子上摆放着许多物品&#10;&#10;AI 生成的内容可能不正确。">
            <a:extLst>
              <a:ext uri="{FF2B5EF4-FFF2-40B4-BE49-F238E27FC236}">
                <a16:creationId xmlns:a16="http://schemas.microsoft.com/office/drawing/2014/main" id="{FDAE93FD-FC77-F54A-1EA8-7AFA75FEB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47" y="2261866"/>
            <a:ext cx="5123449" cy="2129659"/>
          </a:xfrm>
          <a:prstGeom prst="rect">
            <a:avLst/>
          </a:prstGeom>
        </p:spPr>
      </p:pic>
      <p:pic>
        <p:nvPicPr>
          <p:cNvPr id="17" name="图片 16" descr="图片包含 桌子, 游戏机, 床&#10;&#10;AI 生成的内容可能不正确。">
            <a:extLst>
              <a:ext uri="{FF2B5EF4-FFF2-40B4-BE49-F238E27FC236}">
                <a16:creationId xmlns:a16="http://schemas.microsoft.com/office/drawing/2014/main" id="{FC5D8546-D9A1-FE23-81D9-9DF80961C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6658" y="2261867"/>
            <a:ext cx="5217694" cy="2129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389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64DE6-9A0A-DBEF-4729-13BC4A2CE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9E2F5A4A-226C-03FA-CACB-F645C7446E86}"/>
              </a:ext>
            </a:extLst>
          </p:cNvPr>
          <p:cNvGrpSpPr/>
          <p:nvPr/>
        </p:nvGrpSpPr>
        <p:grpSpPr>
          <a:xfrm>
            <a:off x="322730" y="339134"/>
            <a:ext cx="6890869" cy="860611"/>
            <a:chOff x="322730" y="339134"/>
            <a:chExt cx="6890869" cy="860611"/>
          </a:xfrm>
        </p:grpSpPr>
        <p:sp>
          <p:nvSpPr>
            <p:cNvPr id="9" name="直角三角形 8">
              <a:extLst>
                <a:ext uri="{FF2B5EF4-FFF2-40B4-BE49-F238E27FC236}">
                  <a16:creationId xmlns:a16="http://schemas.microsoft.com/office/drawing/2014/main" id="{F889CEF4-54F9-D467-FBF3-9F19F3005CAF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EB21D59C-FDA4-1023-7304-4029EF8B4E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2E50F39-70B2-E997-6B7B-F8B11CC47FBE}"/>
                </a:ext>
              </a:extLst>
            </p:cNvPr>
            <p:cNvSpPr txBox="1"/>
            <p:nvPr/>
          </p:nvSpPr>
          <p:spPr>
            <a:xfrm>
              <a:off x="1129552" y="384720"/>
              <a:ext cx="608404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研究背景</a:t>
              </a:r>
            </a:p>
          </p:txBody>
        </p:sp>
      </p:grpSp>
      <p:pic>
        <p:nvPicPr>
          <p:cNvPr id="4" name="图片 3" descr="桌子上放满了不同类型的电脑&#10;&#10;AI 生成的内容可能不正确。">
            <a:extLst>
              <a:ext uri="{FF2B5EF4-FFF2-40B4-BE49-F238E27FC236}">
                <a16:creationId xmlns:a16="http://schemas.microsoft.com/office/drawing/2014/main" id="{C48B9F67-F80C-211D-B148-6DAE32674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72" y="1911755"/>
            <a:ext cx="2766812" cy="204251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9615503-C919-A5AA-329F-1490B3876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834" y="1343898"/>
            <a:ext cx="4930019" cy="375592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6B04610-6B59-1842-69EF-E6FFAA5C4F61}"/>
              </a:ext>
            </a:extLst>
          </p:cNvPr>
          <p:cNvSpPr txBox="1"/>
          <p:nvPr/>
        </p:nvSpPr>
        <p:spPr>
          <a:xfrm>
            <a:off x="494316" y="1340425"/>
            <a:ext cx="762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特征点提取不够，因此需要特征点增强</a:t>
            </a:r>
          </a:p>
          <a:p>
            <a:endParaRPr lang="zh-CN" altLang="en-US" b="1" dirty="0"/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5C73C145-B796-2484-C288-E2CC954FE3F7}"/>
              </a:ext>
            </a:extLst>
          </p:cNvPr>
          <p:cNvSpPr/>
          <p:nvPr/>
        </p:nvSpPr>
        <p:spPr>
          <a:xfrm>
            <a:off x="3353684" y="2501928"/>
            <a:ext cx="2295142" cy="646331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 descr="图片包含 室内, 电脑, 桌子, 笔记本&#10;&#10;AI 生成的内容可能不正确。">
            <a:extLst>
              <a:ext uri="{FF2B5EF4-FFF2-40B4-BE49-F238E27FC236}">
                <a16:creationId xmlns:a16="http://schemas.microsoft.com/office/drawing/2014/main" id="{B7328B07-690A-EAC5-B990-58E7187F6F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72" y="4213905"/>
            <a:ext cx="2719983" cy="2042516"/>
          </a:xfrm>
          <a:prstGeom prst="rect">
            <a:avLst/>
          </a:prstGeom>
        </p:spPr>
      </p:pic>
      <p:sp>
        <p:nvSpPr>
          <p:cNvPr id="26" name="箭头: 右 25">
            <a:extLst>
              <a:ext uri="{FF2B5EF4-FFF2-40B4-BE49-F238E27FC236}">
                <a16:creationId xmlns:a16="http://schemas.microsoft.com/office/drawing/2014/main" id="{DE7F1BF9-032C-9DB2-1564-5E48D82EFAE3}"/>
              </a:ext>
            </a:extLst>
          </p:cNvPr>
          <p:cNvSpPr/>
          <p:nvPr/>
        </p:nvSpPr>
        <p:spPr>
          <a:xfrm>
            <a:off x="3306855" y="4669535"/>
            <a:ext cx="2412150" cy="792801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图表, 散点图&#10;&#10;AI 生成的内容可能不正确。">
            <a:extLst>
              <a:ext uri="{FF2B5EF4-FFF2-40B4-BE49-F238E27FC236}">
                <a16:creationId xmlns:a16="http://schemas.microsoft.com/office/drawing/2014/main" id="{E9FEB647-7FC2-6BF9-3CF2-D83F215FD9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4111" y="3957193"/>
            <a:ext cx="4791742" cy="2686374"/>
          </a:xfrm>
          <a:prstGeom prst="rect">
            <a:avLst/>
          </a:prstGeom>
        </p:spPr>
      </p:pic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6026038-A279-A3F7-F10E-D4D8D7839DC4}"/>
              </a:ext>
            </a:extLst>
          </p:cNvPr>
          <p:cNvCxnSpPr>
            <a:cxnSpLocks/>
          </p:cNvCxnSpPr>
          <p:nvPr/>
        </p:nvCxnSpPr>
        <p:spPr>
          <a:xfrm flipH="1" flipV="1">
            <a:off x="9294395" y="1663590"/>
            <a:ext cx="1155031" cy="1699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73F829BC-45FB-EDC8-4121-F5E1D0383C2F}"/>
              </a:ext>
            </a:extLst>
          </p:cNvPr>
          <p:cNvCxnSpPr/>
          <p:nvPr/>
        </p:nvCxnSpPr>
        <p:spPr>
          <a:xfrm flipH="1">
            <a:off x="8825163" y="3362826"/>
            <a:ext cx="1624263" cy="1191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90A7BFE9-AA89-6148-2F05-3FB558B0B23A}"/>
              </a:ext>
            </a:extLst>
          </p:cNvPr>
          <p:cNvSpPr txBox="1"/>
          <p:nvPr/>
        </p:nvSpPr>
        <p:spPr>
          <a:xfrm>
            <a:off x="10695853" y="2857500"/>
            <a:ext cx="6136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特征点空缺</a:t>
            </a:r>
          </a:p>
        </p:txBody>
      </p:sp>
    </p:spTree>
    <p:extLst>
      <p:ext uri="{BB962C8B-B14F-4D97-AF65-F5344CB8AC3E}">
        <p14:creationId xmlns:p14="http://schemas.microsoft.com/office/powerpoint/2010/main" val="1799006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E4E6A-D2E5-C0EF-A416-9E5194E2E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D5BDC65-39AC-AF79-1EAE-85C65DAC2538}"/>
              </a:ext>
            </a:extLst>
          </p:cNvPr>
          <p:cNvGrpSpPr/>
          <p:nvPr/>
        </p:nvGrpSpPr>
        <p:grpSpPr>
          <a:xfrm>
            <a:off x="322730" y="339134"/>
            <a:ext cx="9066803" cy="860611"/>
            <a:chOff x="322730" y="339134"/>
            <a:chExt cx="9066803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D5A67701-EA99-94FA-4B6A-90C21E349EDB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EACFA860-F920-79BE-E867-CFD1F584CE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7E28F53B-37EE-EA0D-28E8-4E5498875BE5}"/>
                </a:ext>
              </a:extLst>
            </p:cNvPr>
            <p:cNvSpPr txBox="1"/>
            <p:nvPr/>
          </p:nvSpPr>
          <p:spPr>
            <a:xfrm>
              <a:off x="1129553" y="384720"/>
              <a:ext cx="825998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研究背景</a:t>
              </a:r>
            </a:p>
          </p:txBody>
        </p:sp>
      </p:grpSp>
      <p:sp>
        <p:nvSpPr>
          <p:cNvPr id="10" name="Rectangle 1">
            <a:extLst>
              <a:ext uri="{FF2B5EF4-FFF2-40B4-BE49-F238E27FC236}">
                <a16:creationId xmlns:a16="http://schemas.microsoft.com/office/drawing/2014/main" id="{62B7410A-919F-343C-51F4-1433CB990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1074" y="2167246"/>
            <a:ext cx="7139628" cy="2985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挑战</a:t>
            </a:r>
            <a:endParaRPr kumimoji="0" lang="en-US" altLang="zh-CN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dirty="0"/>
              <a:t>        特征在静态环境下表现很好，但在动态场景中，行人等动态目标会严重影响 </a:t>
            </a:r>
            <a:r>
              <a:rPr lang="en-US" altLang="zh-CN" dirty="0"/>
              <a:t>SLAM </a:t>
            </a:r>
            <a:r>
              <a:rPr lang="zh-CN" altLang="en-US" dirty="0"/>
              <a:t>的稳定性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zh-CN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zh-CN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方法</a:t>
            </a:r>
            <a:endParaRPr kumimoji="0" lang="en-US" altLang="zh-CN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语义分割 </a:t>
            </a:r>
            <a:r>
              <a:rPr kumimoji="0" lang="zh-CN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通过语义分割标记环境中的动态目标，</a:t>
            </a:r>
            <a:r>
              <a:rPr lang="zh-CN" altLang="en-US" sz="1600" dirty="0"/>
              <a:t>避免其参与特征提取、匹配、位姿估计和建图</a:t>
            </a:r>
            <a:endParaRPr kumimoji="0" lang="zh-CN" altLang="zh-CN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BAD74BD7-CCE2-3624-6D85-D69E90B63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92" y="1263707"/>
            <a:ext cx="2542212" cy="2573107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8EEAD2AA-678E-DB76-B451-6F1260BA2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482" y="3952504"/>
            <a:ext cx="3032664" cy="231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879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9B6BB-D200-BDC5-0402-51E40B780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38EFF36-3427-2860-32DC-F481CFE413B8}"/>
              </a:ext>
            </a:extLst>
          </p:cNvPr>
          <p:cNvGrpSpPr/>
          <p:nvPr/>
        </p:nvGrpSpPr>
        <p:grpSpPr>
          <a:xfrm>
            <a:off x="322730" y="339134"/>
            <a:ext cx="9066803" cy="860611"/>
            <a:chOff x="322730" y="339134"/>
            <a:chExt cx="9066803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8EF165B3-0082-0B7F-6EB0-5457413EDABF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DBD01840-E7E5-FCAF-526C-2F90D3C950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EFA8AC65-0D0F-0800-EBEF-8E2791A05DB4}"/>
                </a:ext>
              </a:extLst>
            </p:cNvPr>
            <p:cNvSpPr txBox="1"/>
            <p:nvPr/>
          </p:nvSpPr>
          <p:spPr>
            <a:xfrm>
              <a:off x="1129553" y="384720"/>
              <a:ext cx="825998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研究背景</a:t>
              </a: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A34417B6-99A2-B410-E753-C67FB62B1BE7}"/>
              </a:ext>
            </a:extLst>
          </p:cNvPr>
          <p:cNvSpPr txBox="1"/>
          <p:nvPr/>
        </p:nvSpPr>
        <p:spPr>
          <a:xfrm>
            <a:off x="1221205" y="1534026"/>
            <a:ext cx="831983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研究点一</a:t>
            </a:r>
            <a:endParaRPr lang="en-US" altLang="zh-CN" sz="2400" dirty="0"/>
          </a:p>
          <a:p>
            <a:r>
              <a:rPr lang="zh-CN" altLang="zh-CN" sz="2400" dirty="0"/>
              <a:t>基于局部梯度能量约束的特征点增强方法研究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研究点二</a:t>
            </a:r>
            <a:endParaRPr lang="en-US" altLang="zh-CN" sz="2400" dirty="0"/>
          </a:p>
          <a:p>
            <a:r>
              <a:rPr lang="zh-CN" altLang="zh-CN" sz="2400" dirty="0"/>
              <a:t>基于语义分割的动态目标剔除与特征点优化方法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84845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84B725B-95A4-4195-AF77-F28ADCF3C328}"/>
              </a:ext>
            </a:extLst>
          </p:cNvPr>
          <p:cNvSpPr txBox="1"/>
          <p:nvPr/>
        </p:nvSpPr>
        <p:spPr>
          <a:xfrm>
            <a:off x="2858609" y="1731146"/>
            <a:ext cx="77768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>
                <a:solidFill>
                  <a:schemeClr val="accent1">
                    <a:lumMod val="75000"/>
                  </a:schemeClr>
                </a:solidFill>
              </a:rPr>
              <a:t>研究内容</a:t>
            </a:r>
          </a:p>
        </p:txBody>
      </p:sp>
    </p:spTree>
    <p:extLst>
      <p:ext uri="{BB962C8B-B14F-4D97-AF65-F5344CB8AC3E}">
        <p14:creationId xmlns:p14="http://schemas.microsoft.com/office/powerpoint/2010/main" val="1262573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0A8A1BA-9E9E-4C3A-B094-CFE24EE5E652}"/>
              </a:ext>
            </a:extLst>
          </p:cNvPr>
          <p:cNvGrpSpPr/>
          <p:nvPr/>
        </p:nvGrpSpPr>
        <p:grpSpPr>
          <a:xfrm>
            <a:off x="322730" y="339134"/>
            <a:ext cx="6926483" cy="860611"/>
            <a:chOff x="322730" y="339134"/>
            <a:chExt cx="6926483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F248765F-AD9E-479B-A384-4B149BCEFFD4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AFC20DC2-16DB-4854-ABBA-E4B7E6C099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663651D6-28EB-443A-A8E1-889F3BA29AC2}"/>
                </a:ext>
              </a:extLst>
            </p:cNvPr>
            <p:cNvSpPr txBox="1"/>
            <p:nvPr/>
          </p:nvSpPr>
          <p:spPr>
            <a:xfrm>
              <a:off x="1129553" y="384720"/>
              <a:ext cx="611966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特征点概述</a:t>
              </a:r>
            </a:p>
          </p:txBody>
        </p:sp>
      </p:grpSp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A733CA99-0989-3D3A-AE17-AADA4A4BA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437" y="974887"/>
            <a:ext cx="6063916" cy="274862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A4E4250-B50B-A910-40AC-E4D8BE67DBBC}"/>
              </a:ext>
            </a:extLst>
          </p:cNvPr>
          <p:cNvSpPr txBox="1"/>
          <p:nvPr/>
        </p:nvSpPr>
        <p:spPr>
          <a:xfrm>
            <a:off x="406951" y="1838090"/>
            <a:ext cx="5063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 高效且准确的匹配出两个不同视角的图像中的同一个物体，是基于特征点</a:t>
            </a:r>
            <a:r>
              <a:rPr lang="en-US" altLang="zh-CN" dirty="0"/>
              <a:t>SLAM</a:t>
            </a:r>
            <a:r>
              <a:rPr lang="zh-CN" altLang="en-US" dirty="0"/>
              <a:t>的第一步。</a:t>
            </a:r>
            <a:endParaRPr lang="en-US" altLang="zh-CN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71E5B3C-4F17-4FCB-E199-6BEF36869F82}"/>
              </a:ext>
            </a:extLst>
          </p:cNvPr>
          <p:cNvSpPr txBox="1"/>
          <p:nvPr/>
        </p:nvSpPr>
        <p:spPr>
          <a:xfrm>
            <a:off x="541422" y="5240298"/>
            <a:ext cx="3924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特征点要求：辨识度高，稳定性好</a:t>
            </a:r>
          </a:p>
        </p:txBody>
      </p:sp>
      <p:pic>
        <p:nvPicPr>
          <p:cNvPr id="10" name="图片 9" descr="桌子上摆放着许多物品&#10;&#10;AI 生成的内容可能不正确。">
            <a:extLst>
              <a:ext uri="{FF2B5EF4-FFF2-40B4-BE49-F238E27FC236}">
                <a16:creationId xmlns:a16="http://schemas.microsoft.com/office/drawing/2014/main" id="{F64453FB-120D-33F7-6224-6E170CC7A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6036" y="3852482"/>
            <a:ext cx="5728714" cy="238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085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BAEC3-5ABE-2600-563E-B110C350B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18BE85A-FFF4-C29D-84E4-6B14D2CAD62B}"/>
              </a:ext>
            </a:extLst>
          </p:cNvPr>
          <p:cNvGrpSpPr/>
          <p:nvPr/>
        </p:nvGrpSpPr>
        <p:grpSpPr>
          <a:xfrm>
            <a:off x="322730" y="339134"/>
            <a:ext cx="6926483" cy="860611"/>
            <a:chOff x="322730" y="339134"/>
            <a:chExt cx="6926483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245CC8FD-7FEC-F52B-164F-E20B502B2508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5BA5B1E9-7AC5-E602-D508-57D09A55F5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92863772-9B27-25DA-043E-BE5244EC2F8C}"/>
                </a:ext>
              </a:extLst>
            </p:cNvPr>
            <p:cNvSpPr txBox="1"/>
            <p:nvPr/>
          </p:nvSpPr>
          <p:spPr>
            <a:xfrm>
              <a:off x="1129553" y="384720"/>
              <a:ext cx="611966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400" dirty="0">
                  <a:solidFill>
                    <a:schemeClr val="accent1">
                      <a:lumMod val="75000"/>
                    </a:schemeClr>
                  </a:solidFill>
                </a:rPr>
                <a:t>FAST</a:t>
              </a:r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特征点的缺陷</a:t>
              </a:r>
            </a:p>
          </p:txBody>
        </p:sp>
      </p:grpSp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0EA2068B-21B5-A84A-FFCE-6DFEB1D75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0748" y="2190685"/>
            <a:ext cx="6437821" cy="291811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2C792DE-8B75-5B1E-35E2-CA4DFEBB386D}"/>
              </a:ext>
            </a:extLst>
          </p:cNvPr>
          <p:cNvSpPr txBox="1"/>
          <p:nvPr/>
        </p:nvSpPr>
        <p:spPr>
          <a:xfrm>
            <a:off x="516078" y="1913103"/>
            <a:ext cx="5063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FAST</a:t>
            </a:r>
            <a:r>
              <a:rPr lang="zh-CN" altLang="en-US" dirty="0"/>
              <a:t>特征点：以当前像素为中心，检查半径为 </a:t>
            </a:r>
            <a:r>
              <a:rPr lang="en-US" altLang="zh-CN" dirty="0"/>
              <a:t>3 </a:t>
            </a:r>
            <a:r>
              <a:rPr lang="zh-CN" altLang="en-US" dirty="0"/>
              <a:t>像素的圆形邻域（共 </a:t>
            </a:r>
            <a:r>
              <a:rPr lang="en-US" altLang="zh-CN" dirty="0"/>
              <a:t>16 </a:t>
            </a:r>
            <a:r>
              <a:rPr lang="zh-CN" altLang="en-US" dirty="0"/>
              <a:t>个像素点）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67956EE-CF78-E14B-1F1B-60D206695E41}"/>
              </a:ext>
            </a:extLst>
          </p:cNvPr>
          <p:cNvSpPr txBox="1"/>
          <p:nvPr/>
        </p:nvSpPr>
        <p:spPr>
          <a:xfrm>
            <a:off x="923151" y="4383821"/>
            <a:ext cx="61851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特征点：图像当中具有代表性的部分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可重复性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可区分性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高效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53008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0BFD1-2D79-6B4F-6FD3-498AC9DAC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DE9C527-FC23-CEC1-F3B4-2343E21E89B0}"/>
              </a:ext>
            </a:extLst>
          </p:cNvPr>
          <p:cNvGrpSpPr/>
          <p:nvPr/>
        </p:nvGrpSpPr>
        <p:grpSpPr>
          <a:xfrm>
            <a:off x="322730" y="339134"/>
            <a:ext cx="8691873" cy="860611"/>
            <a:chOff x="322730" y="339134"/>
            <a:chExt cx="8691873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BD9CB49D-F87E-A0E8-E97F-1E44AF1F2FA1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5E1567C0-0E98-3681-8774-C524FA1797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966D91D3-E0BE-D46A-1A06-C67DE41A57D4}"/>
                </a:ext>
              </a:extLst>
            </p:cNvPr>
            <p:cNvSpPr txBox="1"/>
            <p:nvPr/>
          </p:nvSpPr>
          <p:spPr>
            <a:xfrm>
              <a:off x="1129552" y="384720"/>
              <a:ext cx="788505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b="1" dirty="0">
                  <a:solidFill>
                    <a:srgbClr val="5CB2D9"/>
                  </a:solidFill>
                </a:rPr>
                <a:t>基于局部梯度能量的特征改进</a:t>
              </a:r>
              <a:endParaRPr lang="zh-CN" altLang="en-US" sz="4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9B8D4F36-AAF5-5688-2471-409FE01DE0DE}"/>
              </a:ext>
            </a:extLst>
          </p:cNvPr>
          <p:cNvSpPr txBox="1"/>
          <p:nvPr/>
        </p:nvSpPr>
        <p:spPr>
          <a:xfrm>
            <a:off x="780283" y="3367069"/>
            <a:ext cx="4167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/>
              <a:t>特征点提取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3B85C8-7DA5-0776-691F-2ADBA9A6EB31}"/>
              </a:ext>
            </a:extLst>
          </p:cNvPr>
          <p:cNvSpPr/>
          <p:nvPr/>
        </p:nvSpPr>
        <p:spPr>
          <a:xfrm>
            <a:off x="5354053" y="1845703"/>
            <a:ext cx="2171700" cy="94785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图像金字塔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6893C2-AEE0-77D9-66CF-21CE4835AFAC}"/>
              </a:ext>
            </a:extLst>
          </p:cNvPr>
          <p:cNvSpPr/>
          <p:nvPr/>
        </p:nvSpPr>
        <p:spPr>
          <a:xfrm>
            <a:off x="5354053" y="3077809"/>
            <a:ext cx="2171700" cy="94785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特征点方向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81B654D-9DD6-0A4A-7475-4656B3DF6DA4}"/>
              </a:ext>
            </a:extLst>
          </p:cNvPr>
          <p:cNvSpPr/>
          <p:nvPr/>
        </p:nvSpPr>
        <p:spPr>
          <a:xfrm>
            <a:off x="5372099" y="4388153"/>
            <a:ext cx="2171700" cy="94785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多叉树筛选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E36957E-AAB9-9B7C-47CF-854B3DBB009E}"/>
              </a:ext>
            </a:extLst>
          </p:cNvPr>
          <p:cNvCxnSpPr>
            <a:cxnSpLocks/>
          </p:cNvCxnSpPr>
          <p:nvPr/>
        </p:nvCxnSpPr>
        <p:spPr>
          <a:xfrm flipV="1">
            <a:off x="4132847" y="2450218"/>
            <a:ext cx="1221206" cy="1183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01430343-3881-94CB-EF89-80362E28F779}"/>
              </a:ext>
            </a:extLst>
          </p:cNvPr>
          <p:cNvCxnSpPr/>
          <p:nvPr/>
        </p:nvCxnSpPr>
        <p:spPr>
          <a:xfrm>
            <a:off x="4132847" y="3633537"/>
            <a:ext cx="12212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78E4518-8BD7-EC04-F425-AE6D4D6985F8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4132847" y="3633537"/>
            <a:ext cx="1239252" cy="12285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D05DB396-75DB-8A6A-B636-455878CBD533}"/>
              </a:ext>
            </a:extLst>
          </p:cNvPr>
          <p:cNvSpPr txBox="1"/>
          <p:nvPr/>
        </p:nvSpPr>
        <p:spPr>
          <a:xfrm>
            <a:off x="7986126" y="2211510"/>
            <a:ext cx="1816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尺度不变性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8D00093-31DC-17A3-84B6-17B0A03AF715}"/>
              </a:ext>
            </a:extLst>
          </p:cNvPr>
          <p:cNvSpPr txBox="1"/>
          <p:nvPr/>
        </p:nvSpPr>
        <p:spPr>
          <a:xfrm>
            <a:off x="8046284" y="3367069"/>
            <a:ext cx="1816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旋转不变性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B075AEA-D10B-B11F-C34D-751378B7DAE7}"/>
              </a:ext>
            </a:extLst>
          </p:cNvPr>
          <p:cNvSpPr txBox="1"/>
          <p:nvPr/>
        </p:nvSpPr>
        <p:spPr>
          <a:xfrm>
            <a:off x="8046284" y="4783557"/>
            <a:ext cx="1816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特征点分布均匀</a:t>
            </a:r>
            <a:endParaRPr lang="zh-CN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AE3D293-F6EC-7906-56AD-BBD0FE9743E1}"/>
              </a:ext>
            </a:extLst>
          </p:cNvPr>
          <p:cNvSpPr/>
          <p:nvPr/>
        </p:nvSpPr>
        <p:spPr>
          <a:xfrm>
            <a:off x="5372099" y="5555507"/>
            <a:ext cx="2171700" cy="94785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能量梯度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229797C-354F-2A6A-699A-776B50A3C592}"/>
              </a:ext>
            </a:extLst>
          </p:cNvPr>
          <p:cNvSpPr txBox="1"/>
          <p:nvPr/>
        </p:nvSpPr>
        <p:spPr>
          <a:xfrm>
            <a:off x="1871677" y="5506213"/>
            <a:ext cx="2923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新模块引入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705175-C19C-FA94-FC0F-0CEB7C1E442F}"/>
              </a:ext>
            </a:extLst>
          </p:cNvPr>
          <p:cNvSpPr txBox="1"/>
          <p:nvPr/>
        </p:nvSpPr>
        <p:spPr>
          <a:xfrm>
            <a:off x="8217568" y="5997742"/>
            <a:ext cx="2562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EE0000"/>
                </a:solidFill>
              </a:rPr>
              <a:t>刻画特征点局部信息</a:t>
            </a:r>
          </a:p>
        </p:txBody>
      </p:sp>
    </p:spTree>
    <p:extLst>
      <p:ext uri="{BB962C8B-B14F-4D97-AF65-F5344CB8AC3E}">
        <p14:creationId xmlns:p14="http://schemas.microsoft.com/office/powerpoint/2010/main" val="1211456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56A42-A8F3-C4D6-97FA-FF5AD73BF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7033D55-1858-CFAC-941B-FD9AF23D5CA3}"/>
              </a:ext>
            </a:extLst>
          </p:cNvPr>
          <p:cNvGrpSpPr/>
          <p:nvPr/>
        </p:nvGrpSpPr>
        <p:grpSpPr>
          <a:xfrm>
            <a:off x="322730" y="339134"/>
            <a:ext cx="8460323" cy="860611"/>
            <a:chOff x="322730" y="339134"/>
            <a:chExt cx="8460323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9063C4D4-D952-495F-9A0E-A539DE201C75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1E9A5396-F0B8-C7C7-9CF8-EDB0380D9A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13FD4985-274F-4063-DBAF-56EC682415AF}"/>
                </a:ext>
              </a:extLst>
            </p:cNvPr>
            <p:cNvSpPr txBox="1"/>
            <p:nvPr/>
          </p:nvSpPr>
          <p:spPr>
            <a:xfrm>
              <a:off x="1129553" y="384720"/>
              <a:ext cx="76535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b="1" dirty="0">
                  <a:solidFill>
                    <a:srgbClr val="5CB2D9"/>
                  </a:solidFill>
                </a:rPr>
                <a:t>基于局部梯度能量的特征改进</a:t>
              </a:r>
              <a:endParaRPr lang="zh-CN" altLang="en-US" sz="4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C9A4C0E7-791D-9127-5AEA-23ADB7238522}"/>
              </a:ext>
            </a:extLst>
          </p:cNvPr>
          <p:cNvSpPr txBox="1"/>
          <p:nvPr/>
        </p:nvSpPr>
        <p:spPr>
          <a:xfrm>
            <a:off x="592653" y="1280804"/>
            <a:ext cx="43041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</a:rPr>
              <a:t>计算特征点方向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05FBC76-0FA3-7168-1DFE-6EFC81EB6CE7}"/>
              </a:ext>
            </a:extLst>
          </p:cNvPr>
          <p:cNvSpPr txBox="1"/>
          <p:nvPr/>
        </p:nvSpPr>
        <p:spPr>
          <a:xfrm>
            <a:off x="592653" y="1830106"/>
            <a:ext cx="98387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 </a:t>
            </a:r>
            <a:r>
              <a:rPr lang="zh-CN" altLang="en-US" b="1" dirty="0"/>
              <a:t>给每一个 特征点分配一个主方向</a:t>
            </a:r>
            <a:r>
              <a:rPr lang="zh-CN" altLang="en-US" dirty="0"/>
              <a:t>，从而让</a:t>
            </a:r>
            <a:r>
              <a:rPr lang="zh-CN" altLang="en-US" b="1" dirty="0"/>
              <a:t>特征点</a:t>
            </a:r>
            <a:r>
              <a:rPr lang="zh-CN" altLang="en-US" dirty="0"/>
              <a:t>描述子具备 </a:t>
            </a:r>
            <a:r>
              <a:rPr lang="zh-CN" altLang="en-US" b="1" dirty="0"/>
              <a:t>旋转不变性</a:t>
            </a:r>
            <a:r>
              <a:rPr lang="zh-CN" altLang="en-US" dirty="0"/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D3F1D95-CDF3-556E-9CD9-C80DFC6216C7}"/>
                  </a:ext>
                </a:extLst>
              </p:cNvPr>
              <p:cNvSpPr txBox="1"/>
              <p:nvPr/>
            </p:nvSpPr>
            <p:spPr>
              <a:xfrm>
                <a:off x="1290784" y="2414881"/>
                <a:ext cx="2123017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10=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nary>
                      <m:r>
                        <a:rPr lang="zh-CN" altLang="en-US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D3F1D95-CDF3-556E-9CD9-C80DFC6216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0784" y="2414881"/>
                <a:ext cx="2123017" cy="6707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D33F02A-343B-D4CE-9A2D-1CC33A79F94E}"/>
                  </a:ext>
                </a:extLst>
              </p:cNvPr>
              <p:cNvSpPr txBox="1"/>
              <p:nvPr/>
            </p:nvSpPr>
            <p:spPr>
              <a:xfrm>
                <a:off x="1290783" y="3085642"/>
                <a:ext cx="2113399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01=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nary>
                      <m:r>
                        <a:rPr lang="zh-CN" altLang="en-US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D33F02A-343B-D4CE-9A2D-1CC33A79F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0783" y="3085642"/>
                <a:ext cx="2113399" cy="6707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2245B69-1084-99A7-EC23-513833AD9F13}"/>
                  </a:ext>
                </a:extLst>
              </p:cNvPr>
              <p:cNvSpPr txBox="1"/>
              <p:nvPr/>
            </p:nvSpPr>
            <p:spPr>
              <a:xfrm>
                <a:off x="7226772" y="2827655"/>
                <a:ext cx="1086929" cy="5248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24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den>
                    </m:f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2245B69-1084-99A7-EC23-513833AD9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6772" y="2827655"/>
                <a:ext cx="1086929" cy="524824"/>
              </a:xfrm>
              <a:prstGeom prst="rect">
                <a:avLst/>
              </a:prstGeom>
              <a:blipFill>
                <a:blip r:embed="rId4"/>
                <a:stretch>
                  <a:fillRect l="-16760" t="-2326" b="-209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C6F4E0B-7526-D4A0-5694-C6B4C9FDA164}"/>
                  </a:ext>
                </a:extLst>
              </p:cNvPr>
              <p:cNvSpPr txBox="1"/>
              <p:nvPr/>
            </p:nvSpPr>
            <p:spPr>
              <a:xfrm>
                <a:off x="7879505" y="2823230"/>
                <a:ext cx="842513" cy="5248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den>
                    </m:f>
                  </m:oMath>
                </a14:m>
                <a:r>
                  <a:rPr lang="en-US" altLang="zh-CN" sz="2400" dirty="0"/>
                  <a:t>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C6F4E0B-7526-D4A0-5694-C6B4C9FDA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9505" y="2823230"/>
                <a:ext cx="842513" cy="524824"/>
              </a:xfrm>
              <a:prstGeom prst="rect">
                <a:avLst/>
              </a:prstGeom>
              <a:blipFill>
                <a:blip r:embed="rId5"/>
                <a:stretch>
                  <a:fillRect l="-725" t="-1163" b="-220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51A26779-2516-8057-0E16-B41A3963C9A0}"/>
              </a:ext>
            </a:extLst>
          </p:cNvPr>
          <p:cNvSpPr txBox="1"/>
          <p:nvPr/>
        </p:nvSpPr>
        <p:spPr>
          <a:xfrm>
            <a:off x="693907" y="4899099"/>
            <a:ext cx="5627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亮点分布不均 → 质心偏向某个方向</a:t>
            </a:r>
            <a:endParaRPr lang="en-US" altLang="zh-CN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C43A594-3D8F-3A34-3D65-8DEC3081848E}"/>
              </a:ext>
            </a:extLst>
          </p:cNvPr>
          <p:cNvSpPr txBox="1"/>
          <p:nvPr/>
        </p:nvSpPr>
        <p:spPr>
          <a:xfrm>
            <a:off x="7534235" y="3631764"/>
            <a:ext cx="1533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重心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7A5325E-64C6-4D80-882F-21EB51CA656C}"/>
              </a:ext>
            </a:extLst>
          </p:cNvPr>
          <p:cNvSpPr txBox="1"/>
          <p:nvPr/>
        </p:nvSpPr>
        <p:spPr>
          <a:xfrm>
            <a:off x="6396287" y="4658563"/>
            <a:ext cx="61030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如果图像旋转了：</a:t>
            </a:r>
            <a:endParaRPr lang="en-US" altLang="zh-CN" dirty="0"/>
          </a:p>
          <a:p>
            <a:r>
              <a:rPr lang="zh-CN" altLang="en-US" dirty="0"/>
              <a:t>质心方向也会一起旋转</a:t>
            </a:r>
            <a:endParaRPr lang="en-US" altLang="zh-CN" dirty="0"/>
          </a:p>
          <a:p>
            <a:r>
              <a:rPr lang="zh-CN" altLang="en-US" dirty="0"/>
              <a:t>描述子跟着旋转</a:t>
            </a:r>
            <a:endParaRPr lang="en-US" altLang="zh-CN" dirty="0"/>
          </a:p>
          <a:p>
            <a:r>
              <a:rPr lang="zh-CN" altLang="en-US" dirty="0"/>
              <a:t>匹配仍然成立</a:t>
            </a:r>
          </a:p>
        </p:txBody>
      </p:sp>
    </p:spTree>
    <p:extLst>
      <p:ext uri="{BB962C8B-B14F-4D97-AF65-F5344CB8AC3E}">
        <p14:creationId xmlns:p14="http://schemas.microsoft.com/office/powerpoint/2010/main" val="3248473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AE12504-DEBD-4C1B-9BF9-6712F52677E7}"/>
              </a:ext>
            </a:extLst>
          </p:cNvPr>
          <p:cNvGrpSpPr/>
          <p:nvPr/>
        </p:nvGrpSpPr>
        <p:grpSpPr>
          <a:xfrm>
            <a:off x="322730" y="339134"/>
            <a:ext cx="8309927" cy="860611"/>
            <a:chOff x="322730" y="339134"/>
            <a:chExt cx="8309927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876FD67B-FF92-40E6-90FE-CF4C2316AEDC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EFE52BD2-8191-4D27-B8B6-182474EF8C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384F5AE-1080-43E6-980F-3576864CC119}"/>
                </a:ext>
              </a:extLst>
            </p:cNvPr>
            <p:cNvSpPr txBox="1"/>
            <p:nvPr/>
          </p:nvSpPr>
          <p:spPr>
            <a:xfrm>
              <a:off x="1129552" y="384720"/>
              <a:ext cx="750310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b="1" dirty="0">
                  <a:solidFill>
                    <a:srgbClr val="5CB2D9"/>
                  </a:solidFill>
                </a:rPr>
                <a:t>基于局部梯度能量的特征改进</a:t>
              </a:r>
              <a:endParaRPr lang="zh-CN" altLang="en-US" sz="4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A2D41AB1-51C8-CF15-F459-368167A8E233}"/>
              </a:ext>
            </a:extLst>
          </p:cNvPr>
          <p:cNvSpPr txBox="1"/>
          <p:nvPr/>
        </p:nvSpPr>
        <p:spPr>
          <a:xfrm>
            <a:off x="592654" y="1280804"/>
            <a:ext cx="227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</a:rPr>
              <a:t>图像金字塔</a:t>
            </a:r>
          </a:p>
        </p:txBody>
      </p:sp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9C956DF9-A33C-AD32-FF81-63F0DD080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5021" y="2618469"/>
            <a:ext cx="3252204" cy="276722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741D9DA-3BFB-C466-12F9-CCA451952B2D}"/>
              </a:ext>
            </a:extLst>
          </p:cNvPr>
          <p:cNvSpPr txBox="1"/>
          <p:nvPr/>
        </p:nvSpPr>
        <p:spPr>
          <a:xfrm>
            <a:off x="6985818" y="5333601"/>
            <a:ext cx="1882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层级：</a:t>
            </a:r>
            <a:r>
              <a:rPr lang="en-US" altLang="zh-CN" dirty="0"/>
              <a:t>8</a:t>
            </a:r>
            <a:r>
              <a:rPr lang="zh-CN" altLang="en-US" dirty="0"/>
              <a:t>层</a:t>
            </a:r>
            <a:endParaRPr lang="en-US" altLang="zh-CN" dirty="0"/>
          </a:p>
          <a:p>
            <a:r>
              <a:rPr lang="zh-CN" altLang="en-US" dirty="0"/>
              <a:t>缩放因子：</a:t>
            </a:r>
            <a:r>
              <a:rPr lang="en-US" altLang="zh-CN" dirty="0"/>
              <a:t>1.2</a:t>
            </a:r>
            <a:endParaRPr lang="zh-CN" altLang="en-US" dirty="0"/>
          </a:p>
        </p:txBody>
      </p:sp>
      <p:pic>
        <p:nvPicPr>
          <p:cNvPr id="9" name="图片 8" descr="图片包含 工程绘图&#10;&#10;AI 生成的内容可能不正确。">
            <a:extLst>
              <a:ext uri="{FF2B5EF4-FFF2-40B4-BE49-F238E27FC236}">
                <a16:creationId xmlns:a16="http://schemas.microsoft.com/office/drawing/2014/main" id="{1B1944B9-8059-ED61-6F6F-454192494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2793" y="3342293"/>
            <a:ext cx="2196553" cy="145410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AC68BF-CCDB-4BBB-CD7E-1C45E86CFE20}"/>
              </a:ext>
            </a:extLst>
          </p:cNvPr>
          <p:cNvSpPr txBox="1"/>
          <p:nvPr/>
        </p:nvSpPr>
        <p:spPr>
          <a:xfrm>
            <a:off x="9354829" y="5600354"/>
            <a:ext cx="25444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从“世界坐标系”变换到“相机坐标系”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99B62D96-4509-BB25-3BF2-0D3F83C833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634815"/>
              </p:ext>
            </p:extLst>
          </p:nvPr>
        </p:nvGraphicFramePr>
        <p:xfrm>
          <a:off x="490201" y="2634202"/>
          <a:ext cx="5826798" cy="32017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2266">
                  <a:extLst>
                    <a:ext uri="{9D8B030D-6E8A-4147-A177-3AD203B41FA5}">
                      <a16:colId xmlns:a16="http://schemas.microsoft.com/office/drawing/2014/main" val="3445189184"/>
                    </a:ext>
                  </a:extLst>
                </a:gridCol>
                <a:gridCol w="1942266">
                  <a:extLst>
                    <a:ext uri="{9D8B030D-6E8A-4147-A177-3AD203B41FA5}">
                      <a16:colId xmlns:a16="http://schemas.microsoft.com/office/drawing/2014/main" val="1245153523"/>
                    </a:ext>
                  </a:extLst>
                </a:gridCol>
                <a:gridCol w="1942266">
                  <a:extLst>
                    <a:ext uri="{9D8B030D-6E8A-4147-A177-3AD203B41FA5}">
                      <a16:colId xmlns:a16="http://schemas.microsoft.com/office/drawing/2014/main" val="3534178174"/>
                    </a:ext>
                  </a:extLst>
                </a:gridCol>
              </a:tblGrid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 b="1" dirty="0">
                          <a:solidFill>
                            <a:schemeClr val="tx1"/>
                          </a:solidFill>
                        </a:rPr>
                        <a:t>层级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scale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 b="1" dirty="0">
                          <a:solidFill>
                            <a:schemeClr val="tx1"/>
                          </a:solidFill>
                        </a:rPr>
                        <a:t>尺寸（近似）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9828483"/>
                  </a:ext>
                </a:extLst>
              </a:tr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640×480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5729939"/>
                  </a:ext>
                </a:extLst>
              </a:tr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533×400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4522166"/>
                  </a:ext>
                </a:extLst>
              </a:tr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1.44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444×333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2730482"/>
                  </a:ext>
                </a:extLst>
              </a:tr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370×277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2988486"/>
                  </a:ext>
                </a:extLst>
              </a:tr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309×231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5144826"/>
                  </a:ext>
                </a:extLst>
              </a:tr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257×193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345648"/>
                  </a:ext>
                </a:extLst>
              </a:tr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214×161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3635054"/>
                  </a:ext>
                </a:extLst>
              </a:tr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179×134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0992112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1FAF7FB3-1199-E567-93D0-6CEE3B3A9676}"/>
              </a:ext>
            </a:extLst>
          </p:cNvPr>
          <p:cNvSpPr txBox="1"/>
          <p:nvPr/>
        </p:nvSpPr>
        <p:spPr>
          <a:xfrm>
            <a:off x="592654" y="1845839"/>
            <a:ext cx="113065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通过构建图像金字塔，在多尺度图像上检测 </a:t>
            </a:r>
            <a:r>
              <a:rPr lang="en-US" altLang="zh-CN" b="1" dirty="0"/>
              <a:t>FAST </a:t>
            </a:r>
            <a:r>
              <a:rPr lang="zh-CN" altLang="en-US" b="1" dirty="0"/>
              <a:t>角点，从而弥补 </a:t>
            </a:r>
            <a:r>
              <a:rPr lang="en-US" altLang="zh-CN" b="1" dirty="0"/>
              <a:t>FAST </a:t>
            </a:r>
            <a:r>
              <a:rPr lang="zh-CN" altLang="en-US" b="1" dirty="0"/>
              <a:t>原始方法缺乏尺度不变性的缺点。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3940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DBAED-9B79-79C9-243C-07DBEE171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B51E23D-FAD5-DD7C-4C45-16FF6EA173E7}"/>
              </a:ext>
            </a:extLst>
          </p:cNvPr>
          <p:cNvGrpSpPr/>
          <p:nvPr/>
        </p:nvGrpSpPr>
        <p:grpSpPr>
          <a:xfrm>
            <a:off x="322730" y="339134"/>
            <a:ext cx="8333991" cy="860611"/>
            <a:chOff x="322730" y="339134"/>
            <a:chExt cx="8333991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6486A197-1FC8-A574-9AC6-34919DCB7D50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C15F2B25-9B59-635F-B3D6-58318613E9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D5133B1-973F-65E0-847E-CF49801DE722}"/>
                </a:ext>
              </a:extLst>
            </p:cNvPr>
            <p:cNvSpPr txBox="1"/>
            <p:nvPr/>
          </p:nvSpPr>
          <p:spPr>
            <a:xfrm>
              <a:off x="1129553" y="384720"/>
              <a:ext cx="752716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b="1" dirty="0">
                  <a:solidFill>
                    <a:srgbClr val="5CB2D9"/>
                  </a:solidFill>
                </a:rPr>
                <a:t>基于局部梯度能量的特征改进</a:t>
              </a:r>
              <a:endParaRPr lang="zh-CN" altLang="en-US" sz="4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DAECEFD8-42BD-0431-7C00-B567FE6156B1}"/>
              </a:ext>
            </a:extLst>
          </p:cNvPr>
          <p:cNvSpPr txBox="1"/>
          <p:nvPr/>
        </p:nvSpPr>
        <p:spPr>
          <a:xfrm>
            <a:off x="490386" y="1276797"/>
            <a:ext cx="2066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0070C0"/>
                </a:solidFill>
              </a:rPr>
              <a:t>特征筛选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BFD059E-6AFD-3BE2-B282-2CE671D72377}"/>
              </a:ext>
            </a:extLst>
          </p:cNvPr>
          <p:cNvSpPr txBox="1"/>
          <p:nvPr/>
        </p:nvSpPr>
        <p:spPr>
          <a:xfrm>
            <a:off x="592654" y="1845839"/>
            <a:ext cx="113065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通过多叉树筛选，让特征点分布更加均匀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0D3040B-0645-D170-AAFC-47942B66C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41" y="2353533"/>
            <a:ext cx="2101798" cy="280184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71F573F3-98E3-88E4-6C9B-6DDE85CAA4B6}"/>
              </a:ext>
            </a:extLst>
          </p:cNvPr>
          <p:cNvSpPr txBox="1"/>
          <p:nvPr/>
        </p:nvSpPr>
        <p:spPr>
          <a:xfrm>
            <a:off x="243743" y="5200967"/>
            <a:ext cx="33255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/>
              <a:t>哪里纹理强，哪里角点就爆炸</a:t>
            </a:r>
            <a:endParaRPr lang="zh-CN" altLang="en-US" sz="1600" dirty="0"/>
          </a:p>
        </p:txBody>
      </p:sp>
      <p:pic>
        <p:nvPicPr>
          <p:cNvPr id="16" name="图片 15" descr="图片包含 网站&#10;&#10;AI 生成的内容可能不正确。">
            <a:extLst>
              <a:ext uri="{FF2B5EF4-FFF2-40B4-BE49-F238E27FC236}">
                <a16:creationId xmlns:a16="http://schemas.microsoft.com/office/drawing/2014/main" id="{DAC0FB1D-70FD-FAFC-890D-862E256D4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1934" y="2302156"/>
            <a:ext cx="4910703" cy="2853226"/>
          </a:xfrm>
          <a:prstGeom prst="rect">
            <a:avLst/>
          </a:prstGeom>
        </p:spPr>
      </p:pic>
      <p:pic>
        <p:nvPicPr>
          <p:cNvPr id="17" name="图片 16" descr="图示&#10;&#10;AI 生成的内容可能不正确。">
            <a:extLst>
              <a:ext uri="{FF2B5EF4-FFF2-40B4-BE49-F238E27FC236}">
                <a16:creationId xmlns:a16="http://schemas.microsoft.com/office/drawing/2014/main" id="{A3FCDAB8-C23B-5CBB-127F-056B06B77B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2415" y="2353533"/>
            <a:ext cx="4762121" cy="2938486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352C5EF8-146D-FBD5-A583-8EBD92139468}"/>
              </a:ext>
            </a:extLst>
          </p:cNvPr>
          <p:cNvSpPr txBox="1"/>
          <p:nvPr/>
        </p:nvSpPr>
        <p:spPr>
          <a:xfrm>
            <a:off x="4116304" y="5602523"/>
            <a:ext cx="6103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多尺度金字塔假设特征点在空间上相对均匀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67382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FCEB8-B0B3-1D80-A968-67F0B343A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8A8F545-9EC2-9E7A-3592-91530E8CA4A3}"/>
              </a:ext>
            </a:extLst>
          </p:cNvPr>
          <p:cNvGrpSpPr/>
          <p:nvPr/>
        </p:nvGrpSpPr>
        <p:grpSpPr>
          <a:xfrm>
            <a:off x="322730" y="339134"/>
            <a:ext cx="8346023" cy="860611"/>
            <a:chOff x="322730" y="339134"/>
            <a:chExt cx="8346023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5E7E4B07-99C2-7966-6BEB-FFA1F7050D41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5CD7E2E8-122B-7811-6890-C8D3F19C76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1839BA40-E8B5-36FA-3DED-3EB5684C34DE}"/>
                </a:ext>
              </a:extLst>
            </p:cNvPr>
            <p:cNvSpPr txBox="1"/>
            <p:nvPr/>
          </p:nvSpPr>
          <p:spPr>
            <a:xfrm>
              <a:off x="1129553" y="384720"/>
              <a:ext cx="75392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b="1" dirty="0">
                  <a:solidFill>
                    <a:srgbClr val="5CB2D9"/>
                  </a:solidFill>
                </a:rPr>
                <a:t>基于局部梯度能量的特征改进</a:t>
              </a:r>
              <a:endParaRPr lang="zh-CN" altLang="en-US" sz="4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B5FDFFA6-8584-EC7B-5F34-541823AB1C27}"/>
              </a:ext>
            </a:extLst>
          </p:cNvPr>
          <p:cNvSpPr txBox="1"/>
          <p:nvPr/>
        </p:nvSpPr>
        <p:spPr>
          <a:xfrm>
            <a:off x="592654" y="1280804"/>
            <a:ext cx="23430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0070C0"/>
                </a:solidFill>
              </a:rPr>
              <a:t>特征筛选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6F715BD-6CEF-31C5-3AEC-DA74B7BCDE84}"/>
              </a:ext>
            </a:extLst>
          </p:cNvPr>
          <p:cNvSpPr txBox="1"/>
          <p:nvPr/>
        </p:nvSpPr>
        <p:spPr>
          <a:xfrm>
            <a:off x="592654" y="1845839"/>
            <a:ext cx="113065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通过多叉树进行特征点筛选，让特征点分配更加均匀</a:t>
            </a:r>
          </a:p>
        </p:txBody>
      </p:sp>
      <p:pic>
        <p:nvPicPr>
          <p:cNvPr id="17" name="图片 16" descr="图表, 散点图&#10;&#10;AI 生成的内容可能不正确。">
            <a:extLst>
              <a:ext uri="{FF2B5EF4-FFF2-40B4-BE49-F238E27FC236}">
                <a16:creationId xmlns:a16="http://schemas.microsoft.com/office/drawing/2014/main" id="{FE4B41EA-9B5E-632C-3C90-BB9D4ED15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96" y="2336105"/>
            <a:ext cx="1536935" cy="1012866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2A40E4DD-8334-1F95-45CD-D6AF7E8CBA64}"/>
              </a:ext>
            </a:extLst>
          </p:cNvPr>
          <p:cNvSpPr txBox="1"/>
          <p:nvPr/>
        </p:nvSpPr>
        <p:spPr>
          <a:xfrm>
            <a:off x="592654" y="3509029"/>
            <a:ext cx="19460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Step1.</a:t>
            </a:r>
            <a:r>
              <a:rPr lang="zh-CN" altLang="en-US" sz="1400" dirty="0"/>
              <a:t>只有一个</a:t>
            </a:r>
            <a:r>
              <a:rPr lang="en-US" altLang="zh-CN" sz="1400" dirty="0"/>
              <a:t>node</a:t>
            </a:r>
            <a:endParaRPr lang="zh-CN" altLang="en-US" sz="1400" dirty="0"/>
          </a:p>
        </p:txBody>
      </p:sp>
      <p:pic>
        <p:nvPicPr>
          <p:cNvPr id="20" name="图片 19" descr="图表, 散点图&#10;&#10;AI 生成的内容可能不正确。">
            <a:extLst>
              <a:ext uri="{FF2B5EF4-FFF2-40B4-BE49-F238E27FC236}">
                <a16:creationId xmlns:a16="http://schemas.microsoft.com/office/drawing/2014/main" id="{5A74DC32-88A1-4CDC-32C3-CD283F502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584" y="2250453"/>
            <a:ext cx="1685893" cy="1099976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75B75E80-6A21-FCAD-9BEB-D79E1AAD5757}"/>
              </a:ext>
            </a:extLst>
          </p:cNvPr>
          <p:cNvSpPr txBox="1"/>
          <p:nvPr/>
        </p:nvSpPr>
        <p:spPr>
          <a:xfrm>
            <a:off x="4794583" y="3347800"/>
            <a:ext cx="168589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/>
              <a:t>Step2.</a:t>
            </a:r>
            <a:r>
              <a:rPr lang="zh-CN" altLang="en-US" sz="1100" dirty="0"/>
              <a:t>第一次分裂</a:t>
            </a:r>
            <a:endParaRPr lang="en-US" altLang="zh-CN" sz="1100" dirty="0"/>
          </a:p>
          <a:p>
            <a:r>
              <a:rPr lang="en-US" altLang="zh-CN" sz="1100" dirty="0"/>
              <a:t>1node</a:t>
            </a:r>
            <a:r>
              <a:rPr lang="zh-CN" altLang="en-US" sz="1100" dirty="0"/>
              <a:t>分裂为</a:t>
            </a:r>
            <a:r>
              <a:rPr lang="en-US" altLang="zh-CN" sz="1100" dirty="0"/>
              <a:t>4</a:t>
            </a:r>
            <a:r>
              <a:rPr lang="zh-CN" altLang="en-US" sz="1100" dirty="0"/>
              <a:t>个</a:t>
            </a:r>
            <a:r>
              <a:rPr lang="en-US" altLang="zh-CN" sz="1100" dirty="0"/>
              <a:t>node</a:t>
            </a:r>
          </a:p>
        </p:txBody>
      </p:sp>
      <p:pic>
        <p:nvPicPr>
          <p:cNvPr id="23" name="图片 22" descr="图表, 散点图&#10;&#10;AI 生成的内容可能不正确。">
            <a:extLst>
              <a:ext uri="{FF2B5EF4-FFF2-40B4-BE49-F238E27FC236}">
                <a16:creationId xmlns:a16="http://schemas.microsoft.com/office/drawing/2014/main" id="{CE2FDDF8-4337-A7F1-D327-C315B263B0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7511" y="2250453"/>
            <a:ext cx="1767167" cy="1183831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9C37D5A6-190C-B498-213B-C690B293207C}"/>
              </a:ext>
            </a:extLst>
          </p:cNvPr>
          <p:cNvSpPr txBox="1"/>
          <p:nvPr/>
        </p:nvSpPr>
        <p:spPr>
          <a:xfrm>
            <a:off x="8957511" y="3385918"/>
            <a:ext cx="23483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Step3.</a:t>
            </a:r>
            <a:r>
              <a:rPr lang="zh-CN" altLang="en-US" sz="1200" dirty="0"/>
              <a:t>第二次分裂</a:t>
            </a:r>
            <a:endParaRPr lang="en-US" altLang="zh-CN" sz="1200" dirty="0"/>
          </a:p>
        </p:txBody>
      </p:sp>
      <p:pic>
        <p:nvPicPr>
          <p:cNvPr id="28" name="图片 27" descr="图表, 散点图&#10;&#10;AI 生成的内容可能不正确。">
            <a:extLst>
              <a:ext uri="{FF2B5EF4-FFF2-40B4-BE49-F238E27FC236}">
                <a16:creationId xmlns:a16="http://schemas.microsoft.com/office/drawing/2014/main" id="{D458490A-DA3E-50B7-89E9-89FE4FA6B4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2647" y="3976864"/>
            <a:ext cx="1582153" cy="1037811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17641686-DA4B-3B36-C6FD-1FC3320A29D2}"/>
              </a:ext>
            </a:extLst>
          </p:cNvPr>
          <p:cNvSpPr txBox="1"/>
          <p:nvPr/>
        </p:nvSpPr>
        <p:spPr>
          <a:xfrm>
            <a:off x="2532647" y="5174733"/>
            <a:ext cx="25025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Step4.</a:t>
            </a:r>
            <a:r>
              <a:rPr lang="zh-CN" altLang="en-US" sz="1200" dirty="0"/>
              <a:t>第三次分裂</a:t>
            </a:r>
            <a:endParaRPr lang="en-US" altLang="zh-CN" sz="1200" dirty="0"/>
          </a:p>
        </p:txBody>
      </p:sp>
      <p:pic>
        <p:nvPicPr>
          <p:cNvPr id="31" name="图片 30" descr="图表, 散点图&#10;&#10;AI 生成的内容可能不正确。">
            <a:extLst>
              <a:ext uri="{FF2B5EF4-FFF2-40B4-BE49-F238E27FC236}">
                <a16:creationId xmlns:a16="http://schemas.microsoft.com/office/drawing/2014/main" id="{74241C2F-CC2E-27F3-E043-54CD30B924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1784" y="3984769"/>
            <a:ext cx="1767167" cy="1146720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191AE2A0-24B6-AA62-7EDB-932F15D0D9E9}"/>
              </a:ext>
            </a:extLst>
          </p:cNvPr>
          <p:cNvSpPr txBox="1"/>
          <p:nvPr/>
        </p:nvSpPr>
        <p:spPr>
          <a:xfrm>
            <a:off x="7397984" y="5203882"/>
            <a:ext cx="22613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Step5.</a:t>
            </a:r>
            <a:r>
              <a:rPr lang="zh-CN" altLang="en-US" sz="1200" dirty="0"/>
              <a:t>第四次分裂</a:t>
            </a:r>
            <a:endParaRPr lang="en-US" altLang="zh-CN" sz="12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19B79ED-0800-3800-8F67-F1E5EBA592E4}"/>
              </a:ext>
            </a:extLst>
          </p:cNvPr>
          <p:cNvSpPr txBox="1"/>
          <p:nvPr/>
        </p:nvSpPr>
        <p:spPr>
          <a:xfrm>
            <a:off x="2532647" y="5853255"/>
            <a:ext cx="6585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缺点：特征点缺少的情况下，筛选的特征点辨识度不够高</a:t>
            </a:r>
          </a:p>
        </p:txBody>
      </p:sp>
    </p:spTree>
    <p:extLst>
      <p:ext uri="{BB962C8B-B14F-4D97-AF65-F5344CB8AC3E}">
        <p14:creationId xmlns:p14="http://schemas.microsoft.com/office/powerpoint/2010/main" val="25344673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E85D0-88AB-2FC6-4F11-8B20382C7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1C59A3E-F081-573B-C235-1C35CD107773}"/>
              </a:ext>
            </a:extLst>
          </p:cNvPr>
          <p:cNvGrpSpPr/>
          <p:nvPr/>
        </p:nvGrpSpPr>
        <p:grpSpPr>
          <a:xfrm>
            <a:off x="322730" y="339134"/>
            <a:ext cx="9623527" cy="860611"/>
            <a:chOff x="322730" y="339134"/>
            <a:chExt cx="8118537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52E735CF-39EC-2EA1-4689-F131417131AE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6B8A5D9E-851E-3092-8A1A-2B3062A8D9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72DABDF5-84CE-6817-E317-9CC42CB9D76E}"/>
                </a:ext>
              </a:extLst>
            </p:cNvPr>
            <p:cNvSpPr txBox="1"/>
            <p:nvPr/>
          </p:nvSpPr>
          <p:spPr>
            <a:xfrm>
              <a:off x="1129553" y="384720"/>
              <a:ext cx="731171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b="1" dirty="0">
                  <a:solidFill>
                    <a:srgbClr val="5CB2D9"/>
                  </a:solidFill>
                </a:rPr>
                <a:t>基于局部梯度能量的特征点改进</a:t>
              </a:r>
              <a:endParaRPr lang="zh-CN" altLang="en-US" sz="4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55" name="文本框 54">
            <a:extLst>
              <a:ext uri="{FF2B5EF4-FFF2-40B4-BE49-F238E27FC236}">
                <a16:creationId xmlns:a16="http://schemas.microsoft.com/office/drawing/2014/main" id="{E48AFA4D-6783-649B-2B69-34743783018D}"/>
              </a:ext>
            </a:extLst>
          </p:cNvPr>
          <p:cNvSpPr txBox="1"/>
          <p:nvPr/>
        </p:nvSpPr>
        <p:spPr>
          <a:xfrm>
            <a:off x="447857" y="1331207"/>
            <a:ext cx="1029203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研究点一：基于局部梯度能量的特征点改进</a:t>
            </a:r>
          </a:p>
          <a:p>
            <a:endParaRPr lang="en-US" altLang="zh-CN" sz="3200" dirty="0"/>
          </a:p>
          <a:p>
            <a:endParaRPr lang="zh-CN" altLang="en-US" sz="3200" dirty="0"/>
          </a:p>
          <a:p>
            <a:r>
              <a:rPr lang="en-US" altLang="zh-CN" sz="3200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    </a:t>
            </a:r>
            <a:endParaRPr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9947402-2BB8-A7F3-501E-C02A6225FA60}"/>
              </a:ext>
            </a:extLst>
          </p:cNvPr>
          <p:cNvSpPr txBox="1"/>
          <p:nvPr/>
        </p:nvSpPr>
        <p:spPr>
          <a:xfrm>
            <a:off x="6950367" y="5239281"/>
            <a:ext cx="49368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我们的思路</a:t>
            </a:r>
            <a:r>
              <a:rPr lang="zh-CN" altLang="en-US" dirty="0"/>
              <a:t>：引入局部能量梯度，再特征点分配均匀的基础上，让特征点区分性更好</a:t>
            </a:r>
          </a:p>
        </p:txBody>
      </p:sp>
      <p:pic>
        <p:nvPicPr>
          <p:cNvPr id="24" name="图片 23" descr="文本&#10;&#10;AI 生成的内容可能不正确。">
            <a:extLst>
              <a:ext uri="{FF2B5EF4-FFF2-40B4-BE49-F238E27FC236}">
                <a16:creationId xmlns:a16="http://schemas.microsoft.com/office/drawing/2014/main" id="{F7671117-D33E-B47B-F476-EB35D2321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53" y="3196901"/>
            <a:ext cx="4566024" cy="1910986"/>
          </a:xfrm>
          <a:prstGeom prst="rect">
            <a:avLst/>
          </a:prstGeom>
        </p:spPr>
      </p:pic>
      <p:pic>
        <p:nvPicPr>
          <p:cNvPr id="26" name="图片 25" descr="文本&#10;&#10;AI 生成的内容可能不正确。">
            <a:extLst>
              <a:ext uri="{FF2B5EF4-FFF2-40B4-BE49-F238E27FC236}">
                <a16:creationId xmlns:a16="http://schemas.microsoft.com/office/drawing/2014/main" id="{57DF53F4-82E9-D068-0B62-D059E6664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353" y="3294592"/>
            <a:ext cx="4113960" cy="9560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EBEB5DA1-1281-8FD7-ED72-F61D8CC4BF2C}"/>
                  </a:ext>
                </a:extLst>
              </p:cNvPr>
              <p:cNvSpPr txBox="1"/>
              <p:nvPr/>
            </p:nvSpPr>
            <p:spPr>
              <a:xfrm>
                <a:off x="6274353" y="2743610"/>
                <a:ext cx="609887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在以特征点为中心的局部邻域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zh-CN" altLang="en-US" dirty="0"/>
                  <a:t>内，定义梯度能量为：</a:t>
                </a:r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82F4869D-3F82-5B5E-E332-CDDB8E85A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353" y="2743610"/>
                <a:ext cx="6098874" cy="369332"/>
              </a:xfrm>
              <a:prstGeom prst="rect">
                <a:avLst/>
              </a:prstGeom>
              <a:blipFill>
                <a:blip r:embed="rId4"/>
                <a:stretch>
                  <a:fillRect l="-799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文本框 58">
            <a:extLst>
              <a:ext uri="{FF2B5EF4-FFF2-40B4-BE49-F238E27FC236}">
                <a16:creationId xmlns:a16="http://schemas.microsoft.com/office/drawing/2014/main" id="{A7051243-5F9F-CBD8-6525-FA753FA00CFF}"/>
              </a:ext>
            </a:extLst>
          </p:cNvPr>
          <p:cNvSpPr txBox="1"/>
          <p:nvPr/>
        </p:nvSpPr>
        <p:spPr>
          <a:xfrm>
            <a:off x="529725" y="2023552"/>
            <a:ext cx="9321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利用梯度信息刻画角点邻域的结构复杂度和信息量，从而提升特征点的判别能力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351916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848DD-D34A-787D-3C54-E8E6C37CF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292E80F-37B5-A763-6B89-D7596279AD1D}"/>
              </a:ext>
            </a:extLst>
          </p:cNvPr>
          <p:cNvGrpSpPr/>
          <p:nvPr/>
        </p:nvGrpSpPr>
        <p:grpSpPr>
          <a:xfrm>
            <a:off x="322730" y="339134"/>
            <a:ext cx="9623527" cy="860611"/>
            <a:chOff x="322730" y="339134"/>
            <a:chExt cx="8118537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E16FF478-AD68-C33F-F2D9-24CA548F39A0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A73F3230-703C-12C3-B997-C04066AA79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A87215D-3102-2D51-2C74-2FFABE0CCC5E}"/>
                </a:ext>
              </a:extLst>
            </p:cNvPr>
            <p:cNvSpPr txBox="1"/>
            <p:nvPr/>
          </p:nvSpPr>
          <p:spPr>
            <a:xfrm>
              <a:off x="1129553" y="384720"/>
              <a:ext cx="731171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b="1" dirty="0">
                  <a:solidFill>
                    <a:srgbClr val="5CB2D9"/>
                  </a:solidFill>
                </a:rPr>
                <a:t>基于局部梯度能量的特征点改进</a:t>
              </a:r>
              <a:endParaRPr lang="zh-CN" altLang="en-US" sz="4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23AE4C64-C1F4-AB29-F72D-75D393DC1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500" y="1142842"/>
            <a:ext cx="3356043" cy="309055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1ECFC9F-4859-4A83-DB9F-54B1FC0BF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5808" y="4151103"/>
            <a:ext cx="2637928" cy="244588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6CD989D-E847-F123-AECD-C19F5A4F7C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9200" y="1072413"/>
            <a:ext cx="3253609" cy="299622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B1E868D-BB6F-961F-DCDE-0C229110AB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9200" y="3826755"/>
            <a:ext cx="2987742" cy="2770232"/>
          </a:xfrm>
          <a:prstGeom prst="rect">
            <a:avLst/>
          </a:prstGeom>
        </p:spPr>
      </p:pic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7B1FC63-077F-914C-E2E9-7B7AE260C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71458"/>
              </p:ext>
            </p:extLst>
          </p:nvPr>
        </p:nvGraphicFramePr>
        <p:xfrm>
          <a:off x="460306" y="2762237"/>
          <a:ext cx="3356043" cy="1611240"/>
        </p:xfrm>
        <a:graphic>
          <a:graphicData uri="http://schemas.openxmlformats.org/drawingml/2006/table">
            <a:tbl>
              <a:tblPr/>
              <a:tblGrid>
                <a:gridCol w="1118681">
                  <a:extLst>
                    <a:ext uri="{9D8B030D-6E8A-4147-A177-3AD203B41FA5}">
                      <a16:colId xmlns:a16="http://schemas.microsoft.com/office/drawing/2014/main" val="4041781137"/>
                    </a:ext>
                  </a:extLst>
                </a:gridCol>
                <a:gridCol w="1118681">
                  <a:extLst>
                    <a:ext uri="{9D8B030D-6E8A-4147-A177-3AD203B41FA5}">
                      <a16:colId xmlns:a16="http://schemas.microsoft.com/office/drawing/2014/main" val="3568227727"/>
                    </a:ext>
                  </a:extLst>
                </a:gridCol>
                <a:gridCol w="1118681">
                  <a:extLst>
                    <a:ext uri="{9D8B030D-6E8A-4147-A177-3AD203B41FA5}">
                      <a16:colId xmlns:a16="http://schemas.microsoft.com/office/drawing/2014/main" val="1114454935"/>
                    </a:ext>
                  </a:extLst>
                </a:gridCol>
              </a:tblGrid>
              <a:tr h="2614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/>
                        <a:t>指标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/>
                        <a:t>上一组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/>
                        <a:t>本组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418210"/>
                  </a:ext>
                </a:extLst>
              </a:tr>
              <a:tr h="2614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/>
                        <a:t>最大 </a:t>
                      </a:r>
                      <a:r>
                        <a:rPr lang="en-US" sz="1050" b="1"/>
                        <a:t>APE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0.135 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0.098 m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473007"/>
                  </a:ext>
                </a:extLst>
              </a:tr>
              <a:tr h="272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Mean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0.028–0.030 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0.017–0.018 m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560885"/>
                  </a:ext>
                </a:extLst>
              </a:tr>
              <a:tr h="272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Median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0.024–0.026 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0.013–0.014 m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531395"/>
                  </a:ext>
                </a:extLst>
              </a:tr>
              <a:tr h="272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RMSE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0.035–0.037 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0.022–0.023 m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386837"/>
                  </a:ext>
                </a:extLst>
              </a:tr>
              <a:tr h="272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Std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0.02–0.04 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0.01–0.02 m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596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14269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40763-9660-7132-5233-A6ABA5AEC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74A5AC2-2477-A258-7EEA-F1F33270513B}"/>
              </a:ext>
            </a:extLst>
          </p:cNvPr>
          <p:cNvGrpSpPr/>
          <p:nvPr/>
        </p:nvGrpSpPr>
        <p:grpSpPr>
          <a:xfrm>
            <a:off x="322730" y="339134"/>
            <a:ext cx="8973670" cy="860611"/>
            <a:chOff x="322730" y="339134"/>
            <a:chExt cx="8973670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13ABD239-1FDD-C0DF-5AD7-5122CCEFDA5D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A9FE85DD-DE8D-27C0-939C-1DF1C6533B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83B8C2A6-6927-C955-4A98-037494BB6215}"/>
                </a:ext>
              </a:extLst>
            </p:cNvPr>
            <p:cNvSpPr txBox="1"/>
            <p:nvPr/>
          </p:nvSpPr>
          <p:spPr>
            <a:xfrm>
              <a:off x="1129553" y="384720"/>
              <a:ext cx="816684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研究点二</a:t>
              </a: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C02A0F10-22FB-1BE1-2EC9-9B1AB002CEBA}"/>
              </a:ext>
            </a:extLst>
          </p:cNvPr>
          <p:cNvSpPr txBox="1"/>
          <p:nvPr/>
        </p:nvSpPr>
        <p:spPr>
          <a:xfrm>
            <a:off x="713117" y="1586028"/>
            <a:ext cx="7740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语义分割为每一个像素打上标签</a:t>
            </a:r>
          </a:p>
        </p:txBody>
      </p:sp>
      <p:pic>
        <p:nvPicPr>
          <p:cNvPr id="10" name="图片 9" descr="狗的照片上写着字&#10;&#10;AI 生成的内容可能不正确。">
            <a:extLst>
              <a:ext uri="{FF2B5EF4-FFF2-40B4-BE49-F238E27FC236}">
                <a16:creationId xmlns:a16="http://schemas.microsoft.com/office/drawing/2014/main" id="{9F77AF21-BC1C-4EB6-101A-DDBBC6BF9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41" y="2275207"/>
            <a:ext cx="3857385" cy="1671152"/>
          </a:xfrm>
          <a:prstGeom prst="rect">
            <a:avLst/>
          </a:prstGeom>
        </p:spPr>
      </p:pic>
      <p:pic>
        <p:nvPicPr>
          <p:cNvPr id="11" name="图片 10" descr="穿着蓝色衣服的卡通人物&#10;&#10;AI 生成的内容可能不正确。">
            <a:extLst>
              <a:ext uri="{FF2B5EF4-FFF2-40B4-BE49-F238E27FC236}">
                <a16:creationId xmlns:a16="http://schemas.microsoft.com/office/drawing/2014/main" id="{79E4B7B9-7369-EDA3-A441-8E8879854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0675" y="2171513"/>
            <a:ext cx="2991884" cy="1774846"/>
          </a:xfrm>
          <a:prstGeom prst="rect">
            <a:avLst/>
          </a:prstGeom>
        </p:spPr>
      </p:pic>
      <p:pic>
        <p:nvPicPr>
          <p:cNvPr id="13" name="图片 12" descr="卡通人物&#10;&#10;AI 生成的内容可能不正确。">
            <a:extLst>
              <a:ext uri="{FF2B5EF4-FFF2-40B4-BE49-F238E27FC236}">
                <a16:creationId xmlns:a16="http://schemas.microsoft.com/office/drawing/2014/main" id="{91D75D42-65FA-F810-AF4E-AED25CDF9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708" y="2179183"/>
            <a:ext cx="3147643" cy="1767176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3A12E4CC-F46C-B95B-150E-54328A6390D2}"/>
              </a:ext>
            </a:extLst>
          </p:cNvPr>
          <p:cNvSpPr txBox="1"/>
          <p:nvPr/>
        </p:nvSpPr>
        <p:spPr>
          <a:xfrm>
            <a:off x="1527185" y="4747558"/>
            <a:ext cx="194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目标检测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67187CF-FBE1-48E7-B91D-403313A523C4}"/>
              </a:ext>
            </a:extLst>
          </p:cNvPr>
          <p:cNvSpPr txBox="1"/>
          <p:nvPr/>
        </p:nvSpPr>
        <p:spPr>
          <a:xfrm>
            <a:off x="5670177" y="4793129"/>
            <a:ext cx="194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语义分割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358484F-2AB6-A8AD-B256-AE53E242CB2D}"/>
              </a:ext>
            </a:extLst>
          </p:cNvPr>
          <p:cNvSpPr txBox="1"/>
          <p:nvPr/>
        </p:nvSpPr>
        <p:spPr>
          <a:xfrm>
            <a:off x="9022151" y="4747558"/>
            <a:ext cx="194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实例分割</a:t>
            </a:r>
          </a:p>
        </p:txBody>
      </p:sp>
    </p:spTree>
    <p:extLst>
      <p:ext uri="{BB962C8B-B14F-4D97-AF65-F5344CB8AC3E}">
        <p14:creationId xmlns:p14="http://schemas.microsoft.com/office/powerpoint/2010/main" val="42948870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84A3E-2275-6077-8DFC-9059FFC72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5C23F2D-55AF-A7A9-CDCF-C33969D58321}"/>
              </a:ext>
            </a:extLst>
          </p:cNvPr>
          <p:cNvGrpSpPr/>
          <p:nvPr/>
        </p:nvGrpSpPr>
        <p:grpSpPr>
          <a:xfrm>
            <a:off x="322730" y="339134"/>
            <a:ext cx="8973670" cy="860611"/>
            <a:chOff x="322730" y="339134"/>
            <a:chExt cx="8973670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060F3753-6E40-D51E-7DE4-8B5B247A9A4A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6A39C07C-90F5-ED1E-0B79-A3734924CD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CEEB6ED6-AC47-E00F-B8FF-7F34F07539BA}"/>
                </a:ext>
              </a:extLst>
            </p:cNvPr>
            <p:cNvSpPr txBox="1"/>
            <p:nvPr/>
          </p:nvSpPr>
          <p:spPr>
            <a:xfrm>
              <a:off x="1129553" y="384720"/>
              <a:ext cx="816684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研究点二</a:t>
              </a:r>
            </a:p>
          </p:txBody>
        </p:sp>
      </p:grpSp>
      <p:pic>
        <p:nvPicPr>
          <p:cNvPr id="6" name="图片 5" descr="人骑着摩托车&#10;&#10;AI 生成的内容可能不正确。">
            <a:extLst>
              <a:ext uri="{FF2B5EF4-FFF2-40B4-BE49-F238E27FC236}">
                <a16:creationId xmlns:a16="http://schemas.microsoft.com/office/drawing/2014/main" id="{1A69CAF9-A799-F3D8-3CF5-349057300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950" y="1377086"/>
            <a:ext cx="2838579" cy="2277102"/>
          </a:xfrm>
          <a:prstGeom prst="rect">
            <a:avLst/>
          </a:prstGeom>
        </p:spPr>
      </p:pic>
      <p:pic>
        <p:nvPicPr>
          <p:cNvPr id="7" name="图片 6" descr="人在骑自行车&#10;&#10;AI 生成的内容可能不正确。">
            <a:extLst>
              <a:ext uri="{FF2B5EF4-FFF2-40B4-BE49-F238E27FC236}">
                <a16:creationId xmlns:a16="http://schemas.microsoft.com/office/drawing/2014/main" id="{9D9CFA85-6D0F-A040-8751-2C9A11818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854" y="1377086"/>
            <a:ext cx="2932403" cy="2209686"/>
          </a:xfrm>
          <a:prstGeom prst="rect">
            <a:avLst/>
          </a:prstGeom>
        </p:spPr>
      </p:pic>
      <p:pic>
        <p:nvPicPr>
          <p:cNvPr id="8" name="图片 7" descr="人们在看台上的人跳起来&#10;&#10;AI 生成的内容可能不正确。">
            <a:extLst>
              <a:ext uri="{FF2B5EF4-FFF2-40B4-BE49-F238E27FC236}">
                <a16:creationId xmlns:a16="http://schemas.microsoft.com/office/drawing/2014/main" id="{FA8AFAD3-ECE9-9868-EE27-7E263940E1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1950" y="3710816"/>
            <a:ext cx="2997893" cy="2328798"/>
          </a:xfrm>
          <a:prstGeom prst="rect">
            <a:avLst/>
          </a:prstGeom>
        </p:spPr>
      </p:pic>
      <p:pic>
        <p:nvPicPr>
          <p:cNvPr id="12" name="图片 11" descr="显示照片的马&#10;&#10;AI 生成的内容可能不正确。">
            <a:extLst>
              <a:ext uri="{FF2B5EF4-FFF2-40B4-BE49-F238E27FC236}">
                <a16:creationId xmlns:a16="http://schemas.microsoft.com/office/drawing/2014/main" id="{B3B2510C-C313-3683-5D83-9B9714EF37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2711" y="3586772"/>
            <a:ext cx="3237523" cy="2596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4109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CEB35-A640-B78E-4990-C274C63CC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D859452-24D6-D791-F097-902C00925AB7}"/>
              </a:ext>
            </a:extLst>
          </p:cNvPr>
          <p:cNvGrpSpPr/>
          <p:nvPr/>
        </p:nvGrpSpPr>
        <p:grpSpPr>
          <a:xfrm>
            <a:off x="322730" y="339134"/>
            <a:ext cx="8973670" cy="860611"/>
            <a:chOff x="322730" y="339134"/>
            <a:chExt cx="8973670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2672614E-1BC3-060A-A46B-D097758EFDD5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471B5DC9-5EAF-DE0A-9854-5E40AD3595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C1ED727F-6D60-C1BE-FDA8-7B30B89C072E}"/>
                </a:ext>
              </a:extLst>
            </p:cNvPr>
            <p:cNvSpPr txBox="1"/>
            <p:nvPr/>
          </p:nvSpPr>
          <p:spPr>
            <a:xfrm>
              <a:off x="1129553" y="384720"/>
              <a:ext cx="816684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研究点二</a:t>
              </a:r>
            </a:p>
          </p:txBody>
        </p:sp>
      </p:grpSp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73410EF1-2D16-7586-478A-335154866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901" y="2101626"/>
            <a:ext cx="6900149" cy="353807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7FE2BF3-EAC6-79B0-BD6F-EA5649157166}"/>
              </a:ext>
            </a:extLst>
          </p:cNvPr>
          <p:cNvSpPr txBox="1"/>
          <p:nvPr/>
        </p:nvSpPr>
        <p:spPr>
          <a:xfrm>
            <a:off x="7583945" y="2604214"/>
            <a:ext cx="1640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负责 </a:t>
            </a:r>
            <a:r>
              <a:rPr lang="zh-CN" altLang="en-US" b="1" dirty="0"/>
              <a:t>语义理解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0FD15DC-5643-E819-82CF-F59EA6C31E6B}"/>
              </a:ext>
            </a:extLst>
          </p:cNvPr>
          <p:cNvSpPr txBox="1"/>
          <p:nvPr/>
        </p:nvSpPr>
        <p:spPr>
          <a:xfrm>
            <a:off x="7806529" y="4238933"/>
            <a:ext cx="19692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负责 </a:t>
            </a:r>
            <a:r>
              <a:rPr lang="zh-CN" altLang="en-US" b="1" dirty="0"/>
              <a:t>边界细化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BF7F2BB-5F9E-AC52-A83A-7B6F21ECC171}"/>
              </a:ext>
            </a:extLst>
          </p:cNvPr>
          <p:cNvSpPr txBox="1"/>
          <p:nvPr/>
        </p:nvSpPr>
        <p:spPr>
          <a:xfrm>
            <a:off x="3598653" y="1380357"/>
            <a:ext cx="3376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DeepLab</a:t>
            </a:r>
            <a:r>
              <a:rPr lang="en-US" altLang="zh-CN" b="1" dirty="0"/>
              <a:t> v3 </a:t>
            </a:r>
            <a:r>
              <a:rPr lang="zh-CN" altLang="en-US" b="1" dirty="0"/>
              <a:t>网络结构</a:t>
            </a:r>
          </a:p>
        </p:txBody>
      </p:sp>
    </p:spTree>
    <p:extLst>
      <p:ext uri="{BB962C8B-B14F-4D97-AF65-F5344CB8AC3E}">
        <p14:creationId xmlns:p14="http://schemas.microsoft.com/office/powerpoint/2010/main" val="3012424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AE12504-DEBD-4C1B-9BF9-6712F52677E7}"/>
              </a:ext>
            </a:extLst>
          </p:cNvPr>
          <p:cNvGrpSpPr/>
          <p:nvPr/>
        </p:nvGrpSpPr>
        <p:grpSpPr>
          <a:xfrm>
            <a:off x="322730" y="339134"/>
            <a:ext cx="8973670" cy="860611"/>
            <a:chOff x="322730" y="339134"/>
            <a:chExt cx="8973670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876FD67B-FF92-40E6-90FE-CF4C2316AEDC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EFE52BD2-8191-4D27-B8B6-182474EF8C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384F5AE-1080-43E6-980F-3576864CC119}"/>
                </a:ext>
              </a:extLst>
            </p:cNvPr>
            <p:cNvSpPr txBox="1"/>
            <p:nvPr/>
          </p:nvSpPr>
          <p:spPr>
            <a:xfrm>
              <a:off x="1129553" y="384720"/>
              <a:ext cx="816684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研究点二</a:t>
              </a: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78FC00B0-280A-2E82-F205-CC1DB81117C2}"/>
              </a:ext>
            </a:extLst>
          </p:cNvPr>
          <p:cNvSpPr txBox="1"/>
          <p:nvPr/>
        </p:nvSpPr>
        <p:spPr>
          <a:xfrm>
            <a:off x="1129551" y="1288348"/>
            <a:ext cx="43991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整体框架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7B7D35A-C855-17D4-6F2B-80A7F4C0A9C9}"/>
              </a:ext>
            </a:extLst>
          </p:cNvPr>
          <p:cNvSpPr txBox="1"/>
          <p:nvPr/>
        </p:nvSpPr>
        <p:spPr>
          <a:xfrm>
            <a:off x="2661798" y="2055296"/>
            <a:ext cx="510235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/>
              <a:t>输入图像</a:t>
            </a:r>
          </a:p>
          <a:p>
            <a:pPr algn="ctr"/>
            <a:r>
              <a:rPr lang="zh-CN" altLang="en-US" sz="2800" b="1" dirty="0"/>
              <a:t>   ↓</a:t>
            </a:r>
          </a:p>
          <a:p>
            <a:pPr algn="ctr"/>
            <a:r>
              <a:rPr lang="zh-CN" altLang="en-US" sz="2800" b="1" dirty="0"/>
              <a:t>语义分割（像素级分类）</a:t>
            </a:r>
          </a:p>
          <a:p>
            <a:pPr algn="ctr"/>
            <a:r>
              <a:rPr lang="zh-CN" altLang="en-US" sz="2800" b="1" dirty="0"/>
              <a:t>   ↓</a:t>
            </a:r>
          </a:p>
          <a:p>
            <a:pPr algn="ctr"/>
            <a:r>
              <a:rPr lang="zh-CN" altLang="en-US" sz="2800" b="1" dirty="0"/>
              <a:t>动态区域剔除</a:t>
            </a:r>
          </a:p>
          <a:p>
            <a:pPr algn="ctr"/>
            <a:r>
              <a:rPr lang="zh-CN" altLang="en-US" sz="2800" b="1" dirty="0"/>
              <a:t>   ↓</a:t>
            </a:r>
          </a:p>
          <a:p>
            <a:pPr algn="ctr"/>
            <a:r>
              <a:rPr lang="zh-CN" altLang="en-US" sz="2800" b="1" dirty="0"/>
              <a:t>特征提取与匹配</a:t>
            </a:r>
          </a:p>
          <a:p>
            <a:pPr algn="ctr"/>
            <a:r>
              <a:rPr lang="zh-CN" altLang="en-US" sz="2800" b="1" dirty="0"/>
              <a:t>   ↓</a:t>
            </a:r>
          </a:p>
          <a:p>
            <a:pPr algn="ctr"/>
            <a:r>
              <a:rPr lang="zh-CN" altLang="en-US" sz="2800" b="1" dirty="0"/>
              <a:t>位姿估计与地图构建</a:t>
            </a:r>
          </a:p>
        </p:txBody>
      </p:sp>
    </p:spTree>
    <p:extLst>
      <p:ext uri="{BB962C8B-B14F-4D97-AF65-F5344CB8AC3E}">
        <p14:creationId xmlns:p14="http://schemas.microsoft.com/office/powerpoint/2010/main" val="23313241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67A0897-E532-47F5-BE88-2556CF82445D}"/>
              </a:ext>
            </a:extLst>
          </p:cNvPr>
          <p:cNvSpPr txBox="1"/>
          <p:nvPr/>
        </p:nvSpPr>
        <p:spPr>
          <a:xfrm>
            <a:off x="2858610" y="1731146"/>
            <a:ext cx="62853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>
                <a:solidFill>
                  <a:schemeClr val="accent1">
                    <a:lumMod val="75000"/>
                  </a:schemeClr>
                </a:solidFill>
              </a:rPr>
              <a:t>中期总结</a:t>
            </a:r>
          </a:p>
        </p:txBody>
      </p:sp>
    </p:spTree>
    <p:extLst>
      <p:ext uri="{BB962C8B-B14F-4D97-AF65-F5344CB8AC3E}">
        <p14:creationId xmlns:p14="http://schemas.microsoft.com/office/powerpoint/2010/main" val="2833452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0E499-34DE-37F1-0E22-ACDC9FDCC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509D19C-20A2-CF70-9845-64B62366AEF5}"/>
              </a:ext>
            </a:extLst>
          </p:cNvPr>
          <p:cNvGrpSpPr/>
          <p:nvPr/>
        </p:nvGrpSpPr>
        <p:grpSpPr>
          <a:xfrm>
            <a:off x="322730" y="339134"/>
            <a:ext cx="3442447" cy="860611"/>
            <a:chOff x="322730" y="339134"/>
            <a:chExt cx="3442447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78622F2F-54A0-7BB4-9D3C-9F945A7AB963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C9A08F5A-0735-49DC-1DC7-30FAAEA081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51565B93-9070-7FED-D72C-F00B44B4E6BF}"/>
                </a:ext>
              </a:extLst>
            </p:cNvPr>
            <p:cNvSpPr txBox="1"/>
            <p:nvPr/>
          </p:nvSpPr>
          <p:spPr>
            <a:xfrm>
              <a:off x="1129553" y="384720"/>
              <a:ext cx="263562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中期总结</a:t>
              </a: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DB6D56D8-EF5B-A373-840E-DDFA8FF4489A}"/>
              </a:ext>
            </a:extLst>
          </p:cNvPr>
          <p:cNvSpPr/>
          <p:nvPr/>
        </p:nvSpPr>
        <p:spPr>
          <a:xfrm>
            <a:off x="2976282" y="3594846"/>
            <a:ext cx="2456330" cy="286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2F74DDD-611C-2D1E-141D-CE3FDE052349}"/>
              </a:ext>
            </a:extLst>
          </p:cNvPr>
          <p:cNvSpPr txBox="1"/>
          <p:nvPr/>
        </p:nvSpPr>
        <p:spPr>
          <a:xfrm>
            <a:off x="1700990" y="1791742"/>
            <a:ext cx="8790020" cy="3358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59982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在思想政治上，积极的向党组织靠拢，拥护中国共产党的领导。认真学习马克斯列宁主义、毛泽东思想、邓小平理论、科学发展观、习近平新时代中国特色社会主义思想。在校期间主动加强了对政治理论知识的学习，切实地提高了自己的思想认识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59982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在组织纪律方面，严格遵守学校相关规章制度，不做违纪违规违法的事。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667816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B9531-E24E-CAB8-37BA-0F445DD96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2846DD0-3C8F-63F5-C43E-0545CE6EAA4C}"/>
              </a:ext>
            </a:extLst>
          </p:cNvPr>
          <p:cNvGrpSpPr/>
          <p:nvPr/>
        </p:nvGrpSpPr>
        <p:grpSpPr>
          <a:xfrm>
            <a:off x="322730" y="339134"/>
            <a:ext cx="3442447" cy="860611"/>
            <a:chOff x="322730" y="339134"/>
            <a:chExt cx="3442447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B8AF8EC1-9330-2D2A-E5D8-1F1A9E297FF8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8ACA5BFC-90D4-DC47-F60A-554591077C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B702F00-BCFC-D25E-3683-4F407FB913B7}"/>
                </a:ext>
              </a:extLst>
            </p:cNvPr>
            <p:cNvSpPr txBox="1"/>
            <p:nvPr/>
          </p:nvSpPr>
          <p:spPr>
            <a:xfrm>
              <a:off x="1129553" y="384720"/>
              <a:ext cx="263562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中期总结</a:t>
              </a: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188D0CD9-F98B-59F7-D7E0-574DC86E1224}"/>
              </a:ext>
            </a:extLst>
          </p:cNvPr>
          <p:cNvSpPr/>
          <p:nvPr/>
        </p:nvSpPr>
        <p:spPr>
          <a:xfrm>
            <a:off x="2976282" y="3594846"/>
            <a:ext cx="2456330" cy="286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7E2800DD-929D-2170-A143-984BABC1B6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557354"/>
              </p:ext>
            </p:extLst>
          </p:nvPr>
        </p:nvGraphicFramePr>
        <p:xfrm>
          <a:off x="853193" y="1537226"/>
          <a:ext cx="9612000" cy="416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3304">
                  <a:extLst>
                    <a:ext uri="{9D8B030D-6E8A-4147-A177-3AD203B41FA5}">
                      <a16:colId xmlns:a16="http://schemas.microsoft.com/office/drawing/2014/main" val="668580942"/>
                    </a:ext>
                  </a:extLst>
                </a:gridCol>
                <a:gridCol w="2516232">
                  <a:extLst>
                    <a:ext uri="{9D8B030D-6E8A-4147-A177-3AD203B41FA5}">
                      <a16:colId xmlns:a16="http://schemas.microsoft.com/office/drawing/2014/main" val="3446936119"/>
                    </a:ext>
                  </a:extLst>
                </a:gridCol>
                <a:gridCol w="2516232">
                  <a:extLst>
                    <a:ext uri="{9D8B030D-6E8A-4147-A177-3AD203B41FA5}">
                      <a16:colId xmlns:a16="http://schemas.microsoft.com/office/drawing/2014/main" val="1430247082"/>
                    </a:ext>
                  </a:extLst>
                </a:gridCol>
                <a:gridCol w="2516232">
                  <a:extLst>
                    <a:ext uri="{9D8B030D-6E8A-4147-A177-3AD203B41FA5}">
                      <a16:colId xmlns:a16="http://schemas.microsoft.com/office/drawing/2014/main" val="129526656"/>
                    </a:ext>
                  </a:extLst>
                </a:gridCol>
              </a:tblGrid>
              <a:tr h="43150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baseline="0" dirty="0"/>
                        <a:t>课程名称</a:t>
                      </a:r>
                      <a:endParaRPr lang="zh-CN" altLang="en-US" sz="13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baseline="0" dirty="0"/>
                        <a:t>成绩</a:t>
                      </a:r>
                      <a:endParaRPr lang="zh-CN" altLang="en-US" sz="13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baseline="0" dirty="0"/>
                        <a:t>课程名称</a:t>
                      </a:r>
                      <a:endParaRPr lang="zh-CN" altLang="en-US" sz="13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baseline="0" dirty="0"/>
                        <a:t>成绩</a:t>
                      </a:r>
                      <a:endParaRPr lang="zh-CN" altLang="en-US" sz="13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8690533"/>
                  </a:ext>
                </a:extLst>
              </a:tr>
              <a:tr h="50794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MicrosoftYaHei"/>
                          <a:ea typeface="+mn-ea"/>
                          <a:cs typeface="+mn-cs"/>
                        </a:rPr>
                        <a:t>中特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500" b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线性系统理论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76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49562199"/>
                  </a:ext>
                </a:extLst>
              </a:tr>
              <a:tr h="43150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自然辨证法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500" b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机器人控制技术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84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62230976"/>
                  </a:ext>
                </a:extLst>
              </a:tr>
              <a:tr h="43150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英语（专硕）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机器学习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34448919"/>
                  </a:ext>
                </a:extLst>
              </a:tr>
              <a:tr h="43150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工程伦理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最优控制与状态估计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73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98132019"/>
                  </a:ext>
                </a:extLst>
              </a:tr>
              <a:tr h="43150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人工智能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论文写作指导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73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850670"/>
                  </a:ext>
                </a:extLst>
              </a:tr>
              <a:tr h="43150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数理统计与数据分析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控制工程实践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85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29708560"/>
                  </a:ext>
                </a:extLst>
              </a:tr>
              <a:tr h="43150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矩阵论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5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5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68564653"/>
                  </a:ext>
                </a:extLst>
              </a:tr>
              <a:tr h="43150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zh-CN" altLang="en-US" sz="1900" b="0" u="none" strike="noStrike" baseline="0" dirty="0">
                          <a:solidFill>
                            <a:srgbClr val="000000"/>
                          </a:solidFill>
                          <a:effectLst/>
                        </a:rPr>
                        <a:t>平均成绩</a:t>
                      </a:r>
                      <a:endParaRPr lang="zh-CN" altLang="en-US" sz="1900" b="0" i="0" u="none" strike="noStrike" baseline="0" dirty="0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zh-CN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altLang="zh-CN" sz="1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zh-CN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59110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89522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F8FE1-92C1-F1AB-7600-A3822349F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5EC8F0E-09B0-593F-6701-DA854EFE65FD}"/>
              </a:ext>
            </a:extLst>
          </p:cNvPr>
          <p:cNvGrpSpPr/>
          <p:nvPr/>
        </p:nvGrpSpPr>
        <p:grpSpPr>
          <a:xfrm>
            <a:off x="322730" y="339134"/>
            <a:ext cx="3442447" cy="860611"/>
            <a:chOff x="322730" y="339134"/>
            <a:chExt cx="3442447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C5321E4C-A197-94DD-B19B-E621BDED114B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13DD0D7E-08DA-4121-888E-4564F2D980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5599873A-D2D8-603B-95EC-AE548D92CF17}"/>
                </a:ext>
              </a:extLst>
            </p:cNvPr>
            <p:cNvSpPr txBox="1"/>
            <p:nvPr/>
          </p:nvSpPr>
          <p:spPr>
            <a:xfrm>
              <a:off x="1129553" y="384720"/>
              <a:ext cx="263562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中期总结</a:t>
              </a: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78FECC75-E78A-F2AE-C7A0-01258829F87A}"/>
              </a:ext>
            </a:extLst>
          </p:cNvPr>
          <p:cNvSpPr/>
          <p:nvPr/>
        </p:nvSpPr>
        <p:spPr>
          <a:xfrm>
            <a:off x="2976282" y="3594846"/>
            <a:ext cx="2456330" cy="286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487EBEB-87DF-BE56-AB36-6AF79A6E9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124248"/>
              </p:ext>
            </p:extLst>
          </p:nvPr>
        </p:nvGraphicFramePr>
        <p:xfrm>
          <a:off x="1532238" y="1219679"/>
          <a:ext cx="9331674" cy="1815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0558">
                  <a:extLst>
                    <a:ext uri="{9D8B030D-6E8A-4147-A177-3AD203B41FA5}">
                      <a16:colId xmlns:a16="http://schemas.microsoft.com/office/drawing/2014/main" val="1565809166"/>
                    </a:ext>
                  </a:extLst>
                </a:gridCol>
                <a:gridCol w="3110558">
                  <a:extLst>
                    <a:ext uri="{9D8B030D-6E8A-4147-A177-3AD203B41FA5}">
                      <a16:colId xmlns:a16="http://schemas.microsoft.com/office/drawing/2014/main" val="1926985813"/>
                    </a:ext>
                  </a:extLst>
                </a:gridCol>
                <a:gridCol w="3110558">
                  <a:extLst>
                    <a:ext uri="{9D8B030D-6E8A-4147-A177-3AD203B41FA5}">
                      <a16:colId xmlns:a16="http://schemas.microsoft.com/office/drawing/2014/main" val="3025337812"/>
                    </a:ext>
                  </a:extLst>
                </a:gridCol>
              </a:tblGrid>
              <a:tr h="90795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时间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名称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奖项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6955706"/>
                  </a:ext>
                </a:extLst>
              </a:tr>
              <a:tr h="907957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1800" dirty="0"/>
                        <a:t>2025</a:t>
                      </a:r>
                      <a:r>
                        <a:rPr lang="zh-CN" altLang="en-US" sz="1800" dirty="0"/>
                        <a:t>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第二十届中国研究生电子设计竞赛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zh-CN" altLang="en-US" sz="1800" dirty="0"/>
                        <a:t>省级一等奖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6265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59015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52"/>
          <p:cNvSpPr txBox="1"/>
          <p:nvPr/>
        </p:nvSpPr>
        <p:spPr>
          <a:xfrm>
            <a:off x="1482351" y="2705725"/>
            <a:ext cx="9227298" cy="14465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8800">
                <a:solidFill>
                  <a:srgbClr val="228BFE"/>
                </a:solidFill>
                <a:latin typeface="优设标题黑" panose="00000500000000000000" pitchFamily="2" charset="-122"/>
                <a:ea typeface="优设标题黑" panose="00000500000000000000" pitchFamily="2" charset="-122"/>
                <a:cs typeface="+mn-ea"/>
              </a:defRPr>
            </a:lvl1pPr>
            <a:lvl2pPr marL="685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/>
            </a:lvl2pPr>
            <a:lvl3pPr marL="1143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4pPr>
            <a:lvl5pPr marL="20574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5pPr>
          </a:lstStyle>
          <a:p>
            <a:r>
              <a:rPr lang="zh-CN" altLang="en-US" dirty="0">
                <a:solidFill>
                  <a:schemeClr val="tx1"/>
                </a:solidFill>
                <a:sym typeface="+mn-lt"/>
              </a:rPr>
              <a:t>感谢各位老师观看</a:t>
            </a:r>
            <a:endParaRPr lang="en-US" altLang="zh-CN" dirty="0">
              <a:solidFill>
                <a:schemeClr val="tx1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6302996"/>
      </p:ext>
    </p:extLst>
  </p:cSld>
  <p:clrMapOvr>
    <a:masterClrMapping/>
  </p:clrMapOvr>
</p:sld>
</file>

<file path=ppt/theme/theme1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9933</TotalTime>
  <Words>1821</Words>
  <Application>Microsoft Office PowerPoint</Application>
  <PresentationFormat>宽屏</PresentationFormat>
  <Paragraphs>242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39" baseType="lpstr">
      <vt:lpstr>MicrosoftYaHei</vt:lpstr>
      <vt:lpstr>等线</vt:lpstr>
      <vt:lpstr>等线 Light</vt:lpstr>
      <vt:lpstr>黑体</vt:lpstr>
      <vt:lpstr>宋体</vt:lpstr>
      <vt:lpstr>微软雅黑</vt:lpstr>
      <vt:lpstr>Arial</vt:lpstr>
      <vt:lpstr>Cambria Math</vt:lpstr>
      <vt:lpstr>Times New Roman</vt:lpstr>
      <vt:lpstr>3_自定义设计方案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柯宇</dc:creator>
  <cp:lastModifiedBy>lic lic</cp:lastModifiedBy>
  <cp:revision>323</cp:revision>
  <dcterms:created xsi:type="dcterms:W3CDTF">2023-05-25T06:49:02Z</dcterms:created>
  <dcterms:modified xsi:type="dcterms:W3CDTF">2026-01-08T06:23:51Z</dcterms:modified>
</cp:coreProperties>
</file>