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1"/>
    <p:sldMasterId id="2147483773" r:id="rId2"/>
  </p:sldMasterIdLst>
  <p:notesMasterIdLst>
    <p:notesMasterId r:id="rId33"/>
  </p:notesMasterIdLst>
  <p:sldIdLst>
    <p:sldId id="256" r:id="rId3"/>
    <p:sldId id="259" r:id="rId4"/>
    <p:sldId id="257" r:id="rId5"/>
    <p:sldId id="287" r:id="rId6"/>
    <p:sldId id="290" r:id="rId7"/>
    <p:sldId id="300" r:id="rId8"/>
    <p:sldId id="264" r:id="rId9"/>
    <p:sldId id="350" r:id="rId10"/>
    <p:sldId id="304" r:id="rId11"/>
    <p:sldId id="303" r:id="rId12"/>
    <p:sldId id="306" r:id="rId13"/>
    <p:sldId id="314" r:id="rId14"/>
    <p:sldId id="317" r:id="rId15"/>
    <p:sldId id="335" r:id="rId16"/>
    <p:sldId id="323" r:id="rId17"/>
    <p:sldId id="336" r:id="rId18"/>
    <p:sldId id="344" r:id="rId19"/>
    <p:sldId id="351" r:id="rId20"/>
    <p:sldId id="325" r:id="rId21"/>
    <p:sldId id="346" r:id="rId22"/>
    <p:sldId id="326" r:id="rId23"/>
    <p:sldId id="286" r:id="rId24"/>
    <p:sldId id="347" r:id="rId25"/>
    <p:sldId id="348" r:id="rId26"/>
    <p:sldId id="349" r:id="rId27"/>
    <p:sldId id="267" r:id="rId28"/>
    <p:sldId id="340" r:id="rId29"/>
    <p:sldId id="341" r:id="rId30"/>
    <p:sldId id="342" r:id="rId31"/>
    <p:sldId id="285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009EDE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7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15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493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33236A-D10C-4730-8456-2C9A2A350BBA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304ECB-28B6-4831-8436-F017BBB1A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511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1B2860-E65F-49AE-8253-484EA5C39B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0F8AA6B-BCD6-4B5D-BA01-1BBD9BEFB6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4E96E9-65C3-480A-9D15-D7860E6B7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CD68-A06F-4074-89FD-17A767110F27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5C7F47-9931-4C2A-88AC-D29D48663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85F178-10C6-43E1-842D-579353C52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F49E3-DC19-4FF0-AFE1-9E5D758B52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7314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7739C7-39CB-4B5F-8CA5-25EDD72EA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6A021D-15E2-4284-972F-0732E78D5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44772F-49C7-4B48-A291-FEB330AAA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CD68-A06F-4074-89FD-17A767110F27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0FFD17-F3EA-4108-86EC-4AD4D4638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7F4410-581A-40B8-945D-9424F425C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F49E3-DC19-4FF0-AFE1-9E5D758B52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4037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847AB6-FB4B-465D-A4D4-F89AD758E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51F3AD-F2B6-43D0-8275-2B6DEFA596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A7CB62-E79D-47B9-944A-FF2049CD9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CD68-A06F-4074-89FD-17A767110F27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67BA84-4818-4702-89C9-217B40785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161E99-4B46-4801-AC1A-F5DA849AA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F49E3-DC19-4FF0-AFE1-9E5D758B52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4100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F32152-0C39-450D-B7B5-B9DA04746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2A99CF-BC3B-46D7-9894-163F0FEEA2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D38880B-C946-457B-AFC6-60FC73AB8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222534-743F-41D9-A69C-618D38131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CD68-A06F-4074-89FD-17A767110F27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D1100C-4FFC-43B4-8400-3344694E1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B0DE8A-AA22-4DE1-9049-4B02429CB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F49E3-DC19-4FF0-AFE1-9E5D758B52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683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A4E8A9-478E-460A-B5F7-9CC007A5B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0C2C03-6D79-40DF-A114-5E0219D05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2644A4E-AA45-439D-8803-F442D3FFEF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6F01538-373C-4DF8-ABA4-466BB50281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8B18677-6B45-4597-8479-FB59F32306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31D3D01-8770-46AE-A690-2D74A9A75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CD68-A06F-4074-89FD-17A767110F27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BE2F0BE-143D-43F8-B70A-2EDCE0847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8B90C3D-F669-44ED-BB62-2CBCF9687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F49E3-DC19-4FF0-AFE1-9E5D758B52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167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426442-E5B4-41BB-9829-A065FB762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01FAE1-D914-4C25-AC9C-7E1B74613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CD68-A06F-4074-89FD-17A767110F27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6E2FACF-42D9-4C68-BAB4-7D5316987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6DEA1C3-61E4-48AD-9F44-5527DB12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F49E3-DC19-4FF0-AFE1-9E5D758B52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446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DED24BA-2934-415F-B582-F017C1EFA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CD68-A06F-4074-89FD-17A767110F27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EC34EEB-9965-42DA-9DEC-487765CB6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E852C5-C25F-4FDE-AC4E-B997FC154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F49E3-DC19-4FF0-AFE1-9E5D758B52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8882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FED84E-DDA2-463C-848E-2C964D854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157814-ABE2-48D6-A4B0-85122E3DD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55867A3-66CD-4685-B5F7-CF5DE508C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C0C776-6A3A-4193-9032-729CB02AD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CD68-A06F-4074-89FD-17A767110F27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0C83D47-BCEB-47B4-B5C8-8C3937BC6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30CA156-D209-4A69-82EF-DA52A97E0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F49E3-DC19-4FF0-AFE1-9E5D758B52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1084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44FA3E-472C-4765-B7DF-6A6C44ED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89820D9-AAC7-405B-B391-6384FF7D0A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17E530F-7142-44C8-97D9-39F5D47CE0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180FE6-18E8-4DC9-94FF-64AC44E1D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CD68-A06F-4074-89FD-17A767110F27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27D4CE-C7E0-4197-8C90-A7C82A9CD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5C8610-DA82-4164-8082-68699BC4E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F49E3-DC19-4FF0-AFE1-9E5D758B52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5015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37BC05-F5D3-4AA7-AD48-2ED6C203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F612E4A-3FBA-469C-B749-90D0839203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3E4705-7B18-4FD8-92BC-A1019034B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CD68-A06F-4074-89FD-17A767110F27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7D4569-2809-4E26-B5A5-0EEF662B8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403532-5DDA-435E-AF6B-3519FBEF9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F49E3-DC19-4FF0-AFE1-9E5D758B52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036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A7089C1-A40D-46C3-9C47-97BFE2238D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AD63B2-2732-44CF-A00A-46F528760B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CD3B92-679B-4938-811C-27AC34071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CD68-A06F-4074-89FD-17A767110F27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193761-7D72-4537-B718-B90DCC98F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FD592A-1DAB-472B-9F14-065B3A325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F49E3-DC19-4FF0-AFE1-9E5D758B52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58382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45171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A8FEE5-D571-4297-AA0E-C2E32E612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67C36D8-FA4C-4875-97D0-949A7752F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2A7C2-A89A-4810-814B-45BDF0D6DEF1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BDF473A-C06F-4648-A989-2103277FC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A6A78AF-3C09-452C-A258-4AEF4BCC1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90AC2-FB05-4800-845E-A5C4058020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040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33919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流程图: 延期 6">
            <a:extLst>
              <a:ext uri="{FF2B5EF4-FFF2-40B4-BE49-F238E27FC236}">
                <a16:creationId xmlns:a16="http://schemas.microsoft.com/office/drawing/2014/main" id="{AB659660-7414-4183-914D-1E8F88C5B4A6}"/>
              </a:ext>
            </a:extLst>
          </p:cNvPr>
          <p:cNvSpPr/>
          <p:nvPr userDrawn="1"/>
        </p:nvSpPr>
        <p:spPr>
          <a:xfrm rot="10800000" flipV="1">
            <a:off x="872454" y="1740715"/>
            <a:ext cx="1585520" cy="1688285"/>
          </a:xfrm>
          <a:prstGeom prst="flowChartDelay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3AA5318-DA55-4B9D-9575-82F892CABC8C}"/>
              </a:ext>
            </a:extLst>
          </p:cNvPr>
          <p:cNvCxnSpPr/>
          <p:nvPr userDrawn="1"/>
        </p:nvCxnSpPr>
        <p:spPr>
          <a:xfrm>
            <a:off x="2860646" y="3521279"/>
            <a:ext cx="6300132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15307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1B3AE6D8-F7DD-488C-872A-E12BA3AE2392}"/>
              </a:ext>
            </a:extLst>
          </p:cNvPr>
          <p:cNvSpPr/>
          <p:nvPr userDrawn="1"/>
        </p:nvSpPr>
        <p:spPr>
          <a:xfrm>
            <a:off x="1057013" y="436228"/>
            <a:ext cx="109057" cy="922789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45946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DF8010-423C-40C9-95E2-4258CF66F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EB2C31-43E3-4100-AE6C-5D8D4F6AA0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4662C2-D475-4A0B-B60C-BB33A9F62C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606FF0-057D-45D8-BC7D-659421947EDD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4E7155-D9AD-4312-9F30-B743EF4D2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6459DC-5351-4085-95E5-20196C1CF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13E32C-D119-4EEE-8569-75EA44A100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1926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流程图: 延期 6">
            <a:extLst>
              <a:ext uri="{FF2B5EF4-FFF2-40B4-BE49-F238E27FC236}">
                <a16:creationId xmlns:a16="http://schemas.microsoft.com/office/drawing/2014/main" id="{AB659660-7414-4183-914D-1E8F88C5B4A6}"/>
              </a:ext>
            </a:extLst>
          </p:cNvPr>
          <p:cNvSpPr/>
          <p:nvPr userDrawn="1"/>
        </p:nvSpPr>
        <p:spPr>
          <a:xfrm rot="10800000" flipV="1">
            <a:off x="872454" y="1740715"/>
            <a:ext cx="1585520" cy="1688285"/>
          </a:xfrm>
          <a:prstGeom prst="flowChartDelay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3AA5318-DA55-4B9D-9575-82F892CABC8C}"/>
              </a:ext>
            </a:extLst>
          </p:cNvPr>
          <p:cNvCxnSpPr/>
          <p:nvPr userDrawn="1"/>
        </p:nvCxnSpPr>
        <p:spPr>
          <a:xfrm>
            <a:off x="2860646" y="3521279"/>
            <a:ext cx="6300132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36045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流程图: 延期 6">
            <a:extLst>
              <a:ext uri="{FF2B5EF4-FFF2-40B4-BE49-F238E27FC236}">
                <a16:creationId xmlns:a16="http://schemas.microsoft.com/office/drawing/2014/main" id="{AB659660-7414-4183-914D-1E8F88C5B4A6}"/>
              </a:ext>
            </a:extLst>
          </p:cNvPr>
          <p:cNvSpPr/>
          <p:nvPr userDrawn="1"/>
        </p:nvSpPr>
        <p:spPr>
          <a:xfrm rot="10800000" flipV="1">
            <a:off x="872454" y="1740715"/>
            <a:ext cx="1585520" cy="1688285"/>
          </a:xfrm>
          <a:prstGeom prst="flowChartDelay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3AA5318-DA55-4B9D-9575-82F892CABC8C}"/>
              </a:ext>
            </a:extLst>
          </p:cNvPr>
          <p:cNvCxnSpPr/>
          <p:nvPr userDrawn="1"/>
        </p:nvCxnSpPr>
        <p:spPr>
          <a:xfrm>
            <a:off x="2860646" y="3521279"/>
            <a:ext cx="6300132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0942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流程图: 延期 6">
            <a:extLst>
              <a:ext uri="{FF2B5EF4-FFF2-40B4-BE49-F238E27FC236}">
                <a16:creationId xmlns:a16="http://schemas.microsoft.com/office/drawing/2014/main" id="{AB659660-7414-4183-914D-1E8F88C5B4A6}"/>
              </a:ext>
            </a:extLst>
          </p:cNvPr>
          <p:cNvSpPr/>
          <p:nvPr userDrawn="1"/>
        </p:nvSpPr>
        <p:spPr>
          <a:xfrm rot="10800000" flipV="1">
            <a:off x="872454" y="1740715"/>
            <a:ext cx="1585520" cy="1688285"/>
          </a:xfrm>
          <a:prstGeom prst="flowChartDelay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3AA5318-DA55-4B9D-9575-82F892CABC8C}"/>
              </a:ext>
            </a:extLst>
          </p:cNvPr>
          <p:cNvCxnSpPr/>
          <p:nvPr userDrawn="1"/>
        </p:nvCxnSpPr>
        <p:spPr>
          <a:xfrm>
            <a:off x="2860646" y="3521279"/>
            <a:ext cx="6300132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57929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591560-B65C-48F8-9690-59B8E304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B83FC7-A379-4F5E-8550-F6757CF8A4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AC9C355-B12D-4BAF-99EC-34D315AA66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55B8F6-5886-4BB4-8F0D-E379F5EB61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606FF0-057D-45D8-BC7D-659421947EDD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4A12FED-CAA5-4172-B6DE-E79AF4763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0FA516-A41A-4D49-B4C2-47FA877D1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13E32C-D119-4EEE-8569-75EA44A100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72734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99FE1D-1DFD-4613-A467-E9089D540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0DB9B3F-81B5-4DE1-A3EF-EBB5C8DDB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E7E7041-26D4-45B2-8FE6-FD8E54D519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2F7299A-8D6F-4BB1-B21D-61664BA748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7AB4FF7-C051-454D-8826-B0B2168537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86FB6B3-AF4C-4A92-AEA8-62C4F54FD0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606FF0-057D-45D8-BC7D-659421947EDD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7F251C8-C484-4CE4-A1AE-618C1A897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B57E208-F5A1-4478-8AC7-FC4EC9714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13E32C-D119-4EEE-8569-75EA44A100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79814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9C80F9-D206-4F40-BA3A-3993D59DD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6685451-0BD7-4C3D-B994-1C2187F475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606FF0-057D-45D8-BC7D-659421947EDD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D78FDA9-C166-4BF1-A4FC-BE171F77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1C8B272-3DB5-46E2-9CFB-C7732731D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13E32C-D119-4EEE-8569-75EA44A100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20917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87ADAC2-FBC0-45CD-BA43-9372DB5631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606FF0-057D-45D8-BC7D-659421947EDD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0C53273-D36C-48D6-9C41-27467437B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76B7EC-EE91-4CA3-8B11-198D1A489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13E32C-D119-4EEE-8569-75EA44A100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58289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B35270-2AEA-4C67-8B0C-095CA89B3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3C7D2B-7F71-4CF6-B83F-EC30C4BBF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19AD91C-3E73-4622-AD56-A82765D4B8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A01388-20C9-4C7D-9F4C-6BB6F8984D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606FF0-057D-45D8-BC7D-659421947EDD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09F642-5B22-4214-910E-EED9C6DDD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D3C04F-B6AC-482A-B275-8F7F76B24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13E32C-D119-4EEE-8569-75EA44A100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6194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C54A26-2933-4C4B-963E-673D391DD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6D71535-90A8-4156-9EF8-BD42CB0787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9CFFC34-49A6-43CE-A439-830915313A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2CAF04-E092-4EC0-B013-19B8DED147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606FF0-057D-45D8-BC7D-659421947EDD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7060848-A6E0-4E7E-94DF-446055EDD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C55A3AA-9BCD-4DE5-A428-0D1DEFF6F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13E32C-D119-4EEE-8569-75EA44A100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67460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64B1F7-4E43-4909-929B-9FEEA9C8C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D1680B3-CED5-46B2-983A-E1497039EF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1CE86D-8BF1-4476-85BC-D69AA0F8D1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606FF0-057D-45D8-BC7D-659421947EDD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4C3E26-DB56-47F3-AAE8-7B41519D5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B72179-DB3F-4883-BFD7-2A08A4440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13E32C-D119-4EEE-8569-75EA44A100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39134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33C264F-02A2-400E-8F4B-A1EB7B00E2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C81F7FD-59F6-472C-9A4C-CBCF81483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9FD3E3-46E1-4C64-A5D1-ED31DDDD13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606FF0-057D-45D8-BC7D-659421947EDD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DD7C74-BF59-4695-9DDF-FF0ED186E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B74047-79C9-40D7-B94B-FC67DCB8B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13E32C-D119-4EEE-8569-75EA44A100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5586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10D042B-C855-4CA4-A76A-F88CDF871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56F4651-A43D-44DC-857C-FD792212BB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57A0A5-65C0-4700-A475-9CFA1EBEE4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5CCD68-A06F-4074-89FD-17A767110F27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E26947-FF52-4B63-BA37-7E1758E97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70D517-94C8-44D5-BF94-0A0FF02CB7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1F49E3-DC19-4FF0-AFE1-9E5D758B52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882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53" r:id="rId12"/>
    <p:sldLayoutId id="2147483721" r:id="rId13"/>
    <p:sldLayoutId id="214748377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直角三角形 8">
            <a:extLst>
              <a:ext uri="{FF2B5EF4-FFF2-40B4-BE49-F238E27FC236}">
                <a16:creationId xmlns:a16="http://schemas.microsoft.com/office/drawing/2014/main" id="{27028D5B-1663-479F-8EB9-F9495075D8F3}"/>
              </a:ext>
            </a:extLst>
          </p:cNvPr>
          <p:cNvSpPr/>
          <p:nvPr userDrawn="1"/>
        </p:nvSpPr>
        <p:spPr>
          <a:xfrm>
            <a:off x="0" y="2369890"/>
            <a:ext cx="6845416" cy="4488110"/>
          </a:xfrm>
          <a:prstGeom prst="rt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直角三角形 9">
            <a:extLst>
              <a:ext uri="{FF2B5EF4-FFF2-40B4-BE49-F238E27FC236}">
                <a16:creationId xmlns:a16="http://schemas.microsoft.com/office/drawing/2014/main" id="{A1618A79-C77A-4893-BCFF-68D20DD544F5}"/>
              </a:ext>
            </a:extLst>
          </p:cNvPr>
          <p:cNvSpPr/>
          <p:nvPr userDrawn="1"/>
        </p:nvSpPr>
        <p:spPr>
          <a:xfrm rot="10800000">
            <a:off x="6342077" y="-1"/>
            <a:ext cx="5849923" cy="4127383"/>
          </a:xfrm>
          <a:prstGeom prst="rtTriangl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0B63E03-2877-41B0-8994-DCBFFE3148C7}"/>
              </a:ext>
            </a:extLst>
          </p:cNvPr>
          <p:cNvSpPr/>
          <p:nvPr userDrawn="1"/>
        </p:nvSpPr>
        <p:spPr>
          <a:xfrm>
            <a:off x="201336" y="209725"/>
            <a:ext cx="11789328" cy="6476301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79AF3A2-E9EF-489E-986A-F5F0FF0DE521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6728" y="416914"/>
            <a:ext cx="866602" cy="866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941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85" r:id="rId4"/>
    <p:sldLayoutId id="2147483786" r:id="rId5"/>
    <p:sldLayoutId id="2147483787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  <p:sldLayoutId id="2147483783" r:id="rId13"/>
    <p:sldLayoutId id="214748378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19.jpg"/><Relationship Id="rId7" Type="http://schemas.openxmlformats.org/officeDocument/2006/relationships/image" Target="../media/image21.emf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4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0.e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22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35.emf"/><Relationship Id="rId18" Type="http://schemas.openxmlformats.org/officeDocument/2006/relationships/oleObject" Target="../embeddings/oleObject7.bin"/><Relationship Id="rId3" Type="http://schemas.openxmlformats.org/officeDocument/2006/relationships/image" Target="../media/image33.jpg"/><Relationship Id="rId21" Type="http://schemas.openxmlformats.org/officeDocument/2006/relationships/image" Target="../media/image37.emf"/><Relationship Id="rId7" Type="http://schemas.openxmlformats.org/officeDocument/2006/relationships/image" Target="../media/image34.e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36.wmf"/><Relationship Id="rId2" Type="http://schemas.openxmlformats.org/officeDocument/2006/relationships/image" Target="../media/image32.jpg"/><Relationship Id="rId16" Type="http://schemas.openxmlformats.org/officeDocument/2006/relationships/oleObject" Target="../embeddings/oleObject6.bin"/><Relationship Id="rId20" Type="http://schemas.openxmlformats.org/officeDocument/2006/relationships/oleObject" Target="../embeddings/oleObject7.bin"/><Relationship Id="rId1" Type="http://schemas.openxmlformats.org/officeDocument/2006/relationships/slideLayout" Target="../slideLayouts/slideLayout24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35.emf"/><Relationship Id="rId5" Type="http://schemas.openxmlformats.org/officeDocument/2006/relationships/image" Target="../media/image54.png"/><Relationship Id="rId15" Type="http://schemas.openxmlformats.org/officeDocument/2006/relationships/image" Target="../media/image36.wmf"/><Relationship Id="rId23" Type="http://schemas.openxmlformats.org/officeDocument/2006/relationships/image" Target="../media/image60.png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37.emf"/><Relationship Id="rId4" Type="http://schemas.openxmlformats.org/officeDocument/2006/relationships/image" Target="../media/image53.png"/><Relationship Id="rId9" Type="http://schemas.openxmlformats.org/officeDocument/2006/relationships/image" Target="../media/image34.emf"/><Relationship Id="rId14" Type="http://schemas.openxmlformats.org/officeDocument/2006/relationships/oleObject" Target="../embeddings/oleObject6.bin"/><Relationship Id="rId22" Type="http://schemas.openxmlformats.org/officeDocument/2006/relationships/image" Target="../media/image5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5.emf"/><Relationship Id="rId18" Type="http://schemas.openxmlformats.org/officeDocument/2006/relationships/oleObject" Target="../embeddings/oleObject10.bin"/><Relationship Id="rId26" Type="http://schemas.openxmlformats.org/officeDocument/2006/relationships/oleObject" Target="../embeddings/oleObject12.bin"/><Relationship Id="rId3" Type="http://schemas.openxmlformats.org/officeDocument/2006/relationships/image" Target="../media/image42.jpg"/><Relationship Id="rId21" Type="http://schemas.openxmlformats.org/officeDocument/2006/relationships/image" Target="../media/image47.emf"/><Relationship Id="rId7" Type="http://schemas.openxmlformats.org/officeDocument/2006/relationships/image" Target="../media/image32.jpg"/><Relationship Id="rId12" Type="http://schemas.openxmlformats.org/officeDocument/2006/relationships/oleObject" Target="../embeddings/oleObject8.bin"/><Relationship Id="rId17" Type="http://schemas.openxmlformats.org/officeDocument/2006/relationships/image" Target="../media/image46.emf"/><Relationship Id="rId25" Type="http://schemas.openxmlformats.org/officeDocument/2006/relationships/image" Target="../media/image49.emf"/><Relationship Id="rId33" Type="http://schemas.openxmlformats.org/officeDocument/2006/relationships/image" Target="../media/image52.wmf"/><Relationship Id="rId2" Type="http://schemas.openxmlformats.org/officeDocument/2006/relationships/image" Target="../media/image41.jpg"/><Relationship Id="rId16" Type="http://schemas.openxmlformats.org/officeDocument/2006/relationships/oleObject" Target="../embeddings/oleObject9.bin"/><Relationship Id="rId20" Type="http://schemas.openxmlformats.org/officeDocument/2006/relationships/oleObject" Target="../embeddings/oleObject10.bin"/><Relationship Id="rId29" Type="http://schemas.openxmlformats.org/officeDocument/2006/relationships/image" Target="../media/image50.wmf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44.jpg"/><Relationship Id="rId11" Type="http://schemas.openxmlformats.org/officeDocument/2006/relationships/image" Target="../media/image45.emf"/><Relationship Id="rId24" Type="http://schemas.openxmlformats.org/officeDocument/2006/relationships/oleObject" Target="../embeddings/oleObject11.bin"/><Relationship Id="rId32" Type="http://schemas.openxmlformats.org/officeDocument/2006/relationships/oleObject" Target="../embeddings/oleObject13.bin"/><Relationship Id="rId5" Type="http://schemas.openxmlformats.org/officeDocument/2006/relationships/image" Target="../media/image43.jpg"/><Relationship Id="rId15" Type="http://schemas.openxmlformats.org/officeDocument/2006/relationships/image" Target="../media/image46.emf"/><Relationship Id="rId23" Type="http://schemas.openxmlformats.org/officeDocument/2006/relationships/image" Target="../media/image49.emf"/><Relationship Id="rId28" Type="http://schemas.openxmlformats.org/officeDocument/2006/relationships/oleObject" Target="../embeddings/oleObject12.bin"/><Relationship Id="rId10" Type="http://schemas.openxmlformats.org/officeDocument/2006/relationships/oleObject" Target="../embeddings/oleObject8.bin"/><Relationship Id="rId19" Type="http://schemas.openxmlformats.org/officeDocument/2006/relationships/image" Target="../media/image47.emf"/><Relationship Id="rId31" Type="http://schemas.openxmlformats.org/officeDocument/2006/relationships/image" Target="../media/image52.wmf"/><Relationship Id="rId4" Type="http://schemas.openxmlformats.org/officeDocument/2006/relationships/image" Target="../media/image33.jpg"/><Relationship Id="rId9" Type="http://schemas.openxmlformats.org/officeDocument/2006/relationships/image" Target="../media/image420.png"/><Relationship Id="rId14" Type="http://schemas.openxmlformats.org/officeDocument/2006/relationships/oleObject" Target="../embeddings/oleObject9.bin"/><Relationship Id="rId22" Type="http://schemas.openxmlformats.org/officeDocument/2006/relationships/oleObject" Target="../embeddings/oleObject11.bin"/><Relationship Id="rId27" Type="http://schemas.openxmlformats.org/officeDocument/2006/relationships/image" Target="../media/image50.wmf"/><Relationship Id="rId30" Type="http://schemas.openxmlformats.org/officeDocument/2006/relationships/oleObject" Target="../embeddings/oleObject13.bin"/><Relationship Id="rId8" Type="http://schemas.openxmlformats.org/officeDocument/2006/relationships/image" Target="../media/image41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emf"/><Relationship Id="rId3" Type="http://schemas.openxmlformats.org/officeDocument/2006/relationships/image" Target="../media/image56.png"/><Relationship Id="rId7" Type="http://schemas.openxmlformats.org/officeDocument/2006/relationships/oleObject" Target="../embeddings/oleObject14.bin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58.png"/><Relationship Id="rId5" Type="http://schemas.openxmlformats.org/officeDocument/2006/relationships/image" Target="../media/image32.jpg"/><Relationship Id="rId4" Type="http://schemas.openxmlformats.org/officeDocument/2006/relationships/image" Target="../media/image5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4BB849F-FB66-40FA-A963-889DAC973D48}"/>
              </a:ext>
            </a:extLst>
          </p:cNvPr>
          <p:cNvSpPr txBox="1"/>
          <p:nvPr/>
        </p:nvSpPr>
        <p:spPr>
          <a:xfrm>
            <a:off x="1395654" y="2093855"/>
            <a:ext cx="930007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红外</a:t>
            </a:r>
            <a:r>
              <a:rPr lang="en-US" altLang="zh-CN" sz="4000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可见光行人重识别的特征一致性方法研究</a:t>
            </a:r>
          </a:p>
          <a:p>
            <a:pPr algn="ctr"/>
            <a:endParaRPr lang="en-US" altLang="zh-CN" sz="4000" dirty="0">
              <a:solidFill>
                <a:schemeClr val="accent1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2000" dirty="0">
                <a:solidFill>
                  <a:srgbClr val="1C4885"/>
                </a:solidFill>
                <a:cs typeface="+mn-ea"/>
                <a:sym typeface="+mn-lt"/>
              </a:rPr>
              <a:t>SICHUAN UNIVERSITY OF SCIENCE &amp; ENGINEERING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040F25D-08A4-40D1-B41E-13371D5B71E6}"/>
              </a:ext>
            </a:extLst>
          </p:cNvPr>
          <p:cNvCxnSpPr/>
          <p:nvPr/>
        </p:nvCxnSpPr>
        <p:spPr>
          <a:xfrm>
            <a:off x="4123128" y="3365060"/>
            <a:ext cx="4154750" cy="0"/>
          </a:xfrm>
          <a:prstGeom prst="line">
            <a:avLst/>
          </a:prstGeom>
          <a:ln w="222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D094A1D8-4C1C-4AB7-A269-27B2BA4B76DD}"/>
              </a:ext>
            </a:extLst>
          </p:cNvPr>
          <p:cNvSpPr txBox="1"/>
          <p:nvPr/>
        </p:nvSpPr>
        <p:spPr>
          <a:xfrm>
            <a:off x="3084990" y="5060272"/>
            <a:ext cx="59214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汇报人：许震浩</a:t>
            </a:r>
            <a:endParaRPr lang="en-US" altLang="zh-CN" dirty="0"/>
          </a:p>
          <a:p>
            <a:pPr algn="ctr"/>
            <a:r>
              <a:rPr lang="zh-CN" altLang="en-US" dirty="0"/>
              <a:t>指导老师：王小刚</a:t>
            </a:r>
          </a:p>
        </p:txBody>
      </p:sp>
    </p:spTree>
    <p:extLst>
      <p:ext uri="{BB962C8B-B14F-4D97-AF65-F5344CB8AC3E}">
        <p14:creationId xmlns:p14="http://schemas.microsoft.com/office/powerpoint/2010/main" val="1408299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B8503EC-C188-417F-B193-C768537A07D7}"/>
              </a:ext>
            </a:extLst>
          </p:cNvPr>
          <p:cNvSpPr txBox="1"/>
          <p:nvPr/>
        </p:nvSpPr>
        <p:spPr>
          <a:xfrm>
            <a:off x="2858610" y="1731146"/>
            <a:ext cx="62853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>
                <a:solidFill>
                  <a:schemeClr val="accent1">
                    <a:lumMod val="75000"/>
                  </a:schemeClr>
                </a:solidFill>
              </a:rPr>
              <a:t>研究背景</a:t>
            </a:r>
          </a:p>
        </p:txBody>
      </p:sp>
    </p:spTree>
    <p:extLst>
      <p:ext uri="{BB962C8B-B14F-4D97-AF65-F5344CB8AC3E}">
        <p14:creationId xmlns:p14="http://schemas.microsoft.com/office/powerpoint/2010/main" val="2616943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058A6AF9-5D47-4405-B668-85FFDE86D096}"/>
              </a:ext>
            </a:extLst>
          </p:cNvPr>
          <p:cNvCxnSpPr/>
          <p:nvPr/>
        </p:nvCxnSpPr>
        <p:spPr>
          <a:xfrm>
            <a:off x="4447713" y="1322773"/>
            <a:ext cx="308055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ED027456-2F53-4763-9590-5A1F11ECDE9C}"/>
              </a:ext>
            </a:extLst>
          </p:cNvPr>
          <p:cNvSpPr txBox="1"/>
          <p:nvPr/>
        </p:nvSpPr>
        <p:spPr>
          <a:xfrm>
            <a:off x="4682971" y="399443"/>
            <a:ext cx="26277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>
                    <a:lumMod val="75000"/>
                  </a:schemeClr>
                </a:solidFill>
              </a:rPr>
              <a:t>目   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D4EB3B8-40C7-4895-B034-A690A939751F}"/>
              </a:ext>
            </a:extLst>
          </p:cNvPr>
          <p:cNvSpPr txBox="1"/>
          <p:nvPr/>
        </p:nvSpPr>
        <p:spPr>
          <a:xfrm>
            <a:off x="4447713" y="1589103"/>
            <a:ext cx="3080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 O N T E N T</a:t>
            </a:r>
            <a:endParaRPr lang="zh-CN" altLang="en-US" dirty="0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7BE7F8A-5FDC-C6C6-F893-2388D8EAFA8D}"/>
              </a:ext>
            </a:extLst>
          </p:cNvPr>
          <p:cNvGrpSpPr/>
          <p:nvPr/>
        </p:nvGrpSpPr>
        <p:grpSpPr>
          <a:xfrm>
            <a:off x="4208016" y="2417349"/>
            <a:ext cx="4128117" cy="790112"/>
            <a:chOff x="1296139" y="2139519"/>
            <a:chExt cx="4128117" cy="790112"/>
          </a:xfrm>
        </p:grpSpPr>
        <p:sp>
          <p:nvSpPr>
            <p:cNvPr id="8" name="流程图: 延期 7">
              <a:extLst>
                <a:ext uri="{FF2B5EF4-FFF2-40B4-BE49-F238E27FC236}">
                  <a16:creationId xmlns:a16="http://schemas.microsoft.com/office/drawing/2014/main" id="{C7B5BEDD-A97F-4E76-B81B-FDFD63F8BDD8}"/>
                </a:ext>
              </a:extLst>
            </p:cNvPr>
            <p:cNvSpPr/>
            <p:nvPr/>
          </p:nvSpPr>
          <p:spPr>
            <a:xfrm flipH="1">
              <a:off x="1296139" y="2139519"/>
              <a:ext cx="719092" cy="790111"/>
            </a:xfrm>
            <a:prstGeom prst="flowChartDelay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01</a:t>
              </a:r>
              <a:endParaRPr lang="zh-CN" altLang="en-US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73302AD9-FFAB-4528-857C-E22B76197E2B}"/>
                </a:ext>
              </a:extLst>
            </p:cNvPr>
            <p:cNvSpPr txBox="1"/>
            <p:nvPr/>
          </p:nvSpPr>
          <p:spPr>
            <a:xfrm>
              <a:off x="2015231" y="2139519"/>
              <a:ext cx="340902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dirty="0"/>
                <a:t>研究背景</a:t>
              </a:r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3DAAFA6E-2549-461D-B4C5-C1260797386F}"/>
                </a:ext>
              </a:extLst>
            </p:cNvPr>
            <p:cNvCxnSpPr/>
            <p:nvPr/>
          </p:nvCxnSpPr>
          <p:spPr>
            <a:xfrm>
              <a:off x="2015231" y="2929631"/>
              <a:ext cx="2192785" cy="0"/>
            </a:xfrm>
            <a:prstGeom prst="line">
              <a:avLst/>
            </a:prstGeom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37825479-D4A6-7691-C385-CBC73749A045}"/>
              </a:ext>
            </a:extLst>
          </p:cNvPr>
          <p:cNvGrpSpPr/>
          <p:nvPr/>
        </p:nvGrpSpPr>
        <p:grpSpPr>
          <a:xfrm>
            <a:off x="4208016" y="3843123"/>
            <a:ext cx="4128117" cy="790112"/>
            <a:chOff x="1296139" y="4219853"/>
            <a:chExt cx="4128117" cy="790112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D32C289D-48AA-40FE-B383-E26594DF6134}"/>
                </a:ext>
              </a:extLst>
            </p:cNvPr>
            <p:cNvSpPr txBox="1"/>
            <p:nvPr/>
          </p:nvSpPr>
          <p:spPr>
            <a:xfrm>
              <a:off x="2015231" y="4219853"/>
              <a:ext cx="340902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dirty="0"/>
                <a:t>研究内容</a:t>
              </a:r>
            </a:p>
          </p:txBody>
        </p: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D34154B3-6C0B-FAC2-9CC1-F1DDF2344262}"/>
                </a:ext>
              </a:extLst>
            </p:cNvPr>
            <p:cNvGrpSpPr/>
            <p:nvPr/>
          </p:nvGrpSpPr>
          <p:grpSpPr>
            <a:xfrm>
              <a:off x="1296139" y="4219853"/>
              <a:ext cx="2911877" cy="790112"/>
              <a:chOff x="1296139" y="4219853"/>
              <a:chExt cx="2911877" cy="790112"/>
            </a:xfrm>
          </p:grpSpPr>
          <p:sp>
            <p:nvSpPr>
              <p:cNvPr id="10" name="流程图: 延期 9">
                <a:extLst>
                  <a:ext uri="{FF2B5EF4-FFF2-40B4-BE49-F238E27FC236}">
                    <a16:creationId xmlns:a16="http://schemas.microsoft.com/office/drawing/2014/main" id="{77C8DCA1-81D8-49CF-8B07-3F403233C4B3}"/>
                  </a:ext>
                </a:extLst>
              </p:cNvPr>
              <p:cNvSpPr/>
              <p:nvPr/>
            </p:nvSpPr>
            <p:spPr>
              <a:xfrm flipH="1">
                <a:off x="1296139" y="4219853"/>
                <a:ext cx="719092" cy="790112"/>
              </a:xfrm>
              <a:prstGeom prst="flowChartDelay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02</a:t>
                </a:r>
                <a:endParaRPr lang="zh-CN" altLang="en-US" dirty="0"/>
              </a:p>
            </p:txBody>
          </p: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04725896-6416-497D-B530-236073B817BA}"/>
                  </a:ext>
                </a:extLst>
              </p:cNvPr>
              <p:cNvCxnSpPr/>
              <p:nvPr/>
            </p:nvCxnSpPr>
            <p:spPr>
              <a:xfrm>
                <a:off x="2015231" y="5009965"/>
                <a:ext cx="2192785" cy="0"/>
              </a:xfrm>
              <a:prstGeom prst="line">
                <a:avLst/>
              </a:prstGeom>
              <a:ln w="254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09950E91-FA52-FFA6-8587-3431532D34CE}"/>
              </a:ext>
            </a:extLst>
          </p:cNvPr>
          <p:cNvGrpSpPr/>
          <p:nvPr/>
        </p:nvGrpSpPr>
        <p:grpSpPr>
          <a:xfrm>
            <a:off x="4208016" y="5268897"/>
            <a:ext cx="4128117" cy="790112"/>
            <a:chOff x="6378605" y="4219853"/>
            <a:chExt cx="4128117" cy="790112"/>
          </a:xfrm>
        </p:grpSpPr>
        <p:sp>
          <p:nvSpPr>
            <p:cNvPr id="9" name="流程图: 延期 8">
              <a:extLst>
                <a:ext uri="{FF2B5EF4-FFF2-40B4-BE49-F238E27FC236}">
                  <a16:creationId xmlns:a16="http://schemas.microsoft.com/office/drawing/2014/main" id="{8EE0D3CE-C7A1-4550-9B6B-A57C9453EF02}"/>
                </a:ext>
              </a:extLst>
            </p:cNvPr>
            <p:cNvSpPr/>
            <p:nvPr/>
          </p:nvSpPr>
          <p:spPr>
            <a:xfrm flipH="1">
              <a:off x="6378605" y="4219853"/>
              <a:ext cx="719092" cy="790112"/>
            </a:xfrm>
            <a:prstGeom prst="flowChartDelay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03</a:t>
              </a:r>
              <a:endParaRPr lang="zh-CN" altLang="en-US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3E32AEF4-EE6E-4852-BC70-5925F19BBB25}"/>
                </a:ext>
              </a:extLst>
            </p:cNvPr>
            <p:cNvSpPr txBox="1"/>
            <p:nvPr/>
          </p:nvSpPr>
          <p:spPr>
            <a:xfrm>
              <a:off x="7097697" y="4219853"/>
              <a:ext cx="340902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dirty="0"/>
                <a:t>中期总结</a:t>
              </a:r>
            </a:p>
          </p:txBody>
        </p: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B703CCB7-C288-43DC-AAA4-16DC4181FB34}"/>
                </a:ext>
              </a:extLst>
            </p:cNvPr>
            <p:cNvCxnSpPr>
              <a:cxnSpLocks/>
            </p:cNvCxnSpPr>
            <p:nvPr/>
          </p:nvCxnSpPr>
          <p:spPr>
            <a:xfrm>
              <a:off x="7097697" y="5009965"/>
              <a:ext cx="2792027" cy="0"/>
            </a:xfrm>
            <a:prstGeom prst="line">
              <a:avLst/>
            </a:prstGeom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3208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34ADD059-D045-40AD-B4AB-9155D412A9C4}"/>
              </a:ext>
            </a:extLst>
          </p:cNvPr>
          <p:cNvGrpSpPr/>
          <p:nvPr/>
        </p:nvGrpSpPr>
        <p:grpSpPr>
          <a:xfrm>
            <a:off x="322730" y="339134"/>
            <a:ext cx="6890869" cy="860611"/>
            <a:chOff x="322730" y="339134"/>
            <a:chExt cx="6890869" cy="860611"/>
          </a:xfrm>
        </p:grpSpPr>
        <p:sp>
          <p:nvSpPr>
            <p:cNvPr id="9" name="直角三角形 8">
              <a:extLst>
                <a:ext uri="{FF2B5EF4-FFF2-40B4-BE49-F238E27FC236}">
                  <a16:creationId xmlns:a16="http://schemas.microsoft.com/office/drawing/2014/main" id="{11BC5429-5510-433C-B83E-5E96E2152452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84C56DBD-5F58-4229-99BE-3F4125C274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1123AA7D-5290-4E3B-AC85-66A0DDB1D314}"/>
                </a:ext>
              </a:extLst>
            </p:cNvPr>
            <p:cNvSpPr txBox="1"/>
            <p:nvPr/>
          </p:nvSpPr>
          <p:spPr>
            <a:xfrm>
              <a:off x="1129552" y="384720"/>
              <a:ext cx="608404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dirty="0">
                  <a:solidFill>
                    <a:schemeClr val="accent1">
                      <a:lumMod val="75000"/>
                    </a:schemeClr>
                  </a:solidFill>
                </a:rPr>
                <a:t>研究背景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612C63B8-12A8-D4E3-678A-30DFF9A0A89A}"/>
              </a:ext>
            </a:extLst>
          </p:cNvPr>
          <p:cNvSpPr txBox="1"/>
          <p:nvPr/>
        </p:nvSpPr>
        <p:spPr>
          <a:xfrm>
            <a:off x="6472767" y="1711868"/>
            <a:ext cx="6104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i="0" dirty="0">
                <a:solidFill>
                  <a:srgbClr val="000000"/>
                </a:solidFill>
                <a:effectLst/>
                <a:latin typeface="Inter"/>
              </a:rPr>
              <a:t>跨不同摄像头与场景</a:t>
            </a:r>
            <a:r>
              <a:rPr lang="zh-CN" altLang="en-US" b="0" i="0" dirty="0">
                <a:effectLst/>
                <a:latin typeface="Inter"/>
              </a:rPr>
              <a:t>，对同一行人进行精准匹配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EC16DA2-ED86-91B6-32A5-ADCA696985B8}"/>
              </a:ext>
            </a:extLst>
          </p:cNvPr>
          <p:cNvSpPr txBox="1"/>
          <p:nvPr/>
        </p:nvSpPr>
        <p:spPr>
          <a:xfrm>
            <a:off x="6472767" y="3429000"/>
            <a:ext cx="5524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2.</a:t>
            </a:r>
            <a:r>
              <a:rPr lang="zh-CN" altLang="en-US" dirty="0"/>
              <a:t> 现实需求与传统</a:t>
            </a:r>
            <a:r>
              <a:rPr lang="en-US" altLang="zh-CN" dirty="0"/>
              <a:t>Re-id</a:t>
            </a:r>
            <a:r>
              <a:rPr lang="zh-CN" altLang="en-US" dirty="0"/>
              <a:t>的局限矛盾催生了</a:t>
            </a:r>
            <a:r>
              <a:rPr lang="en-US" altLang="zh-CN" dirty="0"/>
              <a:t>VI-</a:t>
            </a:r>
            <a:r>
              <a:rPr lang="en-US" altLang="zh-CN" dirty="0" err="1"/>
              <a:t>ReID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6395123-FEAD-2FA6-A4C1-95FAA6FFB08C}"/>
              </a:ext>
            </a:extLst>
          </p:cNvPr>
          <p:cNvSpPr txBox="1"/>
          <p:nvPr/>
        </p:nvSpPr>
        <p:spPr>
          <a:xfrm>
            <a:off x="6472767" y="5146132"/>
            <a:ext cx="63838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3. </a:t>
            </a:r>
            <a:r>
              <a:rPr lang="zh-CN" altLang="en-US" dirty="0"/>
              <a:t>核心目标：从模态到纹理的</a:t>
            </a:r>
            <a:r>
              <a:rPr lang="zh-CN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特征一致性问题解决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6BFDAC7-6A91-98DC-ED23-63E3A1D81528}"/>
              </a:ext>
            </a:extLst>
          </p:cNvPr>
          <p:cNvSpPr txBox="1"/>
          <p:nvPr/>
        </p:nvSpPr>
        <p:spPr>
          <a:xfrm>
            <a:off x="983017" y="3363329"/>
            <a:ext cx="2121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 </a:t>
            </a:r>
            <a:r>
              <a:rPr lang="zh-CN" altLang="en-US" dirty="0"/>
              <a:t>普通行人重识别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90FD07E-562E-AD18-F40C-2F88E1A1E34A}"/>
              </a:ext>
            </a:extLst>
          </p:cNvPr>
          <p:cNvSpPr txBox="1"/>
          <p:nvPr/>
        </p:nvSpPr>
        <p:spPr>
          <a:xfrm>
            <a:off x="4307041" y="3339857"/>
            <a:ext cx="1608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2. </a:t>
            </a:r>
            <a:r>
              <a:rPr lang="zh-CN" altLang="en-US" dirty="0"/>
              <a:t>现实需求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4A1254D-35F3-4AB5-5D7A-5BDDBC407E01}"/>
              </a:ext>
            </a:extLst>
          </p:cNvPr>
          <p:cNvSpPr txBox="1"/>
          <p:nvPr/>
        </p:nvSpPr>
        <p:spPr>
          <a:xfrm>
            <a:off x="2738220" y="5975612"/>
            <a:ext cx="1698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3. </a:t>
            </a:r>
            <a:r>
              <a:rPr lang="zh-CN" altLang="en-US" dirty="0"/>
              <a:t>环境干扰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90C7C46-1C2A-CF29-A8F9-3C9E51289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41" y="1539226"/>
            <a:ext cx="2635400" cy="1770780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2589AED1-86D0-3A0A-24B5-FF681ED89137}"/>
              </a:ext>
            </a:extLst>
          </p:cNvPr>
          <p:cNvGrpSpPr/>
          <p:nvPr/>
        </p:nvGrpSpPr>
        <p:grpSpPr>
          <a:xfrm>
            <a:off x="1129552" y="3887475"/>
            <a:ext cx="5343215" cy="2007410"/>
            <a:chOff x="1129552" y="2369268"/>
            <a:chExt cx="9965267" cy="3677788"/>
          </a:xfrm>
        </p:grpSpPr>
        <p:sp>
          <p:nvSpPr>
            <p:cNvPr id="4" name="箭头: 右 3">
              <a:extLst>
                <a:ext uri="{FF2B5EF4-FFF2-40B4-BE49-F238E27FC236}">
                  <a16:creationId xmlns:a16="http://schemas.microsoft.com/office/drawing/2014/main" id="{FAC2F245-0149-8144-ACC4-4871887CD177}"/>
                </a:ext>
              </a:extLst>
            </p:cNvPr>
            <p:cNvSpPr/>
            <p:nvPr/>
          </p:nvSpPr>
          <p:spPr>
            <a:xfrm>
              <a:off x="1129552" y="4695967"/>
              <a:ext cx="9965267" cy="485000"/>
            </a:xfrm>
            <a:prstGeom prst="rightArrow">
              <a:avLst>
                <a:gd name="adj1" fmla="val 50000"/>
                <a:gd name="adj2" fmla="val 114591"/>
              </a:avLst>
            </a:prstGeom>
            <a:gradFill flip="none" rotWithShape="1">
              <a:gsLst>
                <a:gs pos="0">
                  <a:schemeClr val="accent2">
                    <a:tint val="66000"/>
                    <a:satMod val="160000"/>
                  </a:schemeClr>
                </a:gs>
                <a:gs pos="50000">
                  <a:schemeClr val="accent2">
                    <a:tint val="44500"/>
                    <a:satMod val="160000"/>
                  </a:schemeClr>
                </a:gs>
                <a:gs pos="100000">
                  <a:schemeClr val="accent2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Picture 2" descr="晴天天气中风符号图标图标免费下载-图标7mikjeakq-新图网">
              <a:extLst>
                <a:ext uri="{FF2B5EF4-FFF2-40B4-BE49-F238E27FC236}">
                  <a16:creationId xmlns:a16="http://schemas.microsoft.com/office/drawing/2014/main" id="{9EA92BD7-9F32-3982-AC71-3EC6266588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5797" y="5352444"/>
              <a:ext cx="686433" cy="6864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EE126B29-5841-DCFF-E0E2-85B8A1A3EE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41781" y="5274481"/>
              <a:ext cx="763612" cy="772574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85490589-8094-D446-3E9D-A53B4FFEB1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H="1">
              <a:off x="6631189" y="5360622"/>
              <a:ext cx="695237" cy="686434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88E0F2D5-1C82-F137-32D3-F9BF6C2E3A2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426192" y="5352443"/>
              <a:ext cx="708720" cy="686434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F24213CD-284F-148D-1FA7-46910A7353E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9552" y="2369268"/>
              <a:ext cx="1038925" cy="2439800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A6AE8EA2-C8C4-589A-8176-C5B3A0BA4BE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459344" y="2369268"/>
              <a:ext cx="1038926" cy="2439800"/>
            </a:xfrm>
            <a:prstGeom prst="rect">
              <a:avLst/>
            </a:prstGeom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AE848004-6B99-4ECF-18CF-2CDC2769E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261089" y="2369268"/>
              <a:ext cx="1038926" cy="2439800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386E2E5C-480A-8EF1-FECB-EECFCA9AA1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704124" y="2369268"/>
              <a:ext cx="1038926" cy="2439800"/>
            </a:xfrm>
            <a:prstGeom prst="rect">
              <a:avLst/>
            </a:prstGeom>
          </p:spPr>
        </p:pic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D7D56215-629C-B9F8-5E75-E1207B2BB693}"/>
              </a:ext>
            </a:extLst>
          </p:cNvPr>
          <p:cNvGrpSpPr/>
          <p:nvPr/>
        </p:nvGrpSpPr>
        <p:grpSpPr>
          <a:xfrm>
            <a:off x="3587377" y="1539419"/>
            <a:ext cx="2885390" cy="1770587"/>
            <a:chOff x="665756" y="1305394"/>
            <a:chExt cx="7476349" cy="4752173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47EC9452-31A9-BEEA-1910-E8AA2FB87DBE}"/>
                </a:ext>
              </a:extLst>
            </p:cNvPr>
            <p:cNvGrpSpPr/>
            <p:nvPr/>
          </p:nvGrpSpPr>
          <p:grpSpPr>
            <a:xfrm>
              <a:off x="665756" y="1305394"/>
              <a:ext cx="7476349" cy="4752173"/>
              <a:chOff x="2073093" y="1375195"/>
              <a:chExt cx="7476349" cy="4752173"/>
            </a:xfrm>
          </p:grpSpPr>
          <p:pic>
            <p:nvPicPr>
              <p:cNvPr id="29" name="图片 28">
                <a:extLst>
                  <a:ext uri="{FF2B5EF4-FFF2-40B4-BE49-F238E27FC236}">
                    <a16:creationId xmlns:a16="http://schemas.microsoft.com/office/drawing/2014/main" id="{7353D633-E391-32FC-58DA-0098785ADF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073093" y="1375195"/>
                <a:ext cx="7476349" cy="4752173"/>
              </a:xfrm>
              <a:prstGeom prst="rect">
                <a:avLst/>
              </a:prstGeom>
            </p:spPr>
          </p:pic>
          <p:pic>
            <p:nvPicPr>
              <p:cNvPr id="32" name="图片 31">
                <a:extLst>
                  <a:ext uri="{FF2B5EF4-FFF2-40B4-BE49-F238E27FC236}">
                    <a16:creationId xmlns:a16="http://schemas.microsoft.com/office/drawing/2014/main" id="{417E6E25-5F3C-7994-64BD-F63BCA6C6A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513945" y="1984921"/>
                <a:ext cx="327804" cy="382980"/>
              </a:xfrm>
              <a:prstGeom prst="rect">
                <a:avLst/>
              </a:prstGeom>
            </p:spPr>
          </p:pic>
          <p:pic>
            <p:nvPicPr>
              <p:cNvPr id="33" name="图片 32">
                <a:extLst>
                  <a:ext uri="{FF2B5EF4-FFF2-40B4-BE49-F238E27FC236}">
                    <a16:creationId xmlns:a16="http://schemas.microsoft.com/office/drawing/2014/main" id="{E5236DAF-4403-3E33-8884-E9F849E8DB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751945" y="3163864"/>
                <a:ext cx="327804" cy="382980"/>
              </a:xfrm>
              <a:prstGeom prst="rect">
                <a:avLst/>
              </a:prstGeom>
            </p:spPr>
          </p:pic>
          <p:pic>
            <p:nvPicPr>
              <p:cNvPr id="34" name="图片 33">
                <a:extLst>
                  <a:ext uri="{FF2B5EF4-FFF2-40B4-BE49-F238E27FC236}">
                    <a16:creationId xmlns:a16="http://schemas.microsoft.com/office/drawing/2014/main" id="{E9F54453-967B-2BEB-D635-6DBF19D40E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932098" y="2491004"/>
                <a:ext cx="327804" cy="382980"/>
              </a:xfrm>
              <a:prstGeom prst="rect">
                <a:avLst/>
              </a:prstGeom>
            </p:spPr>
          </p:pic>
          <p:pic>
            <p:nvPicPr>
              <p:cNvPr id="35" name="图片 34">
                <a:extLst>
                  <a:ext uri="{FF2B5EF4-FFF2-40B4-BE49-F238E27FC236}">
                    <a16:creationId xmlns:a16="http://schemas.microsoft.com/office/drawing/2014/main" id="{D0830F9F-BE22-160B-AD71-00FE45B751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333235" y="4300842"/>
                <a:ext cx="327804" cy="382980"/>
              </a:xfrm>
              <a:prstGeom prst="rect">
                <a:avLst/>
              </a:prstGeom>
            </p:spPr>
          </p:pic>
          <p:pic>
            <p:nvPicPr>
              <p:cNvPr id="36" name="图片 35">
                <a:extLst>
                  <a:ext uri="{FF2B5EF4-FFF2-40B4-BE49-F238E27FC236}">
                    <a16:creationId xmlns:a16="http://schemas.microsoft.com/office/drawing/2014/main" id="{DC0EBC53-1D7C-7F6A-3B25-D36BD4E8E4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710326" y="4606941"/>
                <a:ext cx="327804" cy="382980"/>
              </a:xfrm>
              <a:prstGeom prst="rect">
                <a:avLst/>
              </a:prstGeom>
            </p:spPr>
          </p:pic>
        </p:grpSp>
        <p:sp>
          <p:nvSpPr>
            <p:cNvPr id="23" name="箭头: 下 22">
              <a:extLst>
                <a:ext uri="{FF2B5EF4-FFF2-40B4-BE49-F238E27FC236}">
                  <a16:creationId xmlns:a16="http://schemas.microsoft.com/office/drawing/2014/main" id="{FCF7C71E-DD84-49AA-60FE-B3B2D8C3C7A6}"/>
                </a:ext>
              </a:extLst>
            </p:cNvPr>
            <p:cNvSpPr/>
            <p:nvPr/>
          </p:nvSpPr>
          <p:spPr>
            <a:xfrm rot="2490245">
              <a:off x="1705406" y="2295947"/>
              <a:ext cx="310896" cy="837657"/>
            </a:xfrm>
            <a:prstGeom prst="downArrow">
              <a:avLst>
                <a:gd name="adj1" fmla="val 50000"/>
                <a:gd name="adj2" fmla="val 104116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箭头: 下 25">
              <a:extLst>
                <a:ext uri="{FF2B5EF4-FFF2-40B4-BE49-F238E27FC236}">
                  <a16:creationId xmlns:a16="http://schemas.microsoft.com/office/drawing/2014/main" id="{5A3408CD-AA6A-1617-E1C3-077CD023C77A}"/>
                </a:ext>
              </a:extLst>
            </p:cNvPr>
            <p:cNvSpPr/>
            <p:nvPr/>
          </p:nvSpPr>
          <p:spPr>
            <a:xfrm>
              <a:off x="1311443" y="3576358"/>
              <a:ext cx="310896" cy="861466"/>
            </a:xfrm>
            <a:prstGeom prst="downArrow">
              <a:avLst>
                <a:gd name="adj1" fmla="val 50000"/>
                <a:gd name="adj2" fmla="val 104116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24116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0A8A1BA-9E9E-4C3A-B094-CFE24EE5E652}"/>
              </a:ext>
            </a:extLst>
          </p:cNvPr>
          <p:cNvGrpSpPr/>
          <p:nvPr/>
        </p:nvGrpSpPr>
        <p:grpSpPr>
          <a:xfrm>
            <a:off x="322730" y="339134"/>
            <a:ext cx="6926483" cy="860611"/>
            <a:chOff x="322730" y="339134"/>
            <a:chExt cx="6926483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F248765F-AD9E-479B-A384-4B149BCEFFD4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AFC20DC2-16DB-4854-ABBA-E4B7E6C099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663651D6-28EB-443A-A8E1-889F3BA29AC2}"/>
                </a:ext>
              </a:extLst>
            </p:cNvPr>
            <p:cNvSpPr txBox="1"/>
            <p:nvPr/>
          </p:nvSpPr>
          <p:spPr>
            <a:xfrm>
              <a:off x="1129553" y="384720"/>
              <a:ext cx="611966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400" dirty="0">
                  <a:solidFill>
                    <a:schemeClr val="accent1">
                      <a:lumMod val="75000"/>
                    </a:schemeClr>
                  </a:solidFill>
                </a:rPr>
                <a:t>VI-IR</a:t>
              </a:r>
              <a:r>
                <a:rPr lang="zh-CN" altLang="en-US" sz="4400" dirty="0">
                  <a:solidFill>
                    <a:schemeClr val="accent1">
                      <a:lumMod val="75000"/>
                    </a:schemeClr>
                  </a:solidFill>
                </a:rPr>
                <a:t>跨模态难点</a:t>
              </a:r>
            </a:p>
          </p:txBody>
        </p: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FB119159-7E1D-95FB-BC15-99582FC892E0}"/>
              </a:ext>
            </a:extLst>
          </p:cNvPr>
          <p:cNvSpPr txBox="1"/>
          <p:nvPr/>
        </p:nvSpPr>
        <p:spPr>
          <a:xfrm>
            <a:off x="8112978" y="2166920"/>
            <a:ext cx="4079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zh-CN" altLang="en-US" dirty="0"/>
              <a:t>模态差异</a:t>
            </a:r>
            <a:endParaRPr lang="zh-CN" altLang="en-US" sz="1400" dirty="0">
              <a:solidFill>
                <a:prstClr val="black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B2FA64C-D040-BDA6-5411-25D3C495694A}"/>
              </a:ext>
            </a:extLst>
          </p:cNvPr>
          <p:cNvSpPr txBox="1"/>
          <p:nvPr/>
        </p:nvSpPr>
        <p:spPr>
          <a:xfrm>
            <a:off x="4941086" y="4787530"/>
            <a:ext cx="34665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光谱差异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E3DCE93-D855-2B74-1098-8449A42E6B6D}"/>
              </a:ext>
            </a:extLst>
          </p:cNvPr>
          <p:cNvGrpSpPr/>
          <p:nvPr/>
        </p:nvGrpSpPr>
        <p:grpSpPr>
          <a:xfrm>
            <a:off x="2871032" y="1340595"/>
            <a:ext cx="5072744" cy="2021982"/>
            <a:chOff x="599152" y="2175933"/>
            <a:chExt cx="10463711" cy="3587174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865D6E50-C373-7084-3370-CC5D419A3B6D}"/>
                </a:ext>
              </a:extLst>
            </p:cNvPr>
            <p:cNvGrpSpPr/>
            <p:nvPr/>
          </p:nvGrpSpPr>
          <p:grpSpPr>
            <a:xfrm>
              <a:off x="599152" y="2175933"/>
              <a:ext cx="10463711" cy="3587174"/>
              <a:chOff x="1293418" y="2116666"/>
              <a:chExt cx="10463711" cy="3587174"/>
            </a:xfrm>
          </p:grpSpPr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D27B44EE-4321-4B11-809E-F9BEC9C729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93418" y="2116666"/>
                <a:ext cx="2689329" cy="3587174"/>
              </a:xfrm>
              <a:prstGeom prst="rect">
                <a:avLst/>
              </a:prstGeom>
            </p:spPr>
          </p:pic>
          <p:pic>
            <p:nvPicPr>
              <p:cNvPr id="16" name="图片 15">
                <a:extLst>
                  <a:ext uri="{FF2B5EF4-FFF2-40B4-BE49-F238E27FC236}">
                    <a16:creationId xmlns:a16="http://schemas.microsoft.com/office/drawing/2014/main" id="{6209404C-A190-6F27-954C-974AE4DC34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34213" y="2116666"/>
                <a:ext cx="2689329" cy="3587174"/>
              </a:xfrm>
              <a:prstGeom prst="rect">
                <a:avLst/>
              </a:prstGeom>
            </p:spPr>
          </p:pic>
          <p:sp>
            <p:nvSpPr>
              <p:cNvPr id="19" name="不等号 18">
                <a:extLst>
                  <a:ext uri="{FF2B5EF4-FFF2-40B4-BE49-F238E27FC236}">
                    <a16:creationId xmlns:a16="http://schemas.microsoft.com/office/drawing/2014/main" id="{21D3CEC0-32A8-B850-20E5-8B3AB4D58F1C}"/>
                  </a:ext>
                </a:extLst>
              </p:cNvPr>
              <p:cNvSpPr/>
              <p:nvPr/>
            </p:nvSpPr>
            <p:spPr>
              <a:xfrm>
                <a:off x="8001000" y="3302866"/>
                <a:ext cx="1066800" cy="607387"/>
              </a:xfrm>
              <a:prstGeom prst="mathNotEqual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pic>
            <p:nvPicPr>
              <p:cNvPr id="20" name="图片 19">
                <a:extLst>
                  <a:ext uri="{FF2B5EF4-FFF2-40B4-BE49-F238E27FC236}">
                    <a16:creationId xmlns:a16="http://schemas.microsoft.com/office/drawing/2014/main" id="{BB299F0E-36D4-A028-0E50-DF437228DA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67800" y="2116666"/>
                <a:ext cx="2689329" cy="3587174"/>
              </a:xfrm>
              <a:prstGeom prst="rect">
                <a:avLst/>
              </a:prstGeom>
            </p:spPr>
          </p:pic>
        </p:grp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008D5DB6-2E11-BFAC-B659-00335537D776}"/>
                </a:ext>
              </a:extLst>
            </p:cNvPr>
            <p:cNvSpPr/>
            <p:nvPr/>
          </p:nvSpPr>
          <p:spPr>
            <a:xfrm>
              <a:off x="1744133" y="2182905"/>
              <a:ext cx="584200" cy="57573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2C2B8F1C-57BC-8AE3-CEF3-7D9080116F78}"/>
                </a:ext>
              </a:extLst>
            </p:cNvPr>
            <p:cNvSpPr/>
            <p:nvPr/>
          </p:nvSpPr>
          <p:spPr>
            <a:xfrm>
              <a:off x="5698066" y="2175933"/>
              <a:ext cx="584200" cy="57573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B844C4C2-5CAE-B002-3C63-FF66477A3C00}"/>
                </a:ext>
              </a:extLst>
            </p:cNvPr>
            <p:cNvSpPr/>
            <p:nvPr/>
          </p:nvSpPr>
          <p:spPr>
            <a:xfrm>
              <a:off x="9863667" y="2343772"/>
              <a:ext cx="584200" cy="57573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箭头: 左右 13">
              <a:extLst>
                <a:ext uri="{FF2B5EF4-FFF2-40B4-BE49-F238E27FC236}">
                  <a16:creationId xmlns:a16="http://schemas.microsoft.com/office/drawing/2014/main" id="{23AEE29D-F1A6-18FD-BF97-8A4DE3FCBE7D}"/>
                </a:ext>
              </a:extLst>
            </p:cNvPr>
            <p:cNvSpPr/>
            <p:nvPr/>
          </p:nvSpPr>
          <p:spPr>
            <a:xfrm>
              <a:off x="3384311" y="3462505"/>
              <a:ext cx="959806" cy="406641"/>
            </a:xfrm>
            <a:prstGeom prst="left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6B0EE988-2DBB-1025-28DD-C8A0DAAA53BC}"/>
              </a:ext>
            </a:extLst>
          </p:cNvPr>
          <p:cNvGrpSpPr/>
          <p:nvPr/>
        </p:nvGrpSpPr>
        <p:grpSpPr>
          <a:xfrm>
            <a:off x="2926871" y="3723404"/>
            <a:ext cx="5072744" cy="2749876"/>
            <a:chOff x="3200401" y="2199436"/>
            <a:chExt cx="4468676" cy="3282372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E2291061-133F-A1F5-4D17-C16B33DBC776}"/>
                </a:ext>
              </a:extLst>
            </p:cNvPr>
            <p:cNvGrpSpPr/>
            <p:nvPr/>
          </p:nvGrpSpPr>
          <p:grpSpPr>
            <a:xfrm>
              <a:off x="3200401" y="2199436"/>
              <a:ext cx="4468676" cy="3282372"/>
              <a:chOff x="3200401" y="2199436"/>
              <a:chExt cx="4468676" cy="3282372"/>
            </a:xfrm>
          </p:grpSpPr>
          <p:pic>
            <p:nvPicPr>
              <p:cNvPr id="33" name="图片 32">
                <a:extLst>
                  <a:ext uri="{FF2B5EF4-FFF2-40B4-BE49-F238E27FC236}">
                    <a16:creationId xmlns:a16="http://schemas.microsoft.com/office/drawing/2014/main" id="{9AA52D91-4B54-2B41-494C-D9FFC394A8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00401" y="2199436"/>
                <a:ext cx="1410455" cy="3282372"/>
              </a:xfrm>
              <a:prstGeom prst="rect">
                <a:avLst/>
              </a:prstGeom>
            </p:spPr>
          </p:pic>
          <p:pic>
            <p:nvPicPr>
              <p:cNvPr id="37" name="图片 36">
                <a:extLst>
                  <a:ext uri="{FF2B5EF4-FFF2-40B4-BE49-F238E27FC236}">
                    <a16:creationId xmlns:a16="http://schemas.microsoft.com/office/drawing/2014/main" id="{094DD0B4-AB05-E596-1EFF-5D73D26203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58622" y="2199436"/>
                <a:ext cx="1410455" cy="3282372"/>
              </a:xfrm>
              <a:prstGeom prst="rect">
                <a:avLst/>
              </a:prstGeom>
            </p:spPr>
          </p:pic>
          <p:sp>
            <p:nvSpPr>
              <p:cNvPr id="39" name="椭圆 38">
                <a:extLst>
                  <a:ext uri="{FF2B5EF4-FFF2-40B4-BE49-F238E27FC236}">
                    <a16:creationId xmlns:a16="http://schemas.microsoft.com/office/drawing/2014/main" id="{14CA1EF5-6E21-E7FE-456F-5826401F95C8}"/>
                  </a:ext>
                </a:extLst>
              </p:cNvPr>
              <p:cNvSpPr/>
              <p:nvPr/>
            </p:nvSpPr>
            <p:spPr>
              <a:xfrm>
                <a:off x="3572934" y="2455332"/>
                <a:ext cx="414866" cy="38946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椭圆 39">
                <a:extLst>
                  <a:ext uri="{FF2B5EF4-FFF2-40B4-BE49-F238E27FC236}">
                    <a16:creationId xmlns:a16="http://schemas.microsoft.com/office/drawing/2014/main" id="{5F911823-DCA3-55F6-6621-8876CC047733}"/>
                  </a:ext>
                </a:extLst>
              </p:cNvPr>
              <p:cNvSpPr/>
              <p:nvPr/>
            </p:nvSpPr>
            <p:spPr>
              <a:xfrm>
                <a:off x="6770496" y="2199436"/>
                <a:ext cx="414866" cy="38946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椭圆 40">
                <a:extLst>
                  <a:ext uri="{FF2B5EF4-FFF2-40B4-BE49-F238E27FC236}">
                    <a16:creationId xmlns:a16="http://schemas.microsoft.com/office/drawing/2014/main" id="{86CD811F-E0BD-4D8C-2F87-B1B892BBEB0B}"/>
                  </a:ext>
                </a:extLst>
              </p:cNvPr>
              <p:cNvSpPr/>
              <p:nvPr/>
            </p:nvSpPr>
            <p:spPr>
              <a:xfrm>
                <a:off x="6475558" y="3834053"/>
                <a:ext cx="709804" cy="389467"/>
              </a:xfrm>
              <a:prstGeom prst="ellipse">
                <a:avLst/>
              </a:prstGeom>
              <a:noFill/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5482D697-3EAE-B5A6-D6FF-11814409F28B}"/>
                  </a:ext>
                </a:extLst>
              </p:cNvPr>
              <p:cNvSpPr/>
              <p:nvPr/>
            </p:nvSpPr>
            <p:spPr>
              <a:xfrm>
                <a:off x="3550726" y="3840622"/>
                <a:ext cx="709804" cy="389467"/>
              </a:xfrm>
              <a:prstGeom prst="ellipse">
                <a:avLst/>
              </a:prstGeom>
              <a:noFill/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1" name="箭头: 下 30">
              <a:extLst>
                <a:ext uri="{FF2B5EF4-FFF2-40B4-BE49-F238E27FC236}">
                  <a16:creationId xmlns:a16="http://schemas.microsoft.com/office/drawing/2014/main" id="{212B3302-C865-3BDB-8792-947E5521E2D3}"/>
                </a:ext>
              </a:extLst>
            </p:cNvPr>
            <p:cNvSpPr/>
            <p:nvPr/>
          </p:nvSpPr>
          <p:spPr>
            <a:xfrm rot="5400000">
              <a:off x="5237693" y="3016181"/>
              <a:ext cx="249764" cy="2038350"/>
            </a:xfrm>
            <a:prstGeom prst="downArrow">
              <a:avLst>
                <a:gd name="adj1" fmla="val 50000"/>
                <a:gd name="adj2" fmla="val 87363"/>
              </a:avLst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44085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AE12504-DEBD-4C1B-9BF9-6712F52677E7}"/>
              </a:ext>
            </a:extLst>
          </p:cNvPr>
          <p:cNvGrpSpPr/>
          <p:nvPr/>
        </p:nvGrpSpPr>
        <p:grpSpPr>
          <a:xfrm>
            <a:off x="322730" y="339134"/>
            <a:ext cx="8118537" cy="860611"/>
            <a:chOff x="322730" y="339134"/>
            <a:chExt cx="8118537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876FD67B-FF92-40E6-90FE-CF4C2316AEDC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EFE52BD2-8191-4D27-B8B6-182474EF8C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384F5AE-1080-43E6-980F-3576864CC119}"/>
                </a:ext>
              </a:extLst>
            </p:cNvPr>
            <p:cNvSpPr txBox="1"/>
            <p:nvPr/>
          </p:nvSpPr>
          <p:spPr>
            <a:xfrm>
              <a:off x="1129553" y="384720"/>
              <a:ext cx="7311714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dirty="0">
                  <a:solidFill>
                    <a:schemeClr val="accent1">
                      <a:lumMod val="75000"/>
                    </a:schemeClr>
                  </a:solidFill>
                </a:rPr>
                <a:t>行人重识别跨模态差异消解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0B15AC80-FD77-ACA9-5FDA-FF5ADC910FD7}"/>
              </a:ext>
            </a:extLst>
          </p:cNvPr>
          <p:cNvGrpSpPr/>
          <p:nvPr/>
        </p:nvGrpSpPr>
        <p:grpSpPr>
          <a:xfrm>
            <a:off x="426818" y="2480987"/>
            <a:ext cx="6295715" cy="3088665"/>
            <a:chOff x="1588321" y="1118185"/>
            <a:chExt cx="5887498" cy="2920416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19E70AC4-F8E8-80DF-24E5-C068F4429082}"/>
                </a:ext>
              </a:extLst>
            </p:cNvPr>
            <p:cNvSpPr/>
            <p:nvPr/>
          </p:nvSpPr>
          <p:spPr>
            <a:xfrm>
              <a:off x="1591138" y="1561130"/>
              <a:ext cx="1350880" cy="1780987"/>
            </a:xfrm>
            <a:prstGeom prst="ellipse">
              <a:avLst/>
            </a:prstGeom>
            <a:gradFill flip="none" rotWithShape="1">
              <a:gsLst>
                <a:gs pos="0">
                  <a:srgbClr val="00AA48">
                    <a:tint val="66000"/>
                    <a:satMod val="160000"/>
                  </a:srgbClr>
                </a:gs>
                <a:gs pos="50000">
                  <a:srgbClr val="00AA48">
                    <a:tint val="44500"/>
                    <a:satMod val="160000"/>
                  </a:srgbClr>
                </a:gs>
                <a:gs pos="100000">
                  <a:srgbClr val="00AA48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02FFBABA-5DB4-99E7-0E2E-EA3B3195097C}"/>
                </a:ext>
              </a:extLst>
            </p:cNvPr>
            <p:cNvSpPr/>
            <p:nvPr/>
          </p:nvSpPr>
          <p:spPr>
            <a:xfrm>
              <a:off x="5962532" y="1641363"/>
              <a:ext cx="1350880" cy="1700754"/>
            </a:xfrm>
            <a:prstGeom prst="ellipse">
              <a:avLst/>
            </a:prstGeom>
            <a:gradFill flip="none" rotWithShape="1">
              <a:gsLst>
                <a:gs pos="0">
                  <a:srgbClr val="7030A0">
                    <a:tint val="66000"/>
                    <a:satMod val="160000"/>
                  </a:srgbClr>
                </a:gs>
                <a:gs pos="50000">
                  <a:srgbClr val="7030A0">
                    <a:tint val="44500"/>
                    <a:satMod val="160000"/>
                  </a:srgbClr>
                </a:gs>
                <a:gs pos="100000">
                  <a:srgbClr val="7030A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B55B2E3A-24E2-918E-872E-EAEDFCD5A716}"/>
                </a:ext>
              </a:extLst>
            </p:cNvPr>
            <p:cNvSpPr/>
            <p:nvPr/>
          </p:nvSpPr>
          <p:spPr>
            <a:xfrm>
              <a:off x="3208139" y="1118185"/>
              <a:ext cx="2495513" cy="241183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星形: 五角 11">
              <a:extLst>
                <a:ext uri="{FF2B5EF4-FFF2-40B4-BE49-F238E27FC236}">
                  <a16:creationId xmlns:a16="http://schemas.microsoft.com/office/drawing/2014/main" id="{E48D0813-0D7E-F52A-1850-51FF0F604824}"/>
                </a:ext>
              </a:extLst>
            </p:cNvPr>
            <p:cNvSpPr/>
            <p:nvPr/>
          </p:nvSpPr>
          <p:spPr>
            <a:xfrm>
              <a:off x="2087880" y="1958340"/>
              <a:ext cx="236220" cy="243840"/>
            </a:xfrm>
            <a:prstGeom prst="star5">
              <a:avLst/>
            </a:prstGeom>
            <a:solidFill>
              <a:srgbClr val="00AA4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等腰三角形 12">
              <a:extLst>
                <a:ext uri="{FF2B5EF4-FFF2-40B4-BE49-F238E27FC236}">
                  <a16:creationId xmlns:a16="http://schemas.microsoft.com/office/drawing/2014/main" id="{AEB4DDEB-0354-FE5F-51FB-4228C026DF83}"/>
                </a:ext>
              </a:extLst>
            </p:cNvPr>
            <p:cNvSpPr/>
            <p:nvPr/>
          </p:nvSpPr>
          <p:spPr>
            <a:xfrm>
              <a:off x="6675120" y="1985010"/>
              <a:ext cx="182880" cy="243840"/>
            </a:xfrm>
            <a:prstGeom prst="triangl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星形: 五角 13">
              <a:extLst>
                <a:ext uri="{FF2B5EF4-FFF2-40B4-BE49-F238E27FC236}">
                  <a16:creationId xmlns:a16="http://schemas.microsoft.com/office/drawing/2014/main" id="{CB1A3983-87CD-5946-13C9-D33AB1816149}"/>
                </a:ext>
              </a:extLst>
            </p:cNvPr>
            <p:cNvSpPr/>
            <p:nvPr/>
          </p:nvSpPr>
          <p:spPr>
            <a:xfrm>
              <a:off x="1779270" y="2369820"/>
              <a:ext cx="236220" cy="243840"/>
            </a:xfrm>
            <a:prstGeom prst="star5">
              <a:avLst/>
            </a:prstGeom>
            <a:solidFill>
              <a:srgbClr val="00AA4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星形: 五角 14">
              <a:extLst>
                <a:ext uri="{FF2B5EF4-FFF2-40B4-BE49-F238E27FC236}">
                  <a16:creationId xmlns:a16="http://schemas.microsoft.com/office/drawing/2014/main" id="{6D5B8A66-3170-40C7-E9D9-2818F56B5DCB}"/>
                </a:ext>
              </a:extLst>
            </p:cNvPr>
            <p:cNvSpPr/>
            <p:nvPr/>
          </p:nvSpPr>
          <p:spPr>
            <a:xfrm>
              <a:off x="2153603" y="2788920"/>
              <a:ext cx="236220" cy="243840"/>
            </a:xfrm>
            <a:prstGeom prst="star5">
              <a:avLst/>
            </a:prstGeom>
            <a:solidFill>
              <a:srgbClr val="00AA4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星形: 五角 15">
              <a:extLst>
                <a:ext uri="{FF2B5EF4-FFF2-40B4-BE49-F238E27FC236}">
                  <a16:creationId xmlns:a16="http://schemas.microsoft.com/office/drawing/2014/main" id="{E07D3E9D-AD7B-E8D0-E14D-316AC150D9B5}"/>
                </a:ext>
              </a:extLst>
            </p:cNvPr>
            <p:cNvSpPr/>
            <p:nvPr/>
          </p:nvSpPr>
          <p:spPr>
            <a:xfrm>
              <a:off x="2632710" y="2362200"/>
              <a:ext cx="236220" cy="243840"/>
            </a:xfrm>
            <a:prstGeom prst="star5">
              <a:avLst/>
            </a:prstGeom>
            <a:solidFill>
              <a:srgbClr val="00AA4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星形: 五角 16">
              <a:extLst>
                <a:ext uri="{FF2B5EF4-FFF2-40B4-BE49-F238E27FC236}">
                  <a16:creationId xmlns:a16="http://schemas.microsoft.com/office/drawing/2014/main" id="{2B68A6FF-23F0-3DB5-49E1-6B21AB57B201}"/>
                </a:ext>
              </a:extLst>
            </p:cNvPr>
            <p:cNvSpPr/>
            <p:nvPr/>
          </p:nvSpPr>
          <p:spPr>
            <a:xfrm>
              <a:off x="2244090" y="2369820"/>
              <a:ext cx="236220" cy="243840"/>
            </a:xfrm>
            <a:prstGeom prst="star5">
              <a:avLst/>
            </a:prstGeom>
            <a:solidFill>
              <a:srgbClr val="00AA4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星形: 五角 17">
              <a:extLst>
                <a:ext uri="{FF2B5EF4-FFF2-40B4-BE49-F238E27FC236}">
                  <a16:creationId xmlns:a16="http://schemas.microsoft.com/office/drawing/2014/main" id="{CDA6AACC-2CA4-1215-C63B-7F4E0C45EBBF}"/>
                </a:ext>
              </a:extLst>
            </p:cNvPr>
            <p:cNvSpPr/>
            <p:nvPr/>
          </p:nvSpPr>
          <p:spPr>
            <a:xfrm>
              <a:off x="4004312" y="2084834"/>
              <a:ext cx="236220" cy="243840"/>
            </a:xfrm>
            <a:prstGeom prst="star5">
              <a:avLst/>
            </a:prstGeom>
            <a:solidFill>
              <a:srgbClr val="7F3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星形: 五角 18">
              <a:extLst>
                <a:ext uri="{FF2B5EF4-FFF2-40B4-BE49-F238E27FC236}">
                  <a16:creationId xmlns:a16="http://schemas.microsoft.com/office/drawing/2014/main" id="{F3DBF270-B8D0-FB61-0033-0AD6A7FDDF09}"/>
                </a:ext>
              </a:extLst>
            </p:cNvPr>
            <p:cNvSpPr/>
            <p:nvPr/>
          </p:nvSpPr>
          <p:spPr>
            <a:xfrm>
              <a:off x="3945255" y="2804160"/>
              <a:ext cx="236220" cy="243840"/>
            </a:xfrm>
            <a:prstGeom prst="star5">
              <a:avLst/>
            </a:prstGeom>
            <a:solidFill>
              <a:srgbClr val="7F3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星形: 五角 19">
              <a:extLst>
                <a:ext uri="{FF2B5EF4-FFF2-40B4-BE49-F238E27FC236}">
                  <a16:creationId xmlns:a16="http://schemas.microsoft.com/office/drawing/2014/main" id="{7D163B4B-4A93-4670-FC56-84CC5E2B4ACA}"/>
                </a:ext>
              </a:extLst>
            </p:cNvPr>
            <p:cNvSpPr/>
            <p:nvPr/>
          </p:nvSpPr>
          <p:spPr>
            <a:xfrm>
              <a:off x="3789999" y="2322134"/>
              <a:ext cx="236220" cy="243840"/>
            </a:xfrm>
            <a:prstGeom prst="star5">
              <a:avLst/>
            </a:prstGeom>
            <a:solidFill>
              <a:srgbClr val="7F3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星形: 五角 20">
              <a:extLst>
                <a:ext uri="{FF2B5EF4-FFF2-40B4-BE49-F238E27FC236}">
                  <a16:creationId xmlns:a16="http://schemas.microsoft.com/office/drawing/2014/main" id="{D114EF63-1372-918B-F810-3B78CE575D56}"/>
                </a:ext>
              </a:extLst>
            </p:cNvPr>
            <p:cNvSpPr/>
            <p:nvPr/>
          </p:nvSpPr>
          <p:spPr>
            <a:xfrm>
              <a:off x="4163137" y="2473007"/>
              <a:ext cx="236220" cy="243840"/>
            </a:xfrm>
            <a:prstGeom prst="star5">
              <a:avLst/>
            </a:prstGeom>
            <a:solidFill>
              <a:srgbClr val="7F3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星形: 五角 21">
              <a:extLst>
                <a:ext uri="{FF2B5EF4-FFF2-40B4-BE49-F238E27FC236}">
                  <a16:creationId xmlns:a16="http://schemas.microsoft.com/office/drawing/2014/main" id="{06221E17-0CBB-CE44-D329-86D525AA469A}"/>
                </a:ext>
              </a:extLst>
            </p:cNvPr>
            <p:cNvSpPr/>
            <p:nvPr/>
          </p:nvSpPr>
          <p:spPr>
            <a:xfrm>
              <a:off x="4216481" y="2940782"/>
              <a:ext cx="236220" cy="243840"/>
            </a:xfrm>
            <a:prstGeom prst="star5">
              <a:avLst/>
            </a:prstGeom>
            <a:solidFill>
              <a:srgbClr val="7F3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等腰三角形 22">
              <a:extLst>
                <a:ext uri="{FF2B5EF4-FFF2-40B4-BE49-F238E27FC236}">
                  <a16:creationId xmlns:a16="http://schemas.microsoft.com/office/drawing/2014/main" id="{377E4615-D281-5F05-F9F4-0590CA10F103}"/>
                </a:ext>
              </a:extLst>
            </p:cNvPr>
            <p:cNvSpPr/>
            <p:nvPr/>
          </p:nvSpPr>
          <p:spPr>
            <a:xfrm>
              <a:off x="6383655" y="2430780"/>
              <a:ext cx="182880" cy="243840"/>
            </a:xfrm>
            <a:prstGeom prst="triangl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等腰三角形 24">
              <a:extLst>
                <a:ext uri="{FF2B5EF4-FFF2-40B4-BE49-F238E27FC236}">
                  <a16:creationId xmlns:a16="http://schemas.microsoft.com/office/drawing/2014/main" id="{0A215EA7-344E-5F3F-0446-CA4339075766}"/>
                </a:ext>
              </a:extLst>
            </p:cNvPr>
            <p:cNvSpPr/>
            <p:nvPr/>
          </p:nvSpPr>
          <p:spPr>
            <a:xfrm>
              <a:off x="6766560" y="2415540"/>
              <a:ext cx="182880" cy="243840"/>
            </a:xfrm>
            <a:prstGeom prst="triangl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>
              <a:extLst>
                <a:ext uri="{FF2B5EF4-FFF2-40B4-BE49-F238E27FC236}">
                  <a16:creationId xmlns:a16="http://schemas.microsoft.com/office/drawing/2014/main" id="{798EBE93-250F-3FF0-B92E-B9D54F817B5E}"/>
                </a:ext>
              </a:extLst>
            </p:cNvPr>
            <p:cNvSpPr/>
            <p:nvPr/>
          </p:nvSpPr>
          <p:spPr>
            <a:xfrm>
              <a:off x="6614160" y="2788920"/>
              <a:ext cx="182880" cy="243840"/>
            </a:xfrm>
            <a:prstGeom prst="triangl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等腰三角形 27">
              <a:extLst>
                <a:ext uri="{FF2B5EF4-FFF2-40B4-BE49-F238E27FC236}">
                  <a16:creationId xmlns:a16="http://schemas.microsoft.com/office/drawing/2014/main" id="{DFA071A2-3A21-EF28-BEB1-32721477638C}"/>
                </a:ext>
              </a:extLst>
            </p:cNvPr>
            <p:cNvSpPr/>
            <p:nvPr/>
          </p:nvSpPr>
          <p:spPr>
            <a:xfrm>
              <a:off x="6222683" y="2080260"/>
              <a:ext cx="182880" cy="243840"/>
            </a:xfrm>
            <a:prstGeom prst="triangl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等腰三角形 28">
              <a:extLst>
                <a:ext uri="{FF2B5EF4-FFF2-40B4-BE49-F238E27FC236}">
                  <a16:creationId xmlns:a16="http://schemas.microsoft.com/office/drawing/2014/main" id="{FAC33C38-4501-8D61-2F3C-161468D9B893}"/>
                </a:ext>
              </a:extLst>
            </p:cNvPr>
            <p:cNvSpPr/>
            <p:nvPr/>
          </p:nvSpPr>
          <p:spPr>
            <a:xfrm>
              <a:off x="4827587" y="2073661"/>
              <a:ext cx="182880" cy="243840"/>
            </a:xfrm>
            <a:prstGeom prst="triangl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>
              <a:extLst>
                <a:ext uri="{FF2B5EF4-FFF2-40B4-BE49-F238E27FC236}">
                  <a16:creationId xmlns:a16="http://schemas.microsoft.com/office/drawing/2014/main" id="{687036CA-0E7C-0EA0-EDB0-7EDB372255CE}"/>
                </a:ext>
              </a:extLst>
            </p:cNvPr>
            <p:cNvSpPr/>
            <p:nvPr/>
          </p:nvSpPr>
          <p:spPr>
            <a:xfrm>
              <a:off x="4680120" y="2466902"/>
              <a:ext cx="182880" cy="243840"/>
            </a:xfrm>
            <a:prstGeom prst="triangl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等腰三角形 30">
              <a:extLst>
                <a:ext uri="{FF2B5EF4-FFF2-40B4-BE49-F238E27FC236}">
                  <a16:creationId xmlns:a16="http://schemas.microsoft.com/office/drawing/2014/main" id="{974529ED-12D8-A8F0-6A6B-56E6EF20241F}"/>
                </a:ext>
              </a:extLst>
            </p:cNvPr>
            <p:cNvSpPr/>
            <p:nvPr/>
          </p:nvSpPr>
          <p:spPr>
            <a:xfrm>
              <a:off x="4968006" y="2298225"/>
              <a:ext cx="182880" cy="243840"/>
            </a:xfrm>
            <a:prstGeom prst="triangl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等腰三角形 31">
              <a:extLst>
                <a:ext uri="{FF2B5EF4-FFF2-40B4-BE49-F238E27FC236}">
                  <a16:creationId xmlns:a16="http://schemas.microsoft.com/office/drawing/2014/main" id="{1380A974-3590-4E24-0D90-9C1D04DFB21C}"/>
                </a:ext>
              </a:extLst>
            </p:cNvPr>
            <p:cNvSpPr/>
            <p:nvPr/>
          </p:nvSpPr>
          <p:spPr>
            <a:xfrm>
              <a:off x="4692967" y="2860143"/>
              <a:ext cx="182880" cy="243840"/>
            </a:xfrm>
            <a:prstGeom prst="triangl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等腰三角形 32">
              <a:extLst>
                <a:ext uri="{FF2B5EF4-FFF2-40B4-BE49-F238E27FC236}">
                  <a16:creationId xmlns:a16="http://schemas.microsoft.com/office/drawing/2014/main" id="{B579E0AD-1FEA-14EE-853B-370010FE7F0A}"/>
                </a:ext>
              </a:extLst>
            </p:cNvPr>
            <p:cNvSpPr/>
            <p:nvPr/>
          </p:nvSpPr>
          <p:spPr>
            <a:xfrm>
              <a:off x="4909185" y="2575560"/>
              <a:ext cx="182880" cy="243840"/>
            </a:xfrm>
            <a:prstGeom prst="triangl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11E794E0-546D-EE3A-2C9E-3BC8D6037A00}"/>
                </a:ext>
              </a:extLst>
            </p:cNvPr>
            <p:cNvSpPr/>
            <p:nvPr/>
          </p:nvSpPr>
          <p:spPr>
            <a:xfrm>
              <a:off x="1592580" y="1844040"/>
              <a:ext cx="1355408" cy="1344930"/>
            </a:xfrm>
            <a:prstGeom prst="ellipse">
              <a:avLst/>
            </a:prstGeom>
            <a:noFill/>
            <a:ln>
              <a:solidFill>
                <a:srgbClr val="00B050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CD2B8184-2AA0-7B17-7594-7D8B5B0DAD72}"/>
                </a:ext>
              </a:extLst>
            </p:cNvPr>
            <p:cNvSpPr/>
            <p:nvPr/>
          </p:nvSpPr>
          <p:spPr>
            <a:xfrm>
              <a:off x="5995035" y="1889760"/>
              <a:ext cx="1285875" cy="1314450"/>
            </a:xfrm>
            <a:prstGeom prst="ellipse">
              <a:avLst/>
            </a:prstGeom>
            <a:noFill/>
            <a:ln>
              <a:solidFill>
                <a:srgbClr val="7030A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9A4C2EA6-CFAB-D618-E28B-CB8019B9E555}"/>
                </a:ext>
              </a:extLst>
            </p:cNvPr>
            <p:cNvCxnSpPr>
              <a:cxnSpLocks/>
              <a:stCxn id="34" idx="6"/>
              <a:endCxn id="38" idx="2"/>
            </p:cNvCxnSpPr>
            <p:nvPr/>
          </p:nvCxnSpPr>
          <p:spPr>
            <a:xfrm flipV="1">
              <a:off x="2947988" y="2499360"/>
              <a:ext cx="621746" cy="17145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56759229-8265-D92B-7C83-1F21ED4C68D1}"/>
                </a:ext>
              </a:extLst>
            </p:cNvPr>
            <p:cNvCxnSpPr>
              <a:cxnSpLocks/>
              <a:stCxn id="35" idx="2"/>
              <a:endCxn id="38" idx="6"/>
            </p:cNvCxnSpPr>
            <p:nvPr/>
          </p:nvCxnSpPr>
          <p:spPr>
            <a:xfrm flipH="1" flipV="1">
              <a:off x="5335667" y="2499360"/>
              <a:ext cx="659368" cy="47625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D33D6DDE-BB2F-57A8-A283-B1AA8C81F171}"/>
                </a:ext>
              </a:extLst>
            </p:cNvPr>
            <p:cNvSpPr/>
            <p:nvPr/>
          </p:nvSpPr>
          <p:spPr>
            <a:xfrm>
              <a:off x="3569734" y="1508760"/>
              <a:ext cx="1765933" cy="1981199"/>
            </a:xfrm>
            <a:prstGeom prst="ellipse">
              <a:avLst/>
            </a:prstGeom>
            <a:noFill/>
            <a:ln>
              <a:solidFill>
                <a:srgbClr val="00B0F0"/>
              </a:solidFill>
              <a:prstDash val="lg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1F0695D-8287-DD86-50B2-0E31864C7E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44090" y="3062702"/>
              <a:ext cx="0" cy="967477"/>
            </a:xfrm>
            <a:prstGeom prst="line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C255FF47-C8AD-78B1-209C-E1EEC13B19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29658" y="3112682"/>
              <a:ext cx="0" cy="91749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1A7D6CEB-D481-DE48-A326-C2B321A9BD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84432" y="2918460"/>
              <a:ext cx="16193" cy="112014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4DAFBB09-B70F-5835-1C34-2B04E2080A95}"/>
                </a:ext>
              </a:extLst>
            </p:cNvPr>
            <p:cNvSpPr/>
            <p:nvPr/>
          </p:nvSpPr>
          <p:spPr>
            <a:xfrm rot="4495631">
              <a:off x="3326106" y="2281585"/>
              <a:ext cx="1540883" cy="692777"/>
            </a:xfrm>
            <a:prstGeom prst="ellipse">
              <a:avLst/>
            </a:prstGeom>
            <a:noFill/>
            <a:ln>
              <a:solidFill>
                <a:srgbClr val="7F3F00"/>
              </a:solidFill>
              <a:prstDash val="lg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E1B5FDE7-D992-39A6-6AD7-297CBBE8049C}"/>
                </a:ext>
              </a:extLst>
            </p:cNvPr>
            <p:cNvSpPr/>
            <p:nvPr/>
          </p:nvSpPr>
          <p:spPr>
            <a:xfrm rot="6170051">
              <a:off x="4168091" y="2286993"/>
              <a:ext cx="1459515" cy="629846"/>
            </a:xfrm>
            <a:prstGeom prst="ellipse">
              <a:avLst/>
            </a:prstGeom>
            <a:noFill/>
            <a:ln>
              <a:solidFill>
                <a:srgbClr val="002060"/>
              </a:solidFill>
              <a:prstDash val="lg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39C9DB3D-3196-2D93-2A9D-F0787F5479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80644" y="3079305"/>
              <a:ext cx="18925" cy="923735"/>
            </a:xfrm>
            <a:prstGeom prst="line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1932A626-A4FC-77AE-422A-260168B58A9E}"/>
                </a:ext>
              </a:extLst>
            </p:cNvPr>
            <p:cNvCxnSpPr>
              <a:cxnSpLocks/>
            </p:cNvCxnSpPr>
            <p:nvPr/>
          </p:nvCxnSpPr>
          <p:spPr>
            <a:xfrm>
              <a:off x="2280126" y="3571430"/>
              <a:ext cx="2687880" cy="0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7FF0202C-9CFA-B688-95EC-833867233FEC}"/>
                </a:ext>
              </a:extLst>
            </p:cNvPr>
            <p:cNvCxnSpPr>
              <a:cxnSpLocks/>
            </p:cNvCxnSpPr>
            <p:nvPr/>
          </p:nvCxnSpPr>
          <p:spPr>
            <a:xfrm>
              <a:off x="2280126" y="3942080"/>
              <a:ext cx="1936355" cy="0"/>
            </a:xfrm>
            <a:prstGeom prst="straightConnector1">
              <a:avLst/>
            </a:prstGeom>
            <a:ln w="12700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19699CA8-4C9A-BB79-3581-2368495845E0}"/>
                </a:ext>
              </a:extLst>
            </p:cNvPr>
            <p:cNvGrpSpPr/>
            <p:nvPr/>
          </p:nvGrpSpPr>
          <p:grpSpPr>
            <a:xfrm>
              <a:off x="5245447" y="3429000"/>
              <a:ext cx="1399102" cy="504568"/>
              <a:chOff x="1576308" y="4116224"/>
              <a:chExt cx="1399102" cy="504568"/>
            </a:xfrm>
          </p:grpSpPr>
          <p:cxnSp>
            <p:nvCxnSpPr>
              <p:cNvPr id="51" name="直接箭头连接符 50">
                <a:extLst>
                  <a:ext uri="{FF2B5EF4-FFF2-40B4-BE49-F238E27FC236}">
                    <a16:creationId xmlns:a16="http://schemas.microsoft.com/office/drawing/2014/main" id="{DD2EB38C-E134-8CA1-8F3B-64AC05267B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76308" y="4466903"/>
                <a:ext cx="436404" cy="0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箭头连接符 51">
                <a:extLst>
                  <a:ext uri="{FF2B5EF4-FFF2-40B4-BE49-F238E27FC236}">
                    <a16:creationId xmlns:a16="http://schemas.microsoft.com/office/drawing/2014/main" id="{11CA8A39-5CB0-76F8-0C91-E19E38774F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76308" y="4247657"/>
                <a:ext cx="436404" cy="0"/>
              </a:xfrm>
              <a:prstGeom prst="straightConnector1">
                <a:avLst/>
              </a:prstGeom>
              <a:ln w="12700">
                <a:solidFill>
                  <a:schemeClr val="accent2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2187A0F7-6E14-CDD8-BD21-278B19B6C7CD}"/>
                  </a:ext>
                </a:extLst>
              </p:cNvPr>
              <p:cNvSpPr txBox="1"/>
              <p:nvPr/>
            </p:nvSpPr>
            <p:spPr>
              <a:xfrm>
                <a:off x="1979493" y="4116224"/>
                <a:ext cx="98631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Pull  close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DCC19A7B-E48D-9B3F-9C73-02DCBE97492B}"/>
                  </a:ext>
                </a:extLst>
              </p:cNvPr>
              <p:cNvSpPr txBox="1"/>
              <p:nvPr/>
            </p:nvSpPr>
            <p:spPr>
              <a:xfrm>
                <a:off x="1979493" y="4313015"/>
                <a:ext cx="99591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Push away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AAA90334-DAAF-CD02-CA51-4F5D3800AA05}"/>
                </a:ext>
              </a:extLst>
            </p:cNvPr>
            <p:cNvSpPr txBox="1"/>
            <p:nvPr/>
          </p:nvSpPr>
          <p:spPr>
            <a:xfrm>
              <a:off x="1588321" y="1468144"/>
              <a:ext cx="141858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VIS </a:t>
              </a:r>
              <a:r>
                <a:rPr lang="en-US" altLang="zh-CN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Features</a:t>
              </a:r>
              <a:endPara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48F2C5BB-8E46-17F8-429C-5A4D89760EE1}"/>
                </a:ext>
              </a:extLst>
            </p:cNvPr>
            <p:cNvSpPr txBox="1"/>
            <p:nvPr/>
          </p:nvSpPr>
          <p:spPr>
            <a:xfrm>
              <a:off x="6057238" y="1472803"/>
              <a:ext cx="141858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IR </a:t>
              </a:r>
              <a:r>
                <a:rPr lang="en-US" altLang="zh-CN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Features</a:t>
              </a:r>
              <a:endPara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9CE457CE-D2BA-BA0E-0D08-8F3FE36672ED}"/>
                </a:ext>
              </a:extLst>
            </p:cNvPr>
            <p:cNvSpPr txBox="1"/>
            <p:nvPr/>
          </p:nvSpPr>
          <p:spPr>
            <a:xfrm>
              <a:off x="3835296" y="1133809"/>
              <a:ext cx="1418581" cy="3492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Public Area</a:t>
              </a:r>
              <a:endPara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55" name="文本框 54">
            <a:extLst>
              <a:ext uri="{FF2B5EF4-FFF2-40B4-BE49-F238E27FC236}">
                <a16:creationId xmlns:a16="http://schemas.microsoft.com/office/drawing/2014/main" id="{820629CE-7476-FB78-8368-A05FE57182EB}"/>
              </a:ext>
            </a:extLst>
          </p:cNvPr>
          <p:cNvSpPr txBox="1"/>
          <p:nvPr/>
        </p:nvSpPr>
        <p:spPr>
          <a:xfrm>
            <a:off x="447857" y="1331206"/>
            <a:ext cx="108892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研究点一：行人重识别跨模态差异消解</a:t>
            </a:r>
            <a:endParaRPr lang="en-US" altLang="zh-CN" sz="3200" dirty="0"/>
          </a:p>
          <a:p>
            <a:endParaRPr lang="zh-CN" altLang="en-US" sz="3200" dirty="0"/>
          </a:p>
          <a:p>
            <a:r>
              <a:rPr lang="en-US" altLang="zh-CN" sz="3200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     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从模态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方面解决特征一致性</a:t>
            </a:r>
            <a:endParaRPr lang="zh-CN" altLang="en-US" sz="2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C6DDD16-8980-4BB1-D251-D1A41FD056D7}"/>
              </a:ext>
            </a:extLst>
          </p:cNvPr>
          <p:cNvSpPr txBox="1"/>
          <p:nvPr/>
        </p:nvSpPr>
        <p:spPr>
          <a:xfrm>
            <a:off x="7148774" y="3250981"/>
            <a:ext cx="37636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传统思路</a:t>
            </a:r>
            <a:r>
              <a:rPr lang="zh-CN" altLang="en-US" dirty="0"/>
              <a:t>： 直接对齐，忽略了模态差异与背景噪声带来的干扰导致的判别性信息表达不足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3171DD4-8D29-D164-768A-5D235D195ACA}"/>
              </a:ext>
            </a:extLst>
          </p:cNvPr>
          <p:cNvSpPr txBox="1"/>
          <p:nvPr/>
        </p:nvSpPr>
        <p:spPr>
          <a:xfrm>
            <a:off x="7148774" y="4687190"/>
            <a:ext cx="40726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我们的思路</a:t>
            </a:r>
            <a:r>
              <a:rPr lang="zh-CN" altLang="en-US" dirty="0"/>
              <a:t>： 更加注重纹理特征对匹配的重要性。提出从增强到修复的匹配结构来帮助成功匹配</a:t>
            </a:r>
          </a:p>
        </p:txBody>
      </p:sp>
    </p:spTree>
    <p:extLst>
      <p:ext uri="{BB962C8B-B14F-4D97-AF65-F5344CB8AC3E}">
        <p14:creationId xmlns:p14="http://schemas.microsoft.com/office/powerpoint/2010/main" val="1064210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84B725B-95A4-4195-AF77-F28ADCF3C328}"/>
              </a:ext>
            </a:extLst>
          </p:cNvPr>
          <p:cNvSpPr txBox="1"/>
          <p:nvPr/>
        </p:nvSpPr>
        <p:spPr>
          <a:xfrm>
            <a:off x="2858609" y="1731146"/>
            <a:ext cx="77768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>
                <a:solidFill>
                  <a:schemeClr val="accent1">
                    <a:lumMod val="75000"/>
                  </a:schemeClr>
                </a:solidFill>
              </a:rPr>
              <a:t>研究内容</a:t>
            </a:r>
          </a:p>
        </p:txBody>
      </p:sp>
    </p:spTree>
    <p:extLst>
      <p:ext uri="{BB962C8B-B14F-4D97-AF65-F5344CB8AC3E}">
        <p14:creationId xmlns:p14="http://schemas.microsoft.com/office/powerpoint/2010/main" val="1262573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0BFD1-2D79-6B4F-6FD3-498AC9DAC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DE9C527-FC23-CEC1-F3B4-2343E21E89B0}"/>
              </a:ext>
            </a:extLst>
          </p:cNvPr>
          <p:cNvGrpSpPr/>
          <p:nvPr/>
        </p:nvGrpSpPr>
        <p:grpSpPr>
          <a:xfrm>
            <a:off x="322730" y="339134"/>
            <a:ext cx="8118537" cy="860611"/>
            <a:chOff x="322730" y="339134"/>
            <a:chExt cx="8118537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BD9CB49D-F87E-A0E8-E97F-1E44AF1F2FA1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5E1567C0-0E98-3681-8774-C524FA1797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966D91D3-E0BE-D46A-1A06-C67DE41A57D4}"/>
                </a:ext>
              </a:extLst>
            </p:cNvPr>
            <p:cNvSpPr txBox="1"/>
            <p:nvPr/>
          </p:nvSpPr>
          <p:spPr>
            <a:xfrm>
              <a:off x="1129553" y="384720"/>
              <a:ext cx="7311714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dirty="0">
                  <a:solidFill>
                    <a:schemeClr val="accent1">
                      <a:lumMod val="75000"/>
                    </a:schemeClr>
                  </a:solidFill>
                </a:rPr>
                <a:t>行人重识别跨模态差异消解</a:t>
              </a:r>
            </a:p>
          </p:txBody>
        </p:sp>
      </p:grp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8E84267-5EC9-F810-EA5A-A6BC717EE4E1}"/>
              </a:ext>
            </a:extLst>
          </p:cNvPr>
          <p:cNvSpPr/>
          <p:nvPr/>
        </p:nvSpPr>
        <p:spPr>
          <a:xfrm>
            <a:off x="322730" y="3429000"/>
            <a:ext cx="1735667" cy="575734"/>
          </a:xfrm>
          <a:prstGeom prst="roundRect">
            <a:avLst/>
          </a:prstGeom>
          <a:gradFill flip="none" rotWithShape="1">
            <a:gsLst>
              <a:gs pos="0">
                <a:srgbClr val="009EDE">
                  <a:tint val="66000"/>
                  <a:satMod val="160000"/>
                </a:srgbClr>
              </a:gs>
              <a:gs pos="50000">
                <a:srgbClr val="009EDE">
                  <a:tint val="44500"/>
                  <a:satMod val="160000"/>
                </a:srgbClr>
              </a:gs>
              <a:gs pos="100000">
                <a:srgbClr val="009EDE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输入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4596E37-AC53-C92B-3166-E4B955792ACE}"/>
              </a:ext>
            </a:extLst>
          </p:cNvPr>
          <p:cNvSpPr/>
          <p:nvPr/>
        </p:nvSpPr>
        <p:spPr>
          <a:xfrm>
            <a:off x="2840197" y="2625266"/>
            <a:ext cx="1735667" cy="575734"/>
          </a:xfrm>
          <a:prstGeom prst="roundRect">
            <a:avLst/>
          </a:prstGeom>
          <a:gradFill flip="none" rotWithShape="1">
            <a:gsLst>
              <a:gs pos="0">
                <a:srgbClr val="009EDE">
                  <a:tint val="66000"/>
                  <a:satMod val="160000"/>
                </a:srgbClr>
              </a:gs>
              <a:gs pos="50000">
                <a:srgbClr val="009EDE">
                  <a:tint val="44500"/>
                  <a:satMod val="160000"/>
                </a:srgbClr>
              </a:gs>
              <a:gs pos="100000">
                <a:srgbClr val="009EDE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红外弥合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BB31BFD-7AAF-A5A1-8FFF-0445AE1E402F}"/>
              </a:ext>
            </a:extLst>
          </p:cNvPr>
          <p:cNvSpPr/>
          <p:nvPr/>
        </p:nvSpPr>
        <p:spPr>
          <a:xfrm>
            <a:off x="2840197" y="4130239"/>
            <a:ext cx="1735667" cy="575734"/>
          </a:xfrm>
          <a:prstGeom prst="roundRect">
            <a:avLst/>
          </a:prstGeom>
          <a:gradFill flip="none" rotWithShape="1">
            <a:gsLst>
              <a:gs pos="0">
                <a:srgbClr val="009EDE">
                  <a:tint val="66000"/>
                  <a:satMod val="160000"/>
                </a:srgbClr>
              </a:gs>
              <a:gs pos="50000">
                <a:srgbClr val="009EDE">
                  <a:tint val="44500"/>
                  <a:satMod val="160000"/>
                </a:srgbClr>
              </a:gs>
              <a:gs pos="100000">
                <a:srgbClr val="009EDE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特征增强</a:t>
            </a:r>
          </a:p>
        </p:txBody>
      </p: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83F25A15-2F88-252A-1B04-3121910E8797}"/>
              </a:ext>
            </a:extLst>
          </p:cNvPr>
          <p:cNvCxnSpPr>
            <a:cxnSpLocks/>
          </p:cNvCxnSpPr>
          <p:nvPr/>
        </p:nvCxnSpPr>
        <p:spPr>
          <a:xfrm flipV="1">
            <a:off x="2097929" y="2913133"/>
            <a:ext cx="702735" cy="4539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02D559FA-02B4-1399-2409-FDCA2482B67E}"/>
              </a:ext>
            </a:extLst>
          </p:cNvPr>
          <p:cNvCxnSpPr>
            <a:cxnSpLocks/>
          </p:cNvCxnSpPr>
          <p:nvPr/>
        </p:nvCxnSpPr>
        <p:spPr>
          <a:xfrm>
            <a:off x="2106706" y="4004734"/>
            <a:ext cx="702735" cy="41337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>
            <a:extLst>
              <a:ext uri="{FF2B5EF4-FFF2-40B4-BE49-F238E27FC236}">
                <a16:creationId xmlns:a16="http://schemas.microsoft.com/office/drawing/2014/main" id="{B91FBBFE-68FB-6BAB-8628-7F971FDADF80}"/>
              </a:ext>
            </a:extLst>
          </p:cNvPr>
          <p:cNvSpPr/>
          <p:nvPr/>
        </p:nvSpPr>
        <p:spPr>
          <a:xfrm>
            <a:off x="2522696" y="2437468"/>
            <a:ext cx="2370667" cy="3184399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0335AD2D-285E-5E59-71A5-3476D5CC8849}"/>
              </a:ext>
            </a:extLst>
          </p:cNvPr>
          <p:cNvCxnSpPr>
            <a:stCxn id="7" idx="3"/>
          </p:cNvCxnSpPr>
          <p:nvPr/>
        </p:nvCxnSpPr>
        <p:spPr>
          <a:xfrm>
            <a:off x="4575864" y="2913133"/>
            <a:ext cx="54646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084C08B7-8F13-4C84-32D1-B08DF04DE5DD}"/>
              </a:ext>
            </a:extLst>
          </p:cNvPr>
          <p:cNvCxnSpPr>
            <a:cxnSpLocks/>
          </p:cNvCxnSpPr>
          <p:nvPr/>
        </p:nvCxnSpPr>
        <p:spPr>
          <a:xfrm>
            <a:off x="5126884" y="2897351"/>
            <a:ext cx="11854" cy="154129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718B4EF8-8BA0-082A-E2BF-DA106A840BCD}"/>
              </a:ext>
            </a:extLst>
          </p:cNvPr>
          <p:cNvCxnSpPr>
            <a:stCxn id="24" idx="3"/>
          </p:cNvCxnSpPr>
          <p:nvPr/>
        </p:nvCxnSpPr>
        <p:spPr>
          <a:xfrm>
            <a:off x="4575864" y="4418106"/>
            <a:ext cx="54646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DD0D0C42-CA3E-0767-0735-ACA314DF301B}"/>
              </a:ext>
            </a:extLst>
          </p:cNvPr>
          <p:cNvCxnSpPr>
            <a:cxnSpLocks/>
          </p:cNvCxnSpPr>
          <p:nvPr/>
        </p:nvCxnSpPr>
        <p:spPr>
          <a:xfrm>
            <a:off x="5122333" y="3665619"/>
            <a:ext cx="64600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DAAA97C7-7E97-5513-A917-5856E5B71379}"/>
              </a:ext>
            </a:extLst>
          </p:cNvPr>
          <p:cNvCxnSpPr>
            <a:cxnSpLocks/>
          </p:cNvCxnSpPr>
          <p:nvPr/>
        </p:nvCxnSpPr>
        <p:spPr>
          <a:xfrm flipV="1">
            <a:off x="5445336" y="1700335"/>
            <a:ext cx="0" cy="197480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936D63CB-ADA2-68E0-50C8-9B13046B6868}"/>
              </a:ext>
            </a:extLst>
          </p:cNvPr>
          <p:cNvCxnSpPr/>
          <p:nvPr/>
        </p:nvCxnSpPr>
        <p:spPr>
          <a:xfrm>
            <a:off x="5445336" y="2625266"/>
            <a:ext cx="32300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5BE1C227-C0BD-A1D6-4724-2DBA48C1C28F}"/>
              </a:ext>
            </a:extLst>
          </p:cNvPr>
          <p:cNvCxnSpPr/>
          <p:nvPr/>
        </p:nvCxnSpPr>
        <p:spPr>
          <a:xfrm>
            <a:off x="5445336" y="1722120"/>
            <a:ext cx="32300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E4E146C6-F676-7AD8-6473-993D441AA540}"/>
              </a:ext>
            </a:extLst>
          </p:cNvPr>
          <p:cNvSpPr/>
          <p:nvPr/>
        </p:nvSpPr>
        <p:spPr>
          <a:xfrm>
            <a:off x="5878831" y="1457913"/>
            <a:ext cx="1735667" cy="575734"/>
          </a:xfrm>
          <a:prstGeom prst="roundRect">
            <a:avLst/>
          </a:prstGeom>
          <a:gradFill flip="none" rotWithShape="1">
            <a:gsLst>
              <a:gs pos="0">
                <a:srgbClr val="009EDE">
                  <a:tint val="66000"/>
                  <a:satMod val="160000"/>
                </a:srgbClr>
              </a:gs>
              <a:gs pos="50000">
                <a:srgbClr val="009EDE">
                  <a:tint val="44500"/>
                  <a:satMod val="160000"/>
                </a:srgbClr>
              </a:gs>
              <a:gs pos="100000">
                <a:srgbClr val="009EDE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1.</a:t>
            </a:r>
            <a:r>
              <a:rPr lang="zh-CN" altLang="en-US" dirty="0">
                <a:solidFill>
                  <a:schemeClr val="tx1"/>
                </a:solidFill>
              </a:rPr>
              <a:t>通道合并</a:t>
            </a:r>
          </a:p>
        </p:txBody>
      </p:sp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2934F879-6216-3A93-0961-A4DCD3F8F5D0}"/>
              </a:ext>
            </a:extLst>
          </p:cNvPr>
          <p:cNvSpPr/>
          <p:nvPr/>
        </p:nvSpPr>
        <p:spPr>
          <a:xfrm>
            <a:off x="5878831" y="2406002"/>
            <a:ext cx="1735667" cy="575734"/>
          </a:xfrm>
          <a:prstGeom prst="roundRect">
            <a:avLst/>
          </a:prstGeom>
          <a:gradFill flip="none" rotWithShape="1">
            <a:gsLst>
              <a:gs pos="0">
                <a:srgbClr val="009EDE">
                  <a:tint val="66000"/>
                  <a:satMod val="160000"/>
                </a:srgbClr>
              </a:gs>
              <a:gs pos="50000">
                <a:srgbClr val="009EDE">
                  <a:tint val="44500"/>
                  <a:satMod val="160000"/>
                </a:srgbClr>
              </a:gs>
              <a:gs pos="100000">
                <a:srgbClr val="009EDE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2.</a:t>
            </a:r>
            <a:r>
              <a:rPr lang="zh-CN" altLang="en-US" dirty="0">
                <a:solidFill>
                  <a:schemeClr val="tx1"/>
                </a:solidFill>
              </a:rPr>
              <a:t>尺度变换</a:t>
            </a:r>
          </a:p>
        </p:txBody>
      </p:sp>
      <p:sp>
        <p:nvSpPr>
          <p:cNvPr id="90" name="矩形: 圆角 89">
            <a:extLst>
              <a:ext uri="{FF2B5EF4-FFF2-40B4-BE49-F238E27FC236}">
                <a16:creationId xmlns:a16="http://schemas.microsoft.com/office/drawing/2014/main" id="{AA50BB9F-AC8B-49F5-6ABA-08A3437D6EE1}"/>
              </a:ext>
            </a:extLst>
          </p:cNvPr>
          <p:cNvSpPr/>
          <p:nvPr/>
        </p:nvSpPr>
        <p:spPr>
          <a:xfrm>
            <a:off x="5878831" y="3354091"/>
            <a:ext cx="1735667" cy="575734"/>
          </a:xfrm>
          <a:prstGeom prst="roundRect">
            <a:avLst/>
          </a:prstGeom>
          <a:gradFill flip="none" rotWithShape="1">
            <a:gsLst>
              <a:gs pos="0">
                <a:srgbClr val="009EDE">
                  <a:tint val="66000"/>
                  <a:satMod val="160000"/>
                </a:srgbClr>
              </a:gs>
              <a:gs pos="50000">
                <a:srgbClr val="009EDE">
                  <a:tint val="44500"/>
                  <a:satMod val="160000"/>
                </a:srgbClr>
              </a:gs>
              <a:gs pos="100000">
                <a:srgbClr val="009EDE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3.</a:t>
            </a:r>
            <a:r>
              <a:rPr lang="zh-CN" altLang="en-US" dirty="0">
                <a:solidFill>
                  <a:schemeClr val="tx1"/>
                </a:solidFill>
              </a:rPr>
              <a:t>空间与通道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05FAE98D-FA85-0FCC-A219-82CB6814E94E}"/>
              </a:ext>
            </a:extLst>
          </p:cNvPr>
          <p:cNvSpPr/>
          <p:nvPr/>
        </p:nvSpPr>
        <p:spPr>
          <a:xfrm>
            <a:off x="5580801" y="1352120"/>
            <a:ext cx="5300560" cy="1745539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76749FC2-0BDD-F28C-9104-9CF4740D3CA0}"/>
              </a:ext>
            </a:extLst>
          </p:cNvPr>
          <p:cNvCxnSpPr>
            <a:cxnSpLocks/>
            <a:stCxn id="88" idx="3"/>
          </p:cNvCxnSpPr>
          <p:nvPr/>
        </p:nvCxnSpPr>
        <p:spPr>
          <a:xfrm>
            <a:off x="7614498" y="1745780"/>
            <a:ext cx="529377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C2FA2A6A-A476-6455-1EBA-7B36B99B9C26}"/>
              </a:ext>
            </a:extLst>
          </p:cNvPr>
          <p:cNvCxnSpPr>
            <a:cxnSpLocks/>
          </p:cNvCxnSpPr>
          <p:nvPr/>
        </p:nvCxnSpPr>
        <p:spPr>
          <a:xfrm>
            <a:off x="8143875" y="1722120"/>
            <a:ext cx="0" cy="379626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D98A163E-C7CB-44EA-C998-192AA41C1A64}"/>
              </a:ext>
            </a:extLst>
          </p:cNvPr>
          <p:cNvCxnSpPr>
            <a:cxnSpLocks/>
            <a:stCxn id="89" idx="3"/>
          </p:cNvCxnSpPr>
          <p:nvPr/>
        </p:nvCxnSpPr>
        <p:spPr>
          <a:xfrm>
            <a:off x="7614498" y="2693869"/>
            <a:ext cx="529377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直接连接符 100">
            <a:extLst>
              <a:ext uri="{FF2B5EF4-FFF2-40B4-BE49-F238E27FC236}">
                <a16:creationId xmlns:a16="http://schemas.microsoft.com/office/drawing/2014/main" id="{121B72FE-C7D5-33D1-CF49-99507E25E4F2}"/>
              </a:ext>
            </a:extLst>
          </p:cNvPr>
          <p:cNvCxnSpPr>
            <a:cxnSpLocks/>
          </p:cNvCxnSpPr>
          <p:nvPr/>
        </p:nvCxnSpPr>
        <p:spPr>
          <a:xfrm>
            <a:off x="7614498" y="3654388"/>
            <a:ext cx="529377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椭圆 101">
            <a:extLst>
              <a:ext uri="{FF2B5EF4-FFF2-40B4-BE49-F238E27FC236}">
                <a16:creationId xmlns:a16="http://schemas.microsoft.com/office/drawing/2014/main" id="{C84B89ED-5C62-13F2-6277-28ACAFF76FB4}"/>
              </a:ext>
            </a:extLst>
          </p:cNvPr>
          <p:cNvSpPr/>
          <p:nvPr/>
        </p:nvSpPr>
        <p:spPr>
          <a:xfrm>
            <a:off x="4993219" y="4914905"/>
            <a:ext cx="2621279" cy="1173469"/>
          </a:xfrm>
          <a:prstGeom prst="ellipse">
            <a:avLst/>
          </a:prstGeom>
          <a:gradFill flip="none" rotWithShape="1">
            <a:gsLst>
              <a:gs pos="0">
                <a:srgbClr val="009EDE">
                  <a:tint val="66000"/>
                  <a:satMod val="160000"/>
                </a:srgbClr>
              </a:gs>
              <a:gs pos="50000">
                <a:srgbClr val="009EDE">
                  <a:tint val="44500"/>
                  <a:satMod val="160000"/>
                </a:srgbClr>
              </a:gs>
              <a:gs pos="100000">
                <a:srgbClr val="009EDE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公共空间</a:t>
            </a:r>
          </a:p>
        </p:txBody>
      </p: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34EBD48E-A7FA-9D95-8C42-6F9402867B7E}"/>
              </a:ext>
            </a:extLst>
          </p:cNvPr>
          <p:cNvCxnSpPr>
            <a:endCxn id="102" idx="6"/>
          </p:cNvCxnSpPr>
          <p:nvPr/>
        </p:nvCxnSpPr>
        <p:spPr>
          <a:xfrm flipH="1">
            <a:off x="7614498" y="5501640"/>
            <a:ext cx="52937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CB5DA13D-9EFD-C6DF-78ED-EE44189BCD58}"/>
              </a:ext>
            </a:extLst>
          </p:cNvPr>
          <p:cNvCxnSpPr>
            <a:cxnSpLocks/>
          </p:cNvCxnSpPr>
          <p:nvPr/>
        </p:nvCxnSpPr>
        <p:spPr>
          <a:xfrm flipH="1">
            <a:off x="7377113" y="4560599"/>
            <a:ext cx="1004147" cy="5195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矩形: 圆角 109">
            <a:extLst>
              <a:ext uri="{FF2B5EF4-FFF2-40B4-BE49-F238E27FC236}">
                <a16:creationId xmlns:a16="http://schemas.microsoft.com/office/drawing/2014/main" id="{383B6699-1227-E209-4C3F-36EFB81A9C96}"/>
              </a:ext>
            </a:extLst>
          </p:cNvPr>
          <p:cNvSpPr/>
          <p:nvPr/>
        </p:nvSpPr>
        <p:spPr>
          <a:xfrm>
            <a:off x="8441267" y="4290393"/>
            <a:ext cx="1735667" cy="575734"/>
          </a:xfrm>
          <a:prstGeom prst="roundRect">
            <a:avLst/>
          </a:prstGeom>
          <a:gradFill flip="none" rotWithShape="1">
            <a:gsLst>
              <a:gs pos="0">
                <a:srgbClr val="009EDE">
                  <a:tint val="66000"/>
                  <a:satMod val="160000"/>
                </a:srgbClr>
              </a:gs>
              <a:gs pos="50000">
                <a:srgbClr val="009EDE">
                  <a:tint val="44500"/>
                  <a:satMod val="160000"/>
                </a:srgbClr>
              </a:gs>
              <a:gs pos="100000">
                <a:srgbClr val="009EDE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度量学习监督</a:t>
            </a:r>
          </a:p>
        </p:txBody>
      </p:sp>
      <p:pic>
        <p:nvPicPr>
          <p:cNvPr id="111" name="图片 110">
            <a:extLst>
              <a:ext uri="{FF2B5EF4-FFF2-40B4-BE49-F238E27FC236}">
                <a16:creationId xmlns:a16="http://schemas.microsoft.com/office/drawing/2014/main" id="{8F6169A4-AC9C-D177-47CF-40854D37A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738" y="2147460"/>
            <a:ext cx="933688" cy="1235956"/>
          </a:xfrm>
          <a:prstGeom prst="rect">
            <a:avLst/>
          </a:prstGeom>
        </p:spPr>
      </p:pic>
      <p:pic>
        <p:nvPicPr>
          <p:cNvPr id="112" name="图片 111">
            <a:extLst>
              <a:ext uri="{FF2B5EF4-FFF2-40B4-BE49-F238E27FC236}">
                <a16:creationId xmlns:a16="http://schemas.microsoft.com/office/drawing/2014/main" id="{364D1EFB-AB7E-1F22-A574-1010D477D8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738" y="4050318"/>
            <a:ext cx="933688" cy="1235956"/>
          </a:xfrm>
          <a:prstGeom prst="rect">
            <a:avLst/>
          </a:prstGeom>
        </p:spPr>
      </p:pic>
      <p:sp>
        <p:nvSpPr>
          <p:cNvPr id="113" name="椭圆 112">
            <a:extLst>
              <a:ext uri="{FF2B5EF4-FFF2-40B4-BE49-F238E27FC236}">
                <a16:creationId xmlns:a16="http://schemas.microsoft.com/office/drawing/2014/main" id="{A26DA192-F12D-208F-842B-D8F9639B23B2}"/>
              </a:ext>
            </a:extLst>
          </p:cNvPr>
          <p:cNvSpPr/>
          <p:nvPr/>
        </p:nvSpPr>
        <p:spPr>
          <a:xfrm>
            <a:off x="726141" y="2033647"/>
            <a:ext cx="302559" cy="2980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椭圆 113">
            <a:extLst>
              <a:ext uri="{FF2B5EF4-FFF2-40B4-BE49-F238E27FC236}">
                <a16:creationId xmlns:a16="http://schemas.microsoft.com/office/drawing/2014/main" id="{9F4C14CE-1EE7-8B8E-A3AA-AC46674D8187}"/>
              </a:ext>
            </a:extLst>
          </p:cNvPr>
          <p:cNvSpPr/>
          <p:nvPr/>
        </p:nvSpPr>
        <p:spPr>
          <a:xfrm>
            <a:off x="826993" y="4033058"/>
            <a:ext cx="302559" cy="2980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BFBF036A-9AA2-6046-7710-54727E40EC0D}"/>
              </a:ext>
            </a:extLst>
          </p:cNvPr>
          <p:cNvSpPr txBox="1"/>
          <p:nvPr/>
        </p:nvSpPr>
        <p:spPr>
          <a:xfrm>
            <a:off x="2683818" y="4872054"/>
            <a:ext cx="2101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初步缩小模态初始分布差异</a:t>
            </a:r>
          </a:p>
        </p:txBody>
      </p:sp>
      <p:cxnSp>
        <p:nvCxnSpPr>
          <p:cNvPr id="119" name="连接符: 曲线 118">
            <a:extLst>
              <a:ext uri="{FF2B5EF4-FFF2-40B4-BE49-F238E27FC236}">
                <a16:creationId xmlns:a16="http://schemas.microsoft.com/office/drawing/2014/main" id="{890E6BDA-A7AA-1B5A-F21E-F3F924BCEC6B}"/>
              </a:ext>
            </a:extLst>
          </p:cNvPr>
          <p:cNvCxnSpPr>
            <a:cxnSpLocks/>
          </p:cNvCxnSpPr>
          <p:nvPr/>
        </p:nvCxnSpPr>
        <p:spPr>
          <a:xfrm>
            <a:off x="4657980" y="1639987"/>
            <a:ext cx="660242" cy="2001971"/>
          </a:xfrm>
          <a:prstGeom prst="curved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C795052B-0F3D-F8A6-9AA2-8BE7E383BACA}"/>
              </a:ext>
            </a:extLst>
          </p:cNvPr>
          <p:cNvSpPr/>
          <p:nvPr/>
        </p:nvSpPr>
        <p:spPr>
          <a:xfrm>
            <a:off x="2861890" y="1352120"/>
            <a:ext cx="1735667" cy="575734"/>
          </a:xfrm>
          <a:prstGeom prst="roundRect">
            <a:avLst/>
          </a:prstGeom>
          <a:gradFill flip="none" rotWithShape="1">
            <a:gsLst>
              <a:gs pos="0">
                <a:srgbClr val="009EDE">
                  <a:tint val="66000"/>
                  <a:satMod val="160000"/>
                </a:srgbClr>
              </a:gs>
              <a:gs pos="50000">
                <a:srgbClr val="009EDE">
                  <a:tint val="44500"/>
                  <a:satMod val="160000"/>
                </a:srgbClr>
              </a:gs>
              <a:gs pos="100000">
                <a:srgbClr val="009EDE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特征提取</a:t>
            </a: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07D035C9-62E8-255D-400B-67CBC74A61EB}"/>
              </a:ext>
            </a:extLst>
          </p:cNvPr>
          <p:cNvSpPr txBox="1"/>
          <p:nvPr/>
        </p:nvSpPr>
        <p:spPr>
          <a:xfrm>
            <a:off x="1784401" y="1423442"/>
            <a:ext cx="1645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先分后合</a:t>
            </a:r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B12EEB66-4F8F-ED40-37E6-23448D2C3B45}"/>
              </a:ext>
            </a:extLst>
          </p:cNvPr>
          <p:cNvSpPr txBox="1"/>
          <p:nvPr/>
        </p:nvSpPr>
        <p:spPr>
          <a:xfrm>
            <a:off x="8441267" y="3417848"/>
            <a:ext cx="317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串联依次强化</a:t>
            </a:r>
          </a:p>
        </p:txBody>
      </p:sp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A858490B-65EB-5A92-43A1-2036FD337923}"/>
              </a:ext>
            </a:extLst>
          </p:cNvPr>
          <p:cNvGrpSpPr/>
          <p:nvPr/>
        </p:nvGrpSpPr>
        <p:grpSpPr>
          <a:xfrm>
            <a:off x="7879186" y="1690810"/>
            <a:ext cx="3747713" cy="1161734"/>
            <a:chOff x="8279340" y="2033647"/>
            <a:chExt cx="3747713" cy="1161734"/>
          </a:xfrm>
        </p:grpSpPr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BE5FCEBF-5F01-7EC2-94B4-22FF4B267B2D}"/>
                </a:ext>
              </a:extLst>
            </p:cNvPr>
            <p:cNvSpPr txBox="1"/>
            <p:nvPr/>
          </p:nvSpPr>
          <p:spPr>
            <a:xfrm>
              <a:off x="8279340" y="2033647"/>
              <a:ext cx="31775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         1. </a:t>
              </a:r>
              <a:r>
                <a:rPr lang="zh-CN" altLang="en-US" dirty="0"/>
                <a:t>空间与纹理特征能力</a:t>
              </a:r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89B248D7-9D20-71C5-B8F5-FD6F16E8AEF9}"/>
                </a:ext>
              </a:extLst>
            </p:cNvPr>
            <p:cNvSpPr txBox="1"/>
            <p:nvPr/>
          </p:nvSpPr>
          <p:spPr>
            <a:xfrm>
              <a:off x="8849516" y="2429848"/>
              <a:ext cx="31775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2.</a:t>
              </a:r>
              <a:r>
                <a:rPr lang="zh-CN" altLang="en-US" dirty="0"/>
                <a:t>局部细粒度特征</a:t>
              </a:r>
            </a:p>
          </p:txBody>
        </p: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7912A068-FA42-C58A-8F93-0D0427C99F1A}"/>
                </a:ext>
              </a:extLst>
            </p:cNvPr>
            <p:cNvSpPr txBox="1"/>
            <p:nvPr/>
          </p:nvSpPr>
          <p:spPr>
            <a:xfrm>
              <a:off x="8849516" y="2826049"/>
              <a:ext cx="31775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3.</a:t>
              </a:r>
              <a:r>
                <a:rPr lang="zh-CN" altLang="en-US" dirty="0"/>
                <a:t>合并</a:t>
              </a:r>
            </a:p>
          </p:txBody>
        </p:sp>
      </p:grpSp>
      <p:sp>
        <p:nvSpPr>
          <p:cNvPr id="133" name="矩形 132">
            <a:extLst>
              <a:ext uri="{FF2B5EF4-FFF2-40B4-BE49-F238E27FC236}">
                <a16:creationId xmlns:a16="http://schemas.microsoft.com/office/drawing/2014/main" id="{C281E189-30F8-8A81-395A-F452F6A5FD32}"/>
              </a:ext>
            </a:extLst>
          </p:cNvPr>
          <p:cNvSpPr/>
          <p:nvPr/>
        </p:nvSpPr>
        <p:spPr>
          <a:xfrm>
            <a:off x="5580801" y="3277838"/>
            <a:ext cx="5300557" cy="804901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1456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AE12504-DEBD-4C1B-9BF9-6712F52677E7}"/>
              </a:ext>
            </a:extLst>
          </p:cNvPr>
          <p:cNvGrpSpPr/>
          <p:nvPr/>
        </p:nvGrpSpPr>
        <p:grpSpPr>
          <a:xfrm>
            <a:off x="322730" y="339134"/>
            <a:ext cx="7906971" cy="860611"/>
            <a:chOff x="322730" y="339134"/>
            <a:chExt cx="7906971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876FD67B-FF92-40E6-90FE-CF4C2316AEDC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EFE52BD2-8191-4D27-B8B6-182474EF8C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384F5AE-1080-43E6-980F-3576864CC119}"/>
                </a:ext>
              </a:extLst>
            </p:cNvPr>
            <p:cNvSpPr txBox="1"/>
            <p:nvPr/>
          </p:nvSpPr>
          <p:spPr>
            <a:xfrm>
              <a:off x="1129553" y="384720"/>
              <a:ext cx="710014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dirty="0">
                  <a:solidFill>
                    <a:schemeClr val="accent1">
                      <a:lumMod val="75000"/>
                    </a:schemeClr>
                  </a:solidFill>
                </a:rPr>
                <a:t>行人重识别跨模态差异消解</a:t>
              </a:r>
            </a:p>
          </p:txBody>
        </p:sp>
      </p:grpSp>
      <p:grpSp>
        <p:nvGrpSpPr>
          <p:cNvPr id="287" name="组合 286">
            <a:extLst>
              <a:ext uri="{FF2B5EF4-FFF2-40B4-BE49-F238E27FC236}">
                <a16:creationId xmlns:a16="http://schemas.microsoft.com/office/drawing/2014/main" id="{68524B14-4D2D-84E4-D0EB-0515689A24DF}"/>
              </a:ext>
            </a:extLst>
          </p:cNvPr>
          <p:cNvGrpSpPr/>
          <p:nvPr/>
        </p:nvGrpSpPr>
        <p:grpSpPr>
          <a:xfrm>
            <a:off x="322730" y="2180486"/>
            <a:ext cx="11597340" cy="2658818"/>
            <a:chOff x="211395" y="148485"/>
            <a:chExt cx="11769210" cy="2658818"/>
          </a:xfrm>
        </p:grpSpPr>
        <p:sp>
          <p:nvSpPr>
            <p:cNvPr id="288" name="矩形: 圆角 287">
              <a:extLst>
                <a:ext uri="{FF2B5EF4-FFF2-40B4-BE49-F238E27FC236}">
                  <a16:creationId xmlns:a16="http://schemas.microsoft.com/office/drawing/2014/main" id="{9CC53BC7-AEAB-01E6-C5EE-30DD75CE9588}"/>
                </a:ext>
              </a:extLst>
            </p:cNvPr>
            <p:cNvSpPr/>
            <p:nvPr/>
          </p:nvSpPr>
          <p:spPr>
            <a:xfrm>
              <a:off x="211395" y="148485"/>
              <a:ext cx="11769210" cy="2650108"/>
            </a:xfrm>
            <a:prstGeom prst="roundRect">
              <a:avLst/>
            </a:prstGeom>
            <a:noFill/>
            <a:ln w="3810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89" name="图片 288">
              <a:extLst>
                <a:ext uri="{FF2B5EF4-FFF2-40B4-BE49-F238E27FC236}">
                  <a16:creationId xmlns:a16="http://schemas.microsoft.com/office/drawing/2014/main" id="{D2495D8C-7930-B92B-E646-0789F4F2D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83206" y="684424"/>
              <a:ext cx="377252" cy="852953"/>
            </a:xfrm>
            <a:prstGeom prst="rect">
              <a:avLst/>
            </a:prstGeom>
          </p:spPr>
        </p:pic>
        <p:pic>
          <p:nvPicPr>
            <p:cNvPr id="290" name="图片 289">
              <a:extLst>
                <a:ext uri="{FF2B5EF4-FFF2-40B4-BE49-F238E27FC236}">
                  <a16:creationId xmlns:a16="http://schemas.microsoft.com/office/drawing/2014/main" id="{27337BA9-EBF1-BFE9-2F0C-E00545F31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9433" y="1775504"/>
              <a:ext cx="407808" cy="852953"/>
            </a:xfrm>
            <a:prstGeom prst="rect">
              <a:avLst/>
            </a:prstGeom>
          </p:spPr>
        </p:pic>
        <p:cxnSp>
          <p:nvCxnSpPr>
            <p:cNvPr id="291" name="直接箭头连接符 290">
              <a:extLst>
                <a:ext uri="{FF2B5EF4-FFF2-40B4-BE49-F238E27FC236}">
                  <a16:creationId xmlns:a16="http://schemas.microsoft.com/office/drawing/2014/main" id="{CFD53043-550A-5CE1-5A2B-16376E2AA022}"/>
                </a:ext>
              </a:extLst>
            </p:cNvPr>
            <p:cNvCxnSpPr>
              <a:cxnSpLocks/>
            </p:cNvCxnSpPr>
            <p:nvPr/>
          </p:nvCxnSpPr>
          <p:spPr>
            <a:xfrm>
              <a:off x="2338596" y="1185559"/>
              <a:ext cx="132942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2" name="组合 291">
              <a:extLst>
                <a:ext uri="{FF2B5EF4-FFF2-40B4-BE49-F238E27FC236}">
                  <a16:creationId xmlns:a16="http://schemas.microsoft.com/office/drawing/2014/main" id="{2267FC89-8B7D-1511-5A1D-B6910BAE4766}"/>
                </a:ext>
              </a:extLst>
            </p:cNvPr>
            <p:cNvGrpSpPr/>
            <p:nvPr/>
          </p:nvGrpSpPr>
          <p:grpSpPr>
            <a:xfrm>
              <a:off x="3734648" y="665438"/>
              <a:ext cx="228831" cy="614691"/>
              <a:chOff x="3453319" y="794932"/>
              <a:chExt cx="223736" cy="1417200"/>
            </a:xfrm>
          </p:grpSpPr>
          <p:sp>
            <p:nvSpPr>
              <p:cNvPr id="363" name="矩形 362">
                <a:extLst>
                  <a:ext uri="{FF2B5EF4-FFF2-40B4-BE49-F238E27FC236}">
                    <a16:creationId xmlns:a16="http://schemas.microsoft.com/office/drawing/2014/main" id="{75489D90-C03E-A5E0-2C5C-4EEA3C2A134A}"/>
                  </a:ext>
                </a:extLst>
              </p:cNvPr>
              <p:cNvSpPr/>
              <p:nvPr/>
            </p:nvSpPr>
            <p:spPr>
              <a:xfrm>
                <a:off x="3453319" y="794932"/>
                <a:ext cx="223736" cy="236200"/>
              </a:xfrm>
              <a:prstGeom prst="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64" name="矩形 363">
                <a:extLst>
                  <a:ext uri="{FF2B5EF4-FFF2-40B4-BE49-F238E27FC236}">
                    <a16:creationId xmlns:a16="http://schemas.microsoft.com/office/drawing/2014/main" id="{98A62CA2-B75E-32D3-C411-CB74FE72FE8D}"/>
                  </a:ext>
                </a:extLst>
              </p:cNvPr>
              <p:cNvSpPr/>
              <p:nvPr/>
            </p:nvSpPr>
            <p:spPr>
              <a:xfrm>
                <a:off x="3453319" y="1031132"/>
                <a:ext cx="223736" cy="236200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5" name="矩形 364">
                <a:extLst>
                  <a:ext uri="{FF2B5EF4-FFF2-40B4-BE49-F238E27FC236}">
                    <a16:creationId xmlns:a16="http://schemas.microsoft.com/office/drawing/2014/main" id="{7CC26C3F-9A36-FCA8-A4F5-5E57D83E7D62}"/>
                  </a:ext>
                </a:extLst>
              </p:cNvPr>
              <p:cNvSpPr/>
              <p:nvPr/>
            </p:nvSpPr>
            <p:spPr>
              <a:xfrm>
                <a:off x="3453319" y="1267332"/>
                <a:ext cx="223736" cy="23620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6" name="矩形 365">
                <a:extLst>
                  <a:ext uri="{FF2B5EF4-FFF2-40B4-BE49-F238E27FC236}">
                    <a16:creationId xmlns:a16="http://schemas.microsoft.com/office/drawing/2014/main" id="{8BDBA2CE-0369-1511-9E24-0F6A3E4E4C15}"/>
                  </a:ext>
                </a:extLst>
              </p:cNvPr>
              <p:cNvSpPr/>
              <p:nvPr/>
            </p:nvSpPr>
            <p:spPr>
              <a:xfrm>
                <a:off x="3453319" y="1503532"/>
                <a:ext cx="223736" cy="236200"/>
              </a:xfrm>
              <a:prstGeom prst="rect">
                <a:avLst/>
              </a:prstGeom>
              <a:solidFill>
                <a:srgbClr val="0057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5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67" name="矩形 366">
                <a:extLst>
                  <a:ext uri="{FF2B5EF4-FFF2-40B4-BE49-F238E27FC236}">
                    <a16:creationId xmlns:a16="http://schemas.microsoft.com/office/drawing/2014/main" id="{92CEEF6E-4658-FD6B-F2C4-F2AF51FCF681}"/>
                  </a:ext>
                </a:extLst>
              </p:cNvPr>
              <p:cNvSpPr/>
              <p:nvPr/>
            </p:nvSpPr>
            <p:spPr>
              <a:xfrm>
                <a:off x="3453319" y="1739732"/>
                <a:ext cx="223736" cy="236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68" name="矩形 367">
                <a:extLst>
                  <a:ext uri="{FF2B5EF4-FFF2-40B4-BE49-F238E27FC236}">
                    <a16:creationId xmlns:a16="http://schemas.microsoft.com/office/drawing/2014/main" id="{E1EAC914-F52D-2F0E-B063-6EC5E1838EF8}"/>
                  </a:ext>
                </a:extLst>
              </p:cNvPr>
              <p:cNvSpPr/>
              <p:nvPr/>
            </p:nvSpPr>
            <p:spPr>
              <a:xfrm>
                <a:off x="3453319" y="1975932"/>
                <a:ext cx="223736" cy="236200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293" name="直接箭头连接符 292">
              <a:extLst>
                <a:ext uri="{FF2B5EF4-FFF2-40B4-BE49-F238E27FC236}">
                  <a16:creationId xmlns:a16="http://schemas.microsoft.com/office/drawing/2014/main" id="{BDC87985-6871-9B3D-45A6-54B64A3D9581}"/>
                </a:ext>
              </a:extLst>
            </p:cNvPr>
            <p:cNvCxnSpPr>
              <a:cxnSpLocks/>
            </p:cNvCxnSpPr>
            <p:nvPr/>
          </p:nvCxnSpPr>
          <p:spPr>
            <a:xfrm>
              <a:off x="2507200" y="1858793"/>
              <a:ext cx="79988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直接箭头连接符 293">
              <a:extLst>
                <a:ext uri="{FF2B5EF4-FFF2-40B4-BE49-F238E27FC236}">
                  <a16:creationId xmlns:a16="http://schemas.microsoft.com/office/drawing/2014/main" id="{9B12DDA6-DD8A-1939-1C9C-608FBDC39878}"/>
                </a:ext>
              </a:extLst>
            </p:cNvPr>
            <p:cNvCxnSpPr/>
            <p:nvPr/>
          </p:nvCxnSpPr>
          <p:spPr>
            <a:xfrm>
              <a:off x="4040738" y="1072476"/>
              <a:ext cx="86508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5" name="立方体 294">
              <a:extLst>
                <a:ext uri="{FF2B5EF4-FFF2-40B4-BE49-F238E27FC236}">
                  <a16:creationId xmlns:a16="http://schemas.microsoft.com/office/drawing/2014/main" id="{3AA02970-52D0-E809-5218-0DEAF07B7C8E}"/>
                </a:ext>
              </a:extLst>
            </p:cNvPr>
            <p:cNvSpPr/>
            <p:nvPr/>
          </p:nvSpPr>
          <p:spPr>
            <a:xfrm>
              <a:off x="5111212" y="607821"/>
              <a:ext cx="314897" cy="868664"/>
            </a:xfrm>
            <a:prstGeom prst="cube">
              <a:avLst>
                <a:gd name="adj" fmla="val 87513"/>
              </a:avLst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6" name="立方体 295">
              <a:extLst>
                <a:ext uri="{FF2B5EF4-FFF2-40B4-BE49-F238E27FC236}">
                  <a16:creationId xmlns:a16="http://schemas.microsoft.com/office/drawing/2014/main" id="{A5C1A6E6-6510-8F2D-A5C2-B92F21B255DC}"/>
                </a:ext>
              </a:extLst>
            </p:cNvPr>
            <p:cNvSpPr/>
            <p:nvPr/>
          </p:nvSpPr>
          <p:spPr>
            <a:xfrm>
              <a:off x="5672736" y="789376"/>
              <a:ext cx="286862" cy="547937"/>
            </a:xfrm>
            <a:prstGeom prst="cube">
              <a:avLst>
                <a:gd name="adj" fmla="val 54603"/>
              </a:avLst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7" name="立方体 296">
              <a:extLst>
                <a:ext uri="{FF2B5EF4-FFF2-40B4-BE49-F238E27FC236}">
                  <a16:creationId xmlns:a16="http://schemas.microsoft.com/office/drawing/2014/main" id="{261EE930-795A-0AE0-A637-A6C49C0DB45A}"/>
                </a:ext>
              </a:extLst>
            </p:cNvPr>
            <p:cNvSpPr/>
            <p:nvPr/>
          </p:nvSpPr>
          <p:spPr>
            <a:xfrm>
              <a:off x="6150141" y="965652"/>
              <a:ext cx="361332" cy="219446"/>
            </a:xfrm>
            <a:prstGeom prst="cube">
              <a:avLst>
                <a:gd name="adj" fmla="val 23745"/>
              </a:avLst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98" name="直接连接符 297">
              <a:extLst>
                <a:ext uri="{FF2B5EF4-FFF2-40B4-BE49-F238E27FC236}">
                  <a16:creationId xmlns:a16="http://schemas.microsoft.com/office/drawing/2014/main" id="{766A9B8B-7051-8871-E9C6-AEB9BC7DFAF5}"/>
                </a:ext>
              </a:extLst>
            </p:cNvPr>
            <p:cNvCxnSpPr>
              <a:cxnSpLocks/>
            </p:cNvCxnSpPr>
            <p:nvPr/>
          </p:nvCxnSpPr>
          <p:spPr>
            <a:xfrm>
              <a:off x="5280279" y="404848"/>
              <a:ext cx="49236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直接箭头连接符 298">
              <a:extLst>
                <a:ext uri="{FF2B5EF4-FFF2-40B4-BE49-F238E27FC236}">
                  <a16:creationId xmlns:a16="http://schemas.microsoft.com/office/drawing/2014/main" id="{71D13327-E319-4B46-F2F5-C9CE90D2CE33}"/>
                </a:ext>
              </a:extLst>
            </p:cNvPr>
            <p:cNvCxnSpPr>
              <a:cxnSpLocks/>
            </p:cNvCxnSpPr>
            <p:nvPr/>
          </p:nvCxnSpPr>
          <p:spPr>
            <a:xfrm>
              <a:off x="5865457" y="512343"/>
              <a:ext cx="0" cy="27703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直接箭头连接符 299">
              <a:extLst>
                <a:ext uri="{FF2B5EF4-FFF2-40B4-BE49-F238E27FC236}">
                  <a16:creationId xmlns:a16="http://schemas.microsoft.com/office/drawing/2014/main" id="{F18F45ED-8F15-16AE-510F-00D74D32D312}"/>
                </a:ext>
              </a:extLst>
            </p:cNvPr>
            <p:cNvCxnSpPr>
              <a:cxnSpLocks/>
            </p:cNvCxnSpPr>
            <p:nvPr/>
          </p:nvCxnSpPr>
          <p:spPr>
            <a:xfrm>
              <a:off x="6723633" y="768050"/>
              <a:ext cx="464325" cy="23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1" name="矩形: 圆角 300">
              <a:extLst>
                <a:ext uri="{FF2B5EF4-FFF2-40B4-BE49-F238E27FC236}">
                  <a16:creationId xmlns:a16="http://schemas.microsoft.com/office/drawing/2014/main" id="{74B3306A-9C03-1452-7867-C0CD9DCF552A}"/>
                </a:ext>
              </a:extLst>
            </p:cNvPr>
            <p:cNvSpPr/>
            <p:nvPr/>
          </p:nvSpPr>
          <p:spPr>
            <a:xfrm rot="16200000">
              <a:off x="6582523" y="-505186"/>
              <a:ext cx="200316" cy="1820069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dk1"/>
                </a:solidFill>
              </a:endParaRPr>
            </a:p>
          </p:txBody>
        </p:sp>
        <p:sp>
          <p:nvSpPr>
            <p:cNvPr id="302" name="矩形: 圆角 301">
              <a:extLst>
                <a:ext uri="{FF2B5EF4-FFF2-40B4-BE49-F238E27FC236}">
                  <a16:creationId xmlns:a16="http://schemas.microsoft.com/office/drawing/2014/main" id="{393B6DF6-44CA-BF46-0B22-7CCD5F83BC35}"/>
                </a:ext>
              </a:extLst>
            </p:cNvPr>
            <p:cNvSpPr/>
            <p:nvPr/>
          </p:nvSpPr>
          <p:spPr>
            <a:xfrm>
              <a:off x="2033698" y="1097458"/>
              <a:ext cx="473502" cy="831621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03" name="直接箭头连接符 302">
              <a:extLst>
                <a:ext uri="{FF2B5EF4-FFF2-40B4-BE49-F238E27FC236}">
                  <a16:creationId xmlns:a16="http://schemas.microsoft.com/office/drawing/2014/main" id="{C65A26EA-C071-11F0-40B6-2A0634D79905}"/>
                </a:ext>
              </a:extLst>
            </p:cNvPr>
            <p:cNvCxnSpPr>
              <a:cxnSpLocks/>
            </p:cNvCxnSpPr>
            <p:nvPr/>
          </p:nvCxnSpPr>
          <p:spPr>
            <a:xfrm>
              <a:off x="7713725" y="953971"/>
              <a:ext cx="321549" cy="23112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4" name="矩形: 圆角 303">
              <a:extLst>
                <a:ext uri="{FF2B5EF4-FFF2-40B4-BE49-F238E27FC236}">
                  <a16:creationId xmlns:a16="http://schemas.microsoft.com/office/drawing/2014/main" id="{F43D5CB4-8F17-7006-BC00-E44E80F0B216}"/>
                </a:ext>
              </a:extLst>
            </p:cNvPr>
            <p:cNvSpPr/>
            <p:nvPr/>
          </p:nvSpPr>
          <p:spPr>
            <a:xfrm>
              <a:off x="8118705" y="883064"/>
              <a:ext cx="1708417" cy="1341769"/>
            </a:xfrm>
            <a:prstGeom prst="roundRect">
              <a:avLst/>
            </a:prstGeom>
            <a:noFill/>
            <a:ln w="3810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5" name="椭圆 304">
              <a:extLst>
                <a:ext uri="{FF2B5EF4-FFF2-40B4-BE49-F238E27FC236}">
                  <a16:creationId xmlns:a16="http://schemas.microsoft.com/office/drawing/2014/main" id="{3A6114E6-10E1-5159-0EA1-ED1B92C80545}"/>
                </a:ext>
              </a:extLst>
            </p:cNvPr>
            <p:cNvSpPr/>
            <p:nvPr/>
          </p:nvSpPr>
          <p:spPr>
            <a:xfrm>
              <a:off x="8509742" y="1266601"/>
              <a:ext cx="863338" cy="697876"/>
            </a:xfrm>
            <a:prstGeom prst="ellipse">
              <a:avLst/>
            </a:prstGeom>
            <a:noFill/>
            <a:ln w="19050">
              <a:prstDash val="dash"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06" name="直接箭头连接符 305">
              <a:extLst>
                <a:ext uri="{FF2B5EF4-FFF2-40B4-BE49-F238E27FC236}">
                  <a16:creationId xmlns:a16="http://schemas.microsoft.com/office/drawing/2014/main" id="{B861D986-28B1-0403-7837-55C36AE0A607}"/>
                </a:ext>
              </a:extLst>
            </p:cNvPr>
            <p:cNvCxnSpPr>
              <a:cxnSpLocks/>
            </p:cNvCxnSpPr>
            <p:nvPr/>
          </p:nvCxnSpPr>
          <p:spPr>
            <a:xfrm>
              <a:off x="9937897" y="1288480"/>
              <a:ext cx="55334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直接箭头连接符 306">
              <a:extLst>
                <a:ext uri="{FF2B5EF4-FFF2-40B4-BE49-F238E27FC236}">
                  <a16:creationId xmlns:a16="http://schemas.microsoft.com/office/drawing/2014/main" id="{828361C0-FA95-1DB9-1B04-24A65B135C83}"/>
                </a:ext>
              </a:extLst>
            </p:cNvPr>
            <p:cNvCxnSpPr>
              <a:cxnSpLocks/>
            </p:cNvCxnSpPr>
            <p:nvPr/>
          </p:nvCxnSpPr>
          <p:spPr>
            <a:xfrm>
              <a:off x="9937897" y="1544736"/>
              <a:ext cx="55334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直接箭头连接符 307">
              <a:extLst>
                <a:ext uri="{FF2B5EF4-FFF2-40B4-BE49-F238E27FC236}">
                  <a16:creationId xmlns:a16="http://schemas.microsoft.com/office/drawing/2014/main" id="{8640934F-BC77-870C-B9BD-18AA205A8F31}"/>
                </a:ext>
              </a:extLst>
            </p:cNvPr>
            <p:cNvCxnSpPr>
              <a:cxnSpLocks/>
            </p:cNvCxnSpPr>
            <p:nvPr/>
          </p:nvCxnSpPr>
          <p:spPr>
            <a:xfrm>
              <a:off x="9937897" y="1806176"/>
              <a:ext cx="55334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9" name="矩形 308">
              <a:extLst>
                <a:ext uri="{FF2B5EF4-FFF2-40B4-BE49-F238E27FC236}">
                  <a16:creationId xmlns:a16="http://schemas.microsoft.com/office/drawing/2014/main" id="{CC767660-ECED-AA54-33D1-AAE1704F89B2}"/>
                </a:ext>
              </a:extLst>
            </p:cNvPr>
            <p:cNvSpPr/>
            <p:nvPr/>
          </p:nvSpPr>
          <p:spPr>
            <a:xfrm>
              <a:off x="10604539" y="1151857"/>
              <a:ext cx="513760" cy="80634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0" name="文本框 309">
              <a:extLst>
                <a:ext uri="{FF2B5EF4-FFF2-40B4-BE49-F238E27FC236}">
                  <a16:creationId xmlns:a16="http://schemas.microsoft.com/office/drawing/2014/main" id="{3396972C-438E-BB5B-4B61-58C6014EF4DC}"/>
                </a:ext>
              </a:extLst>
            </p:cNvPr>
            <p:cNvSpPr txBox="1"/>
            <p:nvPr/>
          </p:nvSpPr>
          <p:spPr>
            <a:xfrm>
              <a:off x="2499609" y="861265"/>
              <a:ext cx="1407851" cy="202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Backbone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1" name="矩形: 圆角 310">
              <a:extLst>
                <a:ext uri="{FF2B5EF4-FFF2-40B4-BE49-F238E27FC236}">
                  <a16:creationId xmlns:a16="http://schemas.microsoft.com/office/drawing/2014/main" id="{47BB85DD-AE58-E1F3-E4F2-E3BE98B0A4F8}"/>
                </a:ext>
              </a:extLst>
            </p:cNvPr>
            <p:cNvSpPr/>
            <p:nvPr/>
          </p:nvSpPr>
          <p:spPr>
            <a:xfrm>
              <a:off x="7239449" y="696722"/>
              <a:ext cx="447531" cy="563605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dk1"/>
                </a:solidFill>
              </a:endParaRPr>
            </a:p>
          </p:txBody>
        </p:sp>
        <p:sp>
          <p:nvSpPr>
            <p:cNvPr id="312" name="矩形 311">
              <a:extLst>
                <a:ext uri="{FF2B5EF4-FFF2-40B4-BE49-F238E27FC236}">
                  <a16:creationId xmlns:a16="http://schemas.microsoft.com/office/drawing/2014/main" id="{5CCE1CFC-46F7-72E5-D2F6-064268787EC0}"/>
                </a:ext>
              </a:extLst>
            </p:cNvPr>
            <p:cNvSpPr/>
            <p:nvPr/>
          </p:nvSpPr>
          <p:spPr>
            <a:xfrm>
              <a:off x="5142155" y="1553949"/>
              <a:ext cx="508170" cy="72912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dk1"/>
                </a:solidFill>
              </a:endParaRPr>
            </a:p>
          </p:txBody>
        </p:sp>
        <p:cxnSp>
          <p:nvCxnSpPr>
            <p:cNvPr id="313" name="直接箭头连接符 312">
              <a:extLst>
                <a:ext uri="{FF2B5EF4-FFF2-40B4-BE49-F238E27FC236}">
                  <a16:creationId xmlns:a16="http://schemas.microsoft.com/office/drawing/2014/main" id="{14726FE5-EFA1-C061-A02E-7546D2BC20D5}"/>
                </a:ext>
              </a:extLst>
            </p:cNvPr>
            <p:cNvCxnSpPr>
              <a:cxnSpLocks/>
            </p:cNvCxnSpPr>
            <p:nvPr/>
          </p:nvCxnSpPr>
          <p:spPr>
            <a:xfrm>
              <a:off x="5854879" y="1787169"/>
              <a:ext cx="66121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4" name="矩形 313">
              <a:extLst>
                <a:ext uri="{FF2B5EF4-FFF2-40B4-BE49-F238E27FC236}">
                  <a16:creationId xmlns:a16="http://schemas.microsoft.com/office/drawing/2014/main" id="{59D60B27-5125-EDEC-59C8-9588CA345FA2}"/>
                </a:ext>
              </a:extLst>
            </p:cNvPr>
            <p:cNvSpPr/>
            <p:nvPr/>
          </p:nvSpPr>
          <p:spPr>
            <a:xfrm rot="16200000">
              <a:off x="3546700" y="1444364"/>
              <a:ext cx="473817" cy="86794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dk1"/>
                </a:solidFill>
              </a:endParaRPr>
            </a:p>
          </p:txBody>
        </p:sp>
        <p:sp>
          <p:nvSpPr>
            <p:cNvPr id="315" name="矩形 314">
              <a:extLst>
                <a:ext uri="{FF2B5EF4-FFF2-40B4-BE49-F238E27FC236}">
                  <a16:creationId xmlns:a16="http://schemas.microsoft.com/office/drawing/2014/main" id="{2FB27BC5-7C58-915C-70C6-E34EB304D835}"/>
                </a:ext>
              </a:extLst>
            </p:cNvPr>
            <p:cNvSpPr/>
            <p:nvPr/>
          </p:nvSpPr>
          <p:spPr>
            <a:xfrm>
              <a:off x="6610114" y="1570850"/>
              <a:ext cx="508170" cy="72912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dk1"/>
                </a:solidFill>
              </a:endParaRPr>
            </a:p>
          </p:txBody>
        </p:sp>
        <p:cxnSp>
          <p:nvCxnSpPr>
            <p:cNvPr id="316" name="直接箭头连接符 315">
              <a:extLst>
                <a:ext uri="{FF2B5EF4-FFF2-40B4-BE49-F238E27FC236}">
                  <a16:creationId xmlns:a16="http://schemas.microsoft.com/office/drawing/2014/main" id="{DF1286BC-E652-4C84-921F-F75909BD4273}"/>
                </a:ext>
              </a:extLst>
            </p:cNvPr>
            <p:cNvCxnSpPr>
              <a:cxnSpLocks/>
            </p:cNvCxnSpPr>
            <p:nvPr/>
          </p:nvCxnSpPr>
          <p:spPr>
            <a:xfrm>
              <a:off x="4274948" y="1878335"/>
              <a:ext cx="71589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直接箭头连接符 316">
              <a:extLst>
                <a:ext uri="{FF2B5EF4-FFF2-40B4-BE49-F238E27FC236}">
                  <a16:creationId xmlns:a16="http://schemas.microsoft.com/office/drawing/2014/main" id="{84DE7661-6EF8-F3A7-3E01-B87C4FCF2DA5}"/>
                </a:ext>
              </a:extLst>
            </p:cNvPr>
            <p:cNvCxnSpPr>
              <a:cxnSpLocks/>
            </p:cNvCxnSpPr>
            <p:nvPr/>
          </p:nvCxnSpPr>
          <p:spPr>
            <a:xfrm>
              <a:off x="5854879" y="1948907"/>
              <a:ext cx="66121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直接箭头连接符 317">
              <a:extLst>
                <a:ext uri="{FF2B5EF4-FFF2-40B4-BE49-F238E27FC236}">
                  <a16:creationId xmlns:a16="http://schemas.microsoft.com/office/drawing/2014/main" id="{CF7DAD78-3DF6-2D3A-482A-0B87481E8485}"/>
                </a:ext>
              </a:extLst>
            </p:cNvPr>
            <p:cNvCxnSpPr>
              <a:cxnSpLocks/>
            </p:cNvCxnSpPr>
            <p:nvPr/>
          </p:nvCxnSpPr>
          <p:spPr>
            <a:xfrm>
              <a:off x="5859577" y="2115244"/>
              <a:ext cx="65651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直接箭头连接符 318">
              <a:extLst>
                <a:ext uri="{FF2B5EF4-FFF2-40B4-BE49-F238E27FC236}">
                  <a16:creationId xmlns:a16="http://schemas.microsoft.com/office/drawing/2014/main" id="{96D5E9A3-654C-1274-B9CF-A56CDF7EE43D}"/>
                </a:ext>
              </a:extLst>
            </p:cNvPr>
            <p:cNvCxnSpPr>
              <a:cxnSpLocks/>
            </p:cNvCxnSpPr>
            <p:nvPr/>
          </p:nvCxnSpPr>
          <p:spPr>
            <a:xfrm>
              <a:off x="7145542" y="1935412"/>
              <a:ext cx="84783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直接箭头连接符 319">
              <a:extLst>
                <a:ext uri="{FF2B5EF4-FFF2-40B4-BE49-F238E27FC236}">
                  <a16:creationId xmlns:a16="http://schemas.microsoft.com/office/drawing/2014/main" id="{16B2A040-14E4-7C45-FB10-E9348DE1942C}"/>
                </a:ext>
              </a:extLst>
            </p:cNvPr>
            <p:cNvCxnSpPr>
              <a:cxnSpLocks/>
            </p:cNvCxnSpPr>
            <p:nvPr/>
          </p:nvCxnSpPr>
          <p:spPr>
            <a:xfrm>
              <a:off x="5290760" y="389730"/>
              <a:ext cx="0" cy="28397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直接箭头连接符 320">
              <a:extLst>
                <a:ext uri="{FF2B5EF4-FFF2-40B4-BE49-F238E27FC236}">
                  <a16:creationId xmlns:a16="http://schemas.microsoft.com/office/drawing/2014/main" id="{D0A440E1-5E55-B66C-C18C-32C98263E38A}"/>
                </a:ext>
              </a:extLst>
            </p:cNvPr>
            <p:cNvCxnSpPr>
              <a:cxnSpLocks/>
              <a:endCxn id="297" idx="0"/>
            </p:cNvCxnSpPr>
            <p:nvPr/>
          </p:nvCxnSpPr>
          <p:spPr>
            <a:xfrm flipH="1">
              <a:off x="6356861" y="512343"/>
              <a:ext cx="6705" cy="45330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直接箭头连接符 321">
              <a:extLst>
                <a:ext uri="{FF2B5EF4-FFF2-40B4-BE49-F238E27FC236}">
                  <a16:creationId xmlns:a16="http://schemas.microsoft.com/office/drawing/2014/main" id="{4DFF6E1E-5FEC-3A44-AA1E-41500D36ECB2}"/>
                </a:ext>
              </a:extLst>
            </p:cNvPr>
            <p:cNvCxnSpPr>
              <a:cxnSpLocks/>
            </p:cNvCxnSpPr>
            <p:nvPr/>
          </p:nvCxnSpPr>
          <p:spPr>
            <a:xfrm>
              <a:off x="1834836" y="950965"/>
              <a:ext cx="225544" cy="15993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直接箭头连接符 322">
              <a:extLst>
                <a:ext uri="{FF2B5EF4-FFF2-40B4-BE49-F238E27FC236}">
                  <a16:creationId xmlns:a16="http://schemas.microsoft.com/office/drawing/2014/main" id="{7D489D3C-AAB9-A064-144E-FC383B458B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4836" y="1930603"/>
              <a:ext cx="239128" cy="13105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直接箭头连接符 323">
              <a:extLst>
                <a:ext uri="{FF2B5EF4-FFF2-40B4-BE49-F238E27FC236}">
                  <a16:creationId xmlns:a16="http://schemas.microsoft.com/office/drawing/2014/main" id="{D125CEF8-184D-930F-739D-C17FEC0CE8BC}"/>
                </a:ext>
              </a:extLst>
            </p:cNvPr>
            <p:cNvCxnSpPr/>
            <p:nvPr/>
          </p:nvCxnSpPr>
          <p:spPr>
            <a:xfrm>
              <a:off x="6722961" y="1189356"/>
              <a:ext cx="464325" cy="23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直接箭头连接符 324">
              <a:extLst>
                <a:ext uri="{FF2B5EF4-FFF2-40B4-BE49-F238E27FC236}">
                  <a16:creationId xmlns:a16="http://schemas.microsoft.com/office/drawing/2014/main" id="{1CD8141A-8942-7C08-3481-5FC0E3795BDC}"/>
                </a:ext>
              </a:extLst>
            </p:cNvPr>
            <p:cNvCxnSpPr/>
            <p:nvPr/>
          </p:nvCxnSpPr>
          <p:spPr>
            <a:xfrm>
              <a:off x="6720593" y="975444"/>
              <a:ext cx="464325" cy="23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6" name="文本框 325">
              <a:extLst>
                <a:ext uri="{FF2B5EF4-FFF2-40B4-BE49-F238E27FC236}">
                  <a16:creationId xmlns:a16="http://schemas.microsoft.com/office/drawing/2014/main" id="{EA572616-8544-4B9B-5103-3DADB3DD91DD}"/>
                </a:ext>
              </a:extLst>
            </p:cNvPr>
            <p:cNvSpPr txBox="1"/>
            <p:nvPr/>
          </p:nvSpPr>
          <p:spPr>
            <a:xfrm>
              <a:off x="5955939" y="1249629"/>
              <a:ext cx="117350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CMFB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7" name="文本框 326">
              <a:extLst>
                <a:ext uri="{FF2B5EF4-FFF2-40B4-BE49-F238E27FC236}">
                  <a16:creationId xmlns:a16="http://schemas.microsoft.com/office/drawing/2014/main" id="{E1FA8A74-740F-8AB8-83D3-AEF254A6D896}"/>
                </a:ext>
              </a:extLst>
            </p:cNvPr>
            <p:cNvSpPr txBox="1"/>
            <p:nvPr/>
          </p:nvSpPr>
          <p:spPr>
            <a:xfrm>
              <a:off x="4972503" y="1628550"/>
              <a:ext cx="615553" cy="68031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CMFB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8" name="文本框 327">
              <a:extLst>
                <a:ext uri="{FF2B5EF4-FFF2-40B4-BE49-F238E27FC236}">
                  <a16:creationId xmlns:a16="http://schemas.microsoft.com/office/drawing/2014/main" id="{D64AAF7C-8E0D-9FB8-8004-549DDBCF3776}"/>
                </a:ext>
              </a:extLst>
            </p:cNvPr>
            <p:cNvSpPr txBox="1"/>
            <p:nvPr/>
          </p:nvSpPr>
          <p:spPr>
            <a:xfrm>
              <a:off x="6671558" y="1722806"/>
              <a:ext cx="400110" cy="546648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DAU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9" name="文本框 328">
              <a:extLst>
                <a:ext uri="{FF2B5EF4-FFF2-40B4-BE49-F238E27FC236}">
                  <a16:creationId xmlns:a16="http://schemas.microsoft.com/office/drawing/2014/main" id="{3215BE88-935C-C742-5348-349FD7CF0C48}"/>
                </a:ext>
              </a:extLst>
            </p:cNvPr>
            <p:cNvSpPr txBox="1"/>
            <p:nvPr/>
          </p:nvSpPr>
          <p:spPr>
            <a:xfrm rot="16200000">
              <a:off x="3593327" y="1455727"/>
              <a:ext cx="400110" cy="867941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ResNet-50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0" name="文本框 329">
              <a:extLst>
                <a:ext uri="{FF2B5EF4-FFF2-40B4-BE49-F238E27FC236}">
                  <a16:creationId xmlns:a16="http://schemas.microsoft.com/office/drawing/2014/main" id="{405B0432-416C-02B9-10B4-A8977E37A4B3}"/>
                </a:ext>
              </a:extLst>
            </p:cNvPr>
            <p:cNvSpPr txBox="1"/>
            <p:nvPr/>
          </p:nvSpPr>
          <p:spPr>
            <a:xfrm>
              <a:off x="2080956" y="1314931"/>
              <a:ext cx="400110" cy="627238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LLF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1" name="文本框 330">
              <a:extLst>
                <a:ext uri="{FF2B5EF4-FFF2-40B4-BE49-F238E27FC236}">
                  <a16:creationId xmlns:a16="http://schemas.microsoft.com/office/drawing/2014/main" id="{D9F7D9EB-61B9-98C7-2BB6-9F989007F5AA}"/>
                </a:ext>
              </a:extLst>
            </p:cNvPr>
            <p:cNvSpPr txBox="1"/>
            <p:nvPr/>
          </p:nvSpPr>
          <p:spPr>
            <a:xfrm>
              <a:off x="7266194" y="749457"/>
              <a:ext cx="400110" cy="546648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DAU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2" name="文本框 331">
              <a:extLst>
                <a:ext uri="{FF2B5EF4-FFF2-40B4-BE49-F238E27FC236}">
                  <a16:creationId xmlns:a16="http://schemas.microsoft.com/office/drawing/2014/main" id="{FCBCC525-6EF0-4946-AA7F-AC185325BEF5}"/>
                </a:ext>
              </a:extLst>
            </p:cNvPr>
            <p:cNvSpPr txBox="1"/>
            <p:nvPr/>
          </p:nvSpPr>
          <p:spPr>
            <a:xfrm>
              <a:off x="6091003" y="242505"/>
              <a:ext cx="18200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αC+βH+γC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3" name="椭圆 332">
              <a:extLst>
                <a:ext uri="{FF2B5EF4-FFF2-40B4-BE49-F238E27FC236}">
                  <a16:creationId xmlns:a16="http://schemas.microsoft.com/office/drawing/2014/main" id="{0BEA77DE-C9C7-0894-DE5F-3877292D0229}"/>
                </a:ext>
              </a:extLst>
            </p:cNvPr>
            <p:cNvSpPr/>
            <p:nvPr/>
          </p:nvSpPr>
          <p:spPr>
            <a:xfrm>
              <a:off x="8516189" y="1213092"/>
              <a:ext cx="120674" cy="126251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4" name="椭圆 333">
              <a:extLst>
                <a:ext uri="{FF2B5EF4-FFF2-40B4-BE49-F238E27FC236}">
                  <a16:creationId xmlns:a16="http://schemas.microsoft.com/office/drawing/2014/main" id="{301C722B-47C2-6FD0-9E02-E0B77D1C0649}"/>
                </a:ext>
              </a:extLst>
            </p:cNvPr>
            <p:cNvSpPr/>
            <p:nvPr/>
          </p:nvSpPr>
          <p:spPr>
            <a:xfrm>
              <a:off x="9273761" y="1240782"/>
              <a:ext cx="120674" cy="126250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5" name="椭圆 334">
              <a:extLst>
                <a:ext uri="{FF2B5EF4-FFF2-40B4-BE49-F238E27FC236}">
                  <a16:creationId xmlns:a16="http://schemas.microsoft.com/office/drawing/2014/main" id="{C4413ACF-F73C-FF1E-E477-4DF3CE39D3C0}"/>
                </a:ext>
              </a:extLst>
            </p:cNvPr>
            <p:cNvSpPr/>
            <p:nvPr/>
          </p:nvSpPr>
          <p:spPr>
            <a:xfrm>
              <a:off x="8955801" y="1110900"/>
              <a:ext cx="120674" cy="126250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6" name="椭圆 335">
              <a:extLst>
                <a:ext uri="{FF2B5EF4-FFF2-40B4-BE49-F238E27FC236}">
                  <a16:creationId xmlns:a16="http://schemas.microsoft.com/office/drawing/2014/main" id="{6D81F166-A8C4-5A58-1287-7A50B46B63FB}"/>
                </a:ext>
              </a:extLst>
            </p:cNvPr>
            <p:cNvSpPr/>
            <p:nvPr/>
          </p:nvSpPr>
          <p:spPr>
            <a:xfrm>
              <a:off x="8582802" y="1956634"/>
              <a:ext cx="120674" cy="119919"/>
            </a:xfrm>
            <a:prstGeom prst="ellipse">
              <a:avLst/>
            </a:prstGeom>
            <a:ln>
              <a:prstDash val="sysDot"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7" name="椭圆 336">
              <a:extLst>
                <a:ext uri="{FF2B5EF4-FFF2-40B4-BE49-F238E27FC236}">
                  <a16:creationId xmlns:a16="http://schemas.microsoft.com/office/drawing/2014/main" id="{9B4B64A0-D8B2-1779-A5F2-C43FE2C5A538}"/>
                </a:ext>
              </a:extLst>
            </p:cNvPr>
            <p:cNvSpPr/>
            <p:nvPr/>
          </p:nvSpPr>
          <p:spPr>
            <a:xfrm>
              <a:off x="9288246" y="1958203"/>
              <a:ext cx="120674" cy="119700"/>
            </a:xfrm>
            <a:prstGeom prst="ellipse">
              <a:avLst/>
            </a:prstGeom>
            <a:ln>
              <a:prstDash val="sysDot"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8" name="椭圆 337">
              <a:extLst>
                <a:ext uri="{FF2B5EF4-FFF2-40B4-BE49-F238E27FC236}">
                  <a16:creationId xmlns:a16="http://schemas.microsoft.com/office/drawing/2014/main" id="{6325AF95-D5CE-41F5-362B-D99E74397477}"/>
                </a:ext>
              </a:extLst>
            </p:cNvPr>
            <p:cNvSpPr/>
            <p:nvPr/>
          </p:nvSpPr>
          <p:spPr>
            <a:xfrm>
              <a:off x="8898330" y="2043211"/>
              <a:ext cx="120674" cy="114388"/>
            </a:xfrm>
            <a:prstGeom prst="ellipse">
              <a:avLst/>
            </a:prstGeom>
            <a:ln>
              <a:prstDash val="sysDot"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9" name="等腰三角形 338">
              <a:extLst>
                <a:ext uri="{FF2B5EF4-FFF2-40B4-BE49-F238E27FC236}">
                  <a16:creationId xmlns:a16="http://schemas.microsoft.com/office/drawing/2014/main" id="{5BB99D6E-C21B-F6F0-77CA-56AACD3BDACE}"/>
                </a:ext>
              </a:extLst>
            </p:cNvPr>
            <p:cNvSpPr/>
            <p:nvPr/>
          </p:nvSpPr>
          <p:spPr>
            <a:xfrm>
              <a:off x="8644982" y="1667599"/>
              <a:ext cx="120674" cy="116704"/>
            </a:xfrm>
            <a:prstGeom prst="triangle">
              <a:avLst/>
            </a:prstGeom>
            <a:ln>
              <a:prstDash val="sysDot"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340" name="等腰三角形 339">
              <a:extLst>
                <a:ext uri="{FF2B5EF4-FFF2-40B4-BE49-F238E27FC236}">
                  <a16:creationId xmlns:a16="http://schemas.microsoft.com/office/drawing/2014/main" id="{D4B49CED-01D0-58EC-1155-91AF7AC8BFC3}"/>
                </a:ext>
              </a:extLst>
            </p:cNvPr>
            <p:cNvSpPr/>
            <p:nvPr/>
          </p:nvSpPr>
          <p:spPr>
            <a:xfrm>
              <a:off x="8823853" y="1770611"/>
              <a:ext cx="120674" cy="120042"/>
            </a:xfrm>
            <a:prstGeom prst="triangle">
              <a:avLst/>
            </a:prstGeom>
            <a:ln>
              <a:prstDash val="sysDot"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1" name="等腰三角形 340">
              <a:extLst>
                <a:ext uri="{FF2B5EF4-FFF2-40B4-BE49-F238E27FC236}">
                  <a16:creationId xmlns:a16="http://schemas.microsoft.com/office/drawing/2014/main" id="{531C017C-92FF-7070-53B7-7C3274D860AD}"/>
                </a:ext>
              </a:extLst>
            </p:cNvPr>
            <p:cNvSpPr/>
            <p:nvPr/>
          </p:nvSpPr>
          <p:spPr>
            <a:xfrm>
              <a:off x="8860190" y="1601084"/>
              <a:ext cx="120674" cy="127706"/>
            </a:xfrm>
            <a:prstGeom prst="triangle">
              <a:avLst/>
            </a:prstGeom>
            <a:ln>
              <a:prstDash val="sysDot"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2" name="等腰三角形 341">
              <a:extLst>
                <a:ext uri="{FF2B5EF4-FFF2-40B4-BE49-F238E27FC236}">
                  <a16:creationId xmlns:a16="http://schemas.microsoft.com/office/drawing/2014/main" id="{942854DC-E04D-06A0-7003-5E2451D1AEF1}"/>
                </a:ext>
              </a:extLst>
            </p:cNvPr>
            <p:cNvSpPr/>
            <p:nvPr/>
          </p:nvSpPr>
          <p:spPr>
            <a:xfrm>
              <a:off x="9046579" y="1700807"/>
              <a:ext cx="120674" cy="122518"/>
            </a:xfrm>
            <a:prstGeom prst="triangle">
              <a:avLst/>
            </a:prstGeom>
            <a:ln>
              <a:prstDash val="sysDot"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3" name="等腰三角形 342">
              <a:extLst>
                <a:ext uri="{FF2B5EF4-FFF2-40B4-BE49-F238E27FC236}">
                  <a16:creationId xmlns:a16="http://schemas.microsoft.com/office/drawing/2014/main" id="{53A38728-042E-FD5F-9A9B-50752D194022}"/>
                </a:ext>
              </a:extLst>
            </p:cNvPr>
            <p:cNvSpPr/>
            <p:nvPr/>
          </p:nvSpPr>
          <p:spPr>
            <a:xfrm>
              <a:off x="8904574" y="1309173"/>
              <a:ext cx="120674" cy="118473"/>
            </a:xfrm>
            <a:prstGeom prst="triangl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4" name="等腰三角形 343">
              <a:extLst>
                <a:ext uri="{FF2B5EF4-FFF2-40B4-BE49-F238E27FC236}">
                  <a16:creationId xmlns:a16="http://schemas.microsoft.com/office/drawing/2014/main" id="{127147EC-CBBB-BDBA-A376-A87D682FD14D}"/>
                </a:ext>
              </a:extLst>
            </p:cNvPr>
            <p:cNvSpPr/>
            <p:nvPr/>
          </p:nvSpPr>
          <p:spPr>
            <a:xfrm>
              <a:off x="9164931" y="1518728"/>
              <a:ext cx="120674" cy="122136"/>
            </a:xfrm>
            <a:prstGeom prst="triangl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5" name="等腰三角形 344">
              <a:extLst>
                <a:ext uri="{FF2B5EF4-FFF2-40B4-BE49-F238E27FC236}">
                  <a16:creationId xmlns:a16="http://schemas.microsoft.com/office/drawing/2014/main" id="{EBE39FBF-6173-B8F7-B8F2-1963900FFC41}"/>
                </a:ext>
              </a:extLst>
            </p:cNvPr>
            <p:cNvSpPr/>
            <p:nvPr/>
          </p:nvSpPr>
          <p:spPr>
            <a:xfrm>
              <a:off x="8963919" y="1467885"/>
              <a:ext cx="120674" cy="118473"/>
            </a:xfrm>
            <a:prstGeom prst="triangl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6" name="等腰三角形 345">
              <a:extLst>
                <a:ext uri="{FF2B5EF4-FFF2-40B4-BE49-F238E27FC236}">
                  <a16:creationId xmlns:a16="http://schemas.microsoft.com/office/drawing/2014/main" id="{FBC7405B-274C-201B-07E4-1FB48DBC464F}"/>
                </a:ext>
              </a:extLst>
            </p:cNvPr>
            <p:cNvSpPr/>
            <p:nvPr/>
          </p:nvSpPr>
          <p:spPr>
            <a:xfrm>
              <a:off x="8673488" y="1404102"/>
              <a:ext cx="120674" cy="118472"/>
            </a:xfrm>
            <a:prstGeom prst="triangl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7" name="椭圆 346">
              <a:extLst>
                <a:ext uri="{FF2B5EF4-FFF2-40B4-BE49-F238E27FC236}">
                  <a16:creationId xmlns:a16="http://schemas.microsoft.com/office/drawing/2014/main" id="{A90709B0-BA7E-73BA-FA89-123CE566E789}"/>
                </a:ext>
              </a:extLst>
            </p:cNvPr>
            <p:cNvSpPr/>
            <p:nvPr/>
          </p:nvSpPr>
          <p:spPr>
            <a:xfrm>
              <a:off x="1527100" y="684702"/>
              <a:ext cx="162464" cy="17051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8" name="椭圆 347">
              <a:extLst>
                <a:ext uri="{FF2B5EF4-FFF2-40B4-BE49-F238E27FC236}">
                  <a16:creationId xmlns:a16="http://schemas.microsoft.com/office/drawing/2014/main" id="{3B4E0135-50B6-83EA-0C32-CF6D20A8C532}"/>
                </a:ext>
              </a:extLst>
            </p:cNvPr>
            <p:cNvSpPr/>
            <p:nvPr/>
          </p:nvSpPr>
          <p:spPr>
            <a:xfrm>
              <a:off x="1584736" y="1789178"/>
              <a:ext cx="162464" cy="17953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0" name="椭圆 349">
              <a:extLst>
                <a:ext uri="{FF2B5EF4-FFF2-40B4-BE49-F238E27FC236}">
                  <a16:creationId xmlns:a16="http://schemas.microsoft.com/office/drawing/2014/main" id="{D9B3A627-7AB6-9011-21B5-A6AD3F2BF020}"/>
                </a:ext>
              </a:extLst>
            </p:cNvPr>
            <p:cNvSpPr/>
            <p:nvPr/>
          </p:nvSpPr>
          <p:spPr>
            <a:xfrm>
              <a:off x="3607678" y="2399307"/>
              <a:ext cx="120674" cy="113208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1" name="文本框 350">
              <a:extLst>
                <a:ext uri="{FF2B5EF4-FFF2-40B4-BE49-F238E27FC236}">
                  <a16:creationId xmlns:a16="http://schemas.microsoft.com/office/drawing/2014/main" id="{5FAE757B-6E03-55C9-0934-A96A38265214}"/>
                </a:ext>
              </a:extLst>
            </p:cNvPr>
            <p:cNvSpPr txBox="1"/>
            <p:nvPr/>
          </p:nvSpPr>
          <p:spPr>
            <a:xfrm>
              <a:off x="8461089" y="847569"/>
              <a:ext cx="198423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Public Net</a:t>
              </a:r>
              <a:endPara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52" name="等腰三角形 351">
              <a:extLst>
                <a:ext uri="{FF2B5EF4-FFF2-40B4-BE49-F238E27FC236}">
                  <a16:creationId xmlns:a16="http://schemas.microsoft.com/office/drawing/2014/main" id="{74AF4F36-4C8E-C45C-3772-4669BFD51120}"/>
                </a:ext>
              </a:extLst>
            </p:cNvPr>
            <p:cNvSpPr/>
            <p:nvPr/>
          </p:nvSpPr>
          <p:spPr>
            <a:xfrm>
              <a:off x="3607678" y="2612265"/>
              <a:ext cx="120674" cy="120144"/>
            </a:xfrm>
            <a:prstGeom prst="triangl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3" name="等腰三角形 352">
              <a:extLst>
                <a:ext uri="{FF2B5EF4-FFF2-40B4-BE49-F238E27FC236}">
                  <a16:creationId xmlns:a16="http://schemas.microsoft.com/office/drawing/2014/main" id="{682BDAB9-E71B-E65E-3EC2-C05B4A789791}"/>
                </a:ext>
              </a:extLst>
            </p:cNvPr>
            <p:cNvSpPr/>
            <p:nvPr/>
          </p:nvSpPr>
          <p:spPr>
            <a:xfrm>
              <a:off x="4975616" y="2606730"/>
              <a:ext cx="120674" cy="131213"/>
            </a:xfrm>
            <a:prstGeom prst="triangle">
              <a:avLst/>
            </a:prstGeom>
            <a:ln>
              <a:prstDash val="sysDot"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4" name="椭圆 353">
              <a:extLst>
                <a:ext uri="{FF2B5EF4-FFF2-40B4-BE49-F238E27FC236}">
                  <a16:creationId xmlns:a16="http://schemas.microsoft.com/office/drawing/2014/main" id="{8EC686BB-A88F-1741-1693-81AA562A4703}"/>
                </a:ext>
              </a:extLst>
            </p:cNvPr>
            <p:cNvSpPr/>
            <p:nvPr/>
          </p:nvSpPr>
          <p:spPr>
            <a:xfrm>
              <a:off x="4975616" y="2393938"/>
              <a:ext cx="120674" cy="110689"/>
            </a:xfrm>
            <a:prstGeom prst="ellipse">
              <a:avLst/>
            </a:prstGeom>
            <a:ln>
              <a:prstDash val="sysDot"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5" name="文本框 354">
              <a:extLst>
                <a:ext uri="{FF2B5EF4-FFF2-40B4-BE49-F238E27FC236}">
                  <a16:creationId xmlns:a16="http://schemas.microsoft.com/office/drawing/2014/main" id="{BD9A9244-876D-DD08-815A-1E0225E288FA}"/>
                </a:ext>
              </a:extLst>
            </p:cNvPr>
            <p:cNvSpPr txBox="1"/>
            <p:nvPr/>
          </p:nvSpPr>
          <p:spPr>
            <a:xfrm>
              <a:off x="3770601" y="2337364"/>
              <a:ext cx="10680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VIS  Features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6" name="文本框 355">
              <a:extLst>
                <a:ext uri="{FF2B5EF4-FFF2-40B4-BE49-F238E27FC236}">
                  <a16:creationId xmlns:a16="http://schemas.microsoft.com/office/drawing/2014/main" id="{3BC03C60-EF35-0C0D-2E0D-D6C5F210AE6C}"/>
                </a:ext>
              </a:extLst>
            </p:cNvPr>
            <p:cNvSpPr txBox="1"/>
            <p:nvPr/>
          </p:nvSpPr>
          <p:spPr>
            <a:xfrm>
              <a:off x="3768607" y="2561082"/>
              <a:ext cx="120389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b="0" i="0" dirty="0">
                  <a:solidFill>
                    <a:srgbClr val="11111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VIS+  Features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7" name="文本框 356">
              <a:extLst>
                <a:ext uri="{FF2B5EF4-FFF2-40B4-BE49-F238E27FC236}">
                  <a16:creationId xmlns:a16="http://schemas.microsoft.com/office/drawing/2014/main" id="{AE239921-0A7C-CF35-E670-D75BE7B2E463}"/>
                </a:ext>
              </a:extLst>
            </p:cNvPr>
            <p:cNvSpPr txBox="1"/>
            <p:nvPr/>
          </p:nvSpPr>
          <p:spPr>
            <a:xfrm>
              <a:off x="5142155" y="2337364"/>
              <a:ext cx="169857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11111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IR  Features</a:t>
              </a:r>
              <a:endParaRPr lang="zh-CN" altLang="en-US" sz="10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8" name="文本框 357">
              <a:extLst>
                <a:ext uri="{FF2B5EF4-FFF2-40B4-BE49-F238E27FC236}">
                  <a16:creationId xmlns:a16="http://schemas.microsoft.com/office/drawing/2014/main" id="{3DB9A9A9-7D5A-3965-6536-60FF720654B7}"/>
                </a:ext>
              </a:extLst>
            </p:cNvPr>
            <p:cNvSpPr txBox="1"/>
            <p:nvPr/>
          </p:nvSpPr>
          <p:spPr>
            <a:xfrm>
              <a:off x="5142155" y="2556040"/>
              <a:ext cx="169857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11111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IR+  Features</a:t>
              </a:r>
              <a:endParaRPr lang="zh-CN" altLang="en-US" sz="10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9" name="文本框 358">
              <a:extLst>
                <a:ext uri="{FF2B5EF4-FFF2-40B4-BE49-F238E27FC236}">
                  <a16:creationId xmlns:a16="http://schemas.microsoft.com/office/drawing/2014/main" id="{C1D83F62-BDC6-AE66-C5CD-AE8EA432A961}"/>
                </a:ext>
              </a:extLst>
            </p:cNvPr>
            <p:cNvSpPr txBox="1"/>
            <p:nvPr/>
          </p:nvSpPr>
          <p:spPr>
            <a:xfrm>
              <a:off x="6138792" y="2422462"/>
              <a:ext cx="40757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αC :  αCMN  βH:   βHMN   γC :  γCMA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60" name="对象 359">
              <a:extLst>
                <a:ext uri="{FF2B5EF4-FFF2-40B4-BE49-F238E27FC236}">
                  <a16:creationId xmlns:a16="http://schemas.microsoft.com/office/drawing/2014/main" id="{13F99744-A25E-3F91-B109-307ECC4C251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79859128"/>
                </p:ext>
              </p:extLst>
            </p:nvPr>
          </p:nvGraphicFramePr>
          <p:xfrm>
            <a:off x="10725276" y="1120954"/>
            <a:ext cx="311150" cy="350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39871" imgH="269371" progId="Equation.DSMT4">
                    <p:embed/>
                  </p:oleObj>
                </mc:Choice>
                <mc:Fallback>
                  <p:oleObj name="Equation" r:id="rId4" imgW="239871" imgH="269371" progId="Equation.DSMT4">
                    <p:embed/>
                    <p:pic>
                      <p:nvPicPr>
                        <p:cNvPr id="280" name="对象 279">
                          <a:extLst>
                            <a:ext uri="{FF2B5EF4-FFF2-40B4-BE49-F238E27FC236}">
                              <a16:creationId xmlns:a16="http://schemas.microsoft.com/office/drawing/2014/main" id="{31F4ECA6-C577-0E6F-B837-8C8B0E5478E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0725276" y="1120954"/>
                          <a:ext cx="311150" cy="35030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1" name="对象 360">
              <a:extLst>
                <a:ext uri="{FF2B5EF4-FFF2-40B4-BE49-F238E27FC236}">
                  <a16:creationId xmlns:a16="http://schemas.microsoft.com/office/drawing/2014/main" id="{BC0AD86D-A4A0-1B37-A33C-4F6071920CE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10023732"/>
                </p:ext>
              </p:extLst>
            </p:nvPr>
          </p:nvGraphicFramePr>
          <p:xfrm>
            <a:off x="10712515" y="1383189"/>
            <a:ext cx="387483" cy="350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14724" imgH="284218" progId="Equation.DSMT4">
                    <p:embed/>
                  </p:oleObj>
                </mc:Choice>
                <mc:Fallback>
                  <p:oleObj name="Equation" r:id="rId6" imgW="314724" imgH="284218" progId="Equation.DSMT4">
                    <p:embed/>
                    <p:pic>
                      <p:nvPicPr>
                        <p:cNvPr id="281" name="对象 280">
                          <a:extLst>
                            <a:ext uri="{FF2B5EF4-FFF2-40B4-BE49-F238E27FC236}">
                              <a16:creationId xmlns:a16="http://schemas.microsoft.com/office/drawing/2014/main" id="{C63A8A59-6A33-A653-A098-FA10ED7C8B7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0712515" y="1383189"/>
                          <a:ext cx="387483" cy="35030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2" name="对象 361">
              <a:extLst>
                <a:ext uri="{FF2B5EF4-FFF2-40B4-BE49-F238E27FC236}">
                  <a16:creationId xmlns:a16="http://schemas.microsoft.com/office/drawing/2014/main" id="{568BD4B7-8436-955B-0975-9C0DD2FF57D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87879092"/>
                </p:ext>
              </p:extLst>
            </p:nvPr>
          </p:nvGraphicFramePr>
          <p:xfrm>
            <a:off x="10712818" y="1645423"/>
            <a:ext cx="297201" cy="3558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24985" imgH="269371" progId="Equation.DSMT4">
                    <p:embed/>
                  </p:oleObj>
                </mc:Choice>
                <mc:Fallback>
                  <p:oleObj name="Equation" r:id="rId8" imgW="224985" imgH="269371" progId="Equation.DSMT4">
                    <p:embed/>
                    <p:pic>
                      <p:nvPicPr>
                        <p:cNvPr id="282" name="对象 281">
                          <a:extLst>
                            <a:ext uri="{FF2B5EF4-FFF2-40B4-BE49-F238E27FC236}">
                              <a16:creationId xmlns:a16="http://schemas.microsoft.com/office/drawing/2014/main" id="{CBD98F99-03FD-588D-E7F1-0ACFA3EB3DE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0712818" y="1645423"/>
                          <a:ext cx="297201" cy="35580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69" name="文本框 368">
            <a:extLst>
              <a:ext uri="{FF2B5EF4-FFF2-40B4-BE49-F238E27FC236}">
                <a16:creationId xmlns:a16="http://schemas.microsoft.com/office/drawing/2014/main" id="{1A9419C5-4BF0-40E6-112A-2D53BBA026EF}"/>
              </a:ext>
            </a:extLst>
          </p:cNvPr>
          <p:cNvSpPr txBox="1"/>
          <p:nvPr/>
        </p:nvSpPr>
        <p:spPr>
          <a:xfrm>
            <a:off x="1129552" y="1288348"/>
            <a:ext cx="2966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整体框架图示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33940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AE12504-DEBD-4C1B-9BF9-6712F52677E7}"/>
              </a:ext>
            </a:extLst>
          </p:cNvPr>
          <p:cNvGrpSpPr/>
          <p:nvPr/>
        </p:nvGrpSpPr>
        <p:grpSpPr>
          <a:xfrm>
            <a:off x="322730" y="339134"/>
            <a:ext cx="8431803" cy="860611"/>
            <a:chOff x="322730" y="339134"/>
            <a:chExt cx="8431803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876FD67B-FF92-40E6-90FE-CF4C2316AEDC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EFE52BD2-8191-4D27-B8B6-182474EF8C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384F5AE-1080-43E6-980F-3576864CC119}"/>
                </a:ext>
              </a:extLst>
            </p:cNvPr>
            <p:cNvSpPr txBox="1"/>
            <p:nvPr/>
          </p:nvSpPr>
          <p:spPr>
            <a:xfrm>
              <a:off x="1129553" y="384720"/>
              <a:ext cx="762498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dirty="0">
                  <a:solidFill>
                    <a:schemeClr val="accent1">
                      <a:lumMod val="75000"/>
                    </a:schemeClr>
                  </a:solidFill>
                </a:rPr>
                <a:t>行人重识别跨模态差异消解</a:t>
              </a:r>
            </a:p>
          </p:txBody>
        </p:sp>
      </p:grpSp>
      <p:pic>
        <p:nvPicPr>
          <p:cNvPr id="72" name="图片 71">
            <a:extLst>
              <a:ext uri="{FF2B5EF4-FFF2-40B4-BE49-F238E27FC236}">
                <a16:creationId xmlns:a16="http://schemas.microsoft.com/office/drawing/2014/main" id="{6BC73CB9-7F72-A390-7859-F082C0F6F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968" y="1969186"/>
            <a:ext cx="4976670" cy="3378495"/>
          </a:xfrm>
          <a:prstGeom prst="rect">
            <a:avLst/>
          </a:prstGeom>
        </p:spPr>
      </p:pic>
      <p:sp>
        <p:nvSpPr>
          <p:cNvPr id="73" name="文本框 72">
            <a:extLst>
              <a:ext uri="{FF2B5EF4-FFF2-40B4-BE49-F238E27FC236}">
                <a16:creationId xmlns:a16="http://schemas.microsoft.com/office/drawing/2014/main" id="{0A2B3FB5-DA96-A25E-2C41-7CA976CC05C3}"/>
              </a:ext>
            </a:extLst>
          </p:cNvPr>
          <p:cNvSpPr txBox="1"/>
          <p:nvPr/>
        </p:nvSpPr>
        <p:spPr>
          <a:xfrm>
            <a:off x="1129552" y="1292079"/>
            <a:ext cx="227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光谱一致性</a:t>
            </a:r>
            <a:endParaRPr lang="zh-CN" altLang="en-US" sz="2400" dirty="0"/>
          </a:p>
        </p:txBody>
      </p:sp>
      <p:sp>
        <p:nvSpPr>
          <p:cNvPr id="75" name="Rectangle 2">
            <a:extLst>
              <a:ext uri="{FF2B5EF4-FFF2-40B4-BE49-F238E27FC236}">
                <a16:creationId xmlns:a16="http://schemas.microsoft.com/office/drawing/2014/main" id="{03CCF1E4-334B-B555-8779-CA780918A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9968" y="2642770"/>
            <a:ext cx="643203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RGB → 灰度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：减少可见光与红外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图像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的光谱差异，</a:t>
            </a:r>
            <a:endParaRPr lang="en-US" altLang="zh-CN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zh-CN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CLAHE 增强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：分块直方图均衡，抑制噪声并增强低光细节</a:t>
            </a:r>
          </a:p>
        </p:txBody>
      </p:sp>
    </p:spTree>
    <p:extLst>
      <p:ext uri="{BB962C8B-B14F-4D97-AF65-F5344CB8AC3E}">
        <p14:creationId xmlns:p14="http://schemas.microsoft.com/office/powerpoint/2010/main" val="2153415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AE12504-DEBD-4C1B-9BF9-6712F52677E7}"/>
              </a:ext>
            </a:extLst>
          </p:cNvPr>
          <p:cNvGrpSpPr/>
          <p:nvPr/>
        </p:nvGrpSpPr>
        <p:grpSpPr>
          <a:xfrm>
            <a:off x="322730" y="339134"/>
            <a:ext cx="8313269" cy="860611"/>
            <a:chOff x="322730" y="339134"/>
            <a:chExt cx="8313269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876FD67B-FF92-40E6-90FE-CF4C2316AEDC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EFE52BD2-8191-4D27-B8B6-182474EF8C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384F5AE-1080-43E6-980F-3576864CC119}"/>
                </a:ext>
              </a:extLst>
            </p:cNvPr>
            <p:cNvSpPr txBox="1"/>
            <p:nvPr/>
          </p:nvSpPr>
          <p:spPr>
            <a:xfrm>
              <a:off x="1129552" y="384720"/>
              <a:ext cx="750644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dirty="0">
                  <a:solidFill>
                    <a:schemeClr val="accent1">
                      <a:lumMod val="75000"/>
                    </a:schemeClr>
                  </a:solidFill>
                </a:rPr>
                <a:t>行人重识别跨模态差异消解</a:t>
              </a:r>
            </a:p>
          </p:txBody>
        </p:sp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493B3E64-3602-854A-DD3B-5DA5C9F84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111" y="1876854"/>
            <a:ext cx="9576177" cy="2950121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81886F63-B974-364F-0B53-86EEB28802CD}"/>
              </a:ext>
            </a:extLst>
          </p:cNvPr>
          <p:cNvSpPr txBox="1"/>
          <p:nvPr/>
        </p:nvSpPr>
        <p:spPr>
          <a:xfrm>
            <a:off x="1129551" y="1292079"/>
            <a:ext cx="43737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跨模态特征桥接与融合</a:t>
            </a:r>
            <a:endParaRPr lang="zh-CN" altLang="en-US" sz="24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5DB960F-F833-0DF4-C99A-438AA80667CC}"/>
              </a:ext>
            </a:extLst>
          </p:cNvPr>
          <p:cNvSpPr txBox="1"/>
          <p:nvPr/>
        </p:nvSpPr>
        <p:spPr>
          <a:xfrm>
            <a:off x="726141" y="5524683"/>
            <a:ext cx="1092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通过两种注意力机制（</a:t>
            </a:r>
            <a:r>
              <a:rPr lang="en-US" altLang="zh-CN" dirty="0"/>
              <a:t>CMN</a:t>
            </a:r>
            <a:r>
              <a:rPr lang="zh-CN" altLang="en-US" dirty="0"/>
              <a:t>与</a:t>
            </a:r>
            <a:r>
              <a:rPr lang="en-US" altLang="zh-CN" dirty="0"/>
              <a:t>HMN</a:t>
            </a:r>
            <a:r>
              <a:rPr lang="zh-CN" altLang="en-US" dirty="0"/>
              <a:t>）和跨层语义连接模块，实现浅层到高层特征的渐进对齐，并经可学习加权后生成全局一致的跨模态语义特征</a:t>
            </a:r>
            <a:r>
              <a:rPr lang="en-US" altLang="zh-CN" dirty="0"/>
              <a:t>Z</a:t>
            </a:r>
            <a:r>
              <a:rPr lang="zh-CN" altLang="en-US" dirty="0"/>
              <a:t>。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BE6F62EE-56BB-F7AB-0BD6-68D24A4AD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9522" y="4743731"/>
            <a:ext cx="4495238" cy="780952"/>
          </a:xfrm>
          <a:prstGeom prst="rect">
            <a:avLst/>
          </a:prstGeom>
        </p:spPr>
      </p:pic>
      <p:sp>
        <p:nvSpPr>
          <p:cNvPr id="32" name="箭头: 下 31">
            <a:extLst>
              <a:ext uri="{FF2B5EF4-FFF2-40B4-BE49-F238E27FC236}">
                <a16:creationId xmlns:a16="http://schemas.microsoft.com/office/drawing/2014/main" id="{E15672B0-86A4-BA04-2EF2-26F5D4C3A849}"/>
              </a:ext>
            </a:extLst>
          </p:cNvPr>
          <p:cNvSpPr/>
          <p:nvPr/>
        </p:nvSpPr>
        <p:spPr>
          <a:xfrm rot="2850820">
            <a:off x="6266339" y="1257531"/>
            <a:ext cx="431800" cy="1447994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F97B21E-B565-1719-B4AF-670B1D0003CF}"/>
              </a:ext>
            </a:extLst>
          </p:cNvPr>
          <p:cNvSpPr txBox="1"/>
          <p:nvPr/>
        </p:nvSpPr>
        <p:spPr>
          <a:xfrm>
            <a:off x="7220867" y="1253897"/>
            <a:ext cx="2700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CMA</a:t>
            </a:r>
            <a:r>
              <a:rPr lang="zh-CN" altLang="en-US" dirty="0"/>
              <a:t>（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跨层语义连接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805894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AE12504-DEBD-4C1B-9BF9-6712F52677E7}"/>
              </a:ext>
            </a:extLst>
          </p:cNvPr>
          <p:cNvGrpSpPr/>
          <p:nvPr/>
        </p:nvGrpSpPr>
        <p:grpSpPr>
          <a:xfrm>
            <a:off x="322730" y="339134"/>
            <a:ext cx="9041403" cy="860611"/>
            <a:chOff x="322730" y="339134"/>
            <a:chExt cx="9041403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876FD67B-FF92-40E6-90FE-CF4C2316AEDC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EFE52BD2-8191-4D27-B8B6-182474EF8C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384F5AE-1080-43E6-980F-3576864CC119}"/>
                </a:ext>
              </a:extLst>
            </p:cNvPr>
            <p:cNvSpPr txBox="1"/>
            <p:nvPr/>
          </p:nvSpPr>
          <p:spPr>
            <a:xfrm>
              <a:off x="1129553" y="384720"/>
              <a:ext cx="823458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dirty="0">
                  <a:solidFill>
                    <a:schemeClr val="accent1">
                      <a:lumMod val="75000"/>
                    </a:schemeClr>
                  </a:solidFill>
                </a:rPr>
                <a:t>行人重识别跨模态差异消解</a:t>
              </a: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EA75842C-AFC0-478D-E896-7839BB4ABFBE}"/>
              </a:ext>
            </a:extLst>
          </p:cNvPr>
          <p:cNvSpPr txBox="1"/>
          <p:nvPr/>
        </p:nvSpPr>
        <p:spPr>
          <a:xfrm>
            <a:off x="1129551" y="1292079"/>
            <a:ext cx="43737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局部判别增强</a:t>
            </a:r>
            <a:endParaRPr lang="zh-CN" altLang="en-US" sz="240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A302900-7CFE-882B-5A8D-44BFC7452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351" y="2014772"/>
            <a:ext cx="6079255" cy="2599364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87D54894-D778-59CD-31D8-28496781D017}"/>
              </a:ext>
            </a:extLst>
          </p:cNvPr>
          <p:cNvSpPr txBox="1"/>
          <p:nvPr/>
        </p:nvSpPr>
        <p:spPr>
          <a:xfrm>
            <a:off x="7132605" y="2852789"/>
            <a:ext cx="49239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增强局部关键特征，补偿低光和红外模态下的细节退化，为共享特征空间提供更具判别性的特征表示。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55724FE8-6D72-46B4-8790-8122102A7F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0274" y="4991086"/>
            <a:ext cx="4754593" cy="127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074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AE12504-DEBD-4C1B-9BF9-6712F52677E7}"/>
              </a:ext>
            </a:extLst>
          </p:cNvPr>
          <p:cNvGrpSpPr/>
          <p:nvPr/>
        </p:nvGrpSpPr>
        <p:grpSpPr>
          <a:xfrm>
            <a:off x="322730" y="339134"/>
            <a:ext cx="8702737" cy="860611"/>
            <a:chOff x="322730" y="339134"/>
            <a:chExt cx="8702737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876FD67B-FF92-40E6-90FE-CF4C2316AEDC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EFE52BD2-8191-4D27-B8B6-182474EF8C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384F5AE-1080-43E6-980F-3576864CC119}"/>
                </a:ext>
              </a:extLst>
            </p:cNvPr>
            <p:cNvSpPr txBox="1"/>
            <p:nvPr/>
          </p:nvSpPr>
          <p:spPr>
            <a:xfrm>
              <a:off x="1129553" y="384720"/>
              <a:ext cx="7895914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dirty="0">
                  <a:solidFill>
                    <a:schemeClr val="accent1">
                      <a:lumMod val="75000"/>
                    </a:schemeClr>
                  </a:solidFill>
                </a:rPr>
                <a:t>行人重识别跨模态差异消解</a:t>
              </a:r>
            </a:p>
          </p:txBody>
        </p: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20FE1E6F-CB49-0D92-9331-B01A49D2E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30" y="1999039"/>
            <a:ext cx="6017813" cy="284249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FBC4CA4B-749F-9BAB-D124-80537EA69C50}"/>
              </a:ext>
            </a:extLst>
          </p:cNvPr>
          <p:cNvSpPr txBox="1"/>
          <p:nvPr/>
        </p:nvSpPr>
        <p:spPr>
          <a:xfrm>
            <a:off x="1129551" y="1292079"/>
            <a:ext cx="64481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度量学习（</a:t>
            </a:r>
            <a:r>
              <a:rPr lang="en-US" altLang="zh-CN" sz="3200" dirty="0" err="1"/>
              <a:t>Softmin</a:t>
            </a:r>
            <a:r>
              <a:rPr lang="en-US" altLang="zh-CN" sz="3200" dirty="0"/>
              <a:t> </a:t>
            </a:r>
            <a:r>
              <a:rPr lang="zh-CN" altLang="en-US" sz="3200" dirty="0"/>
              <a:t>权重机制）</a:t>
            </a:r>
            <a:endParaRPr lang="zh-CN" altLang="en-US" sz="2400" dirty="0"/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F085FA8A-4219-D940-5179-1578E1D4A2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248462"/>
              </p:ext>
            </p:extLst>
          </p:nvPr>
        </p:nvGraphicFramePr>
        <p:xfrm>
          <a:off x="6519334" y="1999039"/>
          <a:ext cx="5349936" cy="2834640"/>
        </p:xfrm>
        <a:graphic>
          <a:graphicData uri="http://schemas.openxmlformats.org/drawingml/2006/table">
            <a:tbl>
              <a:tblPr/>
              <a:tblGrid>
                <a:gridCol w="1783312">
                  <a:extLst>
                    <a:ext uri="{9D8B030D-6E8A-4147-A177-3AD203B41FA5}">
                      <a16:colId xmlns:a16="http://schemas.microsoft.com/office/drawing/2014/main" val="1535195657"/>
                    </a:ext>
                  </a:extLst>
                </a:gridCol>
                <a:gridCol w="1783312">
                  <a:extLst>
                    <a:ext uri="{9D8B030D-6E8A-4147-A177-3AD203B41FA5}">
                      <a16:colId xmlns:a16="http://schemas.microsoft.com/office/drawing/2014/main" val="3316355762"/>
                    </a:ext>
                  </a:extLst>
                </a:gridCol>
                <a:gridCol w="1783312">
                  <a:extLst>
                    <a:ext uri="{9D8B030D-6E8A-4147-A177-3AD203B41FA5}">
                      <a16:colId xmlns:a16="http://schemas.microsoft.com/office/drawing/2014/main" val="1533646585"/>
                    </a:ext>
                  </a:extLst>
                </a:gridCol>
              </a:tblGrid>
              <a:tr h="3520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对比项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Hard-min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Softmin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38805"/>
                  </a:ext>
                </a:extLst>
              </a:tr>
              <a:tr h="8727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/>
                        <a:t>负样本选择</a:t>
                      </a:r>
                      <a:endParaRPr lang="zh-CN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只选最近的一个负样本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对所有负样本加权考虑，距离越近权重越大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221695"/>
                  </a:ext>
                </a:extLst>
              </a:tr>
              <a:tr h="8727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/>
                        <a:t>梯度稳定性</a:t>
                      </a:r>
                      <a:endParaRPr lang="zh-CN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容易受异常样本影响，梯度波动大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平滑梯度，更鲁棒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3836324"/>
                  </a:ext>
                </a:extLst>
              </a:tr>
              <a:tr h="610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 dirty="0"/>
                        <a:t>计算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只计算一个负样本距离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计算所有负样本加权距离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33427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22045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AE12504-DEBD-4C1B-9BF9-6712F52677E7}"/>
              </a:ext>
            </a:extLst>
          </p:cNvPr>
          <p:cNvGrpSpPr/>
          <p:nvPr/>
        </p:nvGrpSpPr>
        <p:grpSpPr>
          <a:xfrm>
            <a:off x="322730" y="339134"/>
            <a:ext cx="8829737" cy="1492136"/>
            <a:chOff x="322730" y="339134"/>
            <a:chExt cx="8829737" cy="1492136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876FD67B-FF92-40E6-90FE-CF4C2316AEDC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EFE52BD2-8191-4D27-B8B6-182474EF8C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384F5AE-1080-43E6-980F-3576864CC119}"/>
                </a:ext>
              </a:extLst>
            </p:cNvPr>
            <p:cNvSpPr txBox="1"/>
            <p:nvPr/>
          </p:nvSpPr>
          <p:spPr>
            <a:xfrm>
              <a:off x="1129553" y="384720"/>
              <a:ext cx="8022914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dirty="0">
                  <a:solidFill>
                    <a:schemeClr val="accent1">
                      <a:lumMod val="75000"/>
                    </a:schemeClr>
                  </a:solidFill>
                </a:rPr>
                <a:t>行人重识别跨模态差异消解</a:t>
              </a:r>
            </a:p>
            <a:p>
              <a:endParaRPr lang="zh-CN" altLang="en-US" sz="4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B977492E-7750-9419-56F9-556736372EB1}"/>
              </a:ext>
            </a:extLst>
          </p:cNvPr>
          <p:cNvSpPr txBox="1"/>
          <p:nvPr/>
        </p:nvSpPr>
        <p:spPr>
          <a:xfrm>
            <a:off x="1129551" y="1292079"/>
            <a:ext cx="64481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实验验证</a:t>
            </a:r>
            <a:endParaRPr lang="zh-CN" altLang="en-US" sz="2400" dirty="0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10D70F2D-226B-7795-1425-5EBBFE0084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1325806"/>
              </p:ext>
            </p:extLst>
          </p:nvPr>
        </p:nvGraphicFramePr>
        <p:xfrm>
          <a:off x="990599" y="1809120"/>
          <a:ext cx="10439400" cy="48128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1093125228"/>
                    </a:ext>
                  </a:extLst>
                </a:gridCol>
                <a:gridCol w="1642357">
                  <a:extLst>
                    <a:ext uri="{9D8B030D-6E8A-4147-A177-3AD203B41FA5}">
                      <a16:colId xmlns:a16="http://schemas.microsoft.com/office/drawing/2014/main" val="4098770789"/>
                    </a:ext>
                  </a:extLst>
                </a:gridCol>
                <a:gridCol w="977821">
                  <a:extLst>
                    <a:ext uri="{9D8B030D-6E8A-4147-A177-3AD203B41FA5}">
                      <a16:colId xmlns:a16="http://schemas.microsoft.com/office/drawing/2014/main" val="1101058540"/>
                    </a:ext>
                  </a:extLst>
                </a:gridCol>
                <a:gridCol w="977821">
                  <a:extLst>
                    <a:ext uri="{9D8B030D-6E8A-4147-A177-3AD203B41FA5}">
                      <a16:colId xmlns:a16="http://schemas.microsoft.com/office/drawing/2014/main" val="2513192884"/>
                    </a:ext>
                  </a:extLst>
                </a:gridCol>
                <a:gridCol w="977821">
                  <a:extLst>
                    <a:ext uri="{9D8B030D-6E8A-4147-A177-3AD203B41FA5}">
                      <a16:colId xmlns:a16="http://schemas.microsoft.com/office/drawing/2014/main" val="1657937742"/>
                    </a:ext>
                  </a:extLst>
                </a:gridCol>
                <a:gridCol w="977821">
                  <a:extLst>
                    <a:ext uri="{9D8B030D-6E8A-4147-A177-3AD203B41FA5}">
                      <a16:colId xmlns:a16="http://schemas.microsoft.com/office/drawing/2014/main" val="2088673454"/>
                    </a:ext>
                  </a:extLst>
                </a:gridCol>
                <a:gridCol w="977821">
                  <a:extLst>
                    <a:ext uri="{9D8B030D-6E8A-4147-A177-3AD203B41FA5}">
                      <a16:colId xmlns:a16="http://schemas.microsoft.com/office/drawing/2014/main" val="2674580282"/>
                    </a:ext>
                  </a:extLst>
                </a:gridCol>
                <a:gridCol w="98807">
                  <a:extLst>
                    <a:ext uri="{9D8B030D-6E8A-4147-A177-3AD203B41FA5}">
                      <a16:colId xmlns:a16="http://schemas.microsoft.com/office/drawing/2014/main" val="4176029689"/>
                    </a:ext>
                  </a:extLst>
                </a:gridCol>
                <a:gridCol w="333159">
                  <a:extLst>
                    <a:ext uri="{9D8B030D-6E8A-4147-A177-3AD203B41FA5}">
                      <a16:colId xmlns:a16="http://schemas.microsoft.com/office/drawing/2014/main" val="4138528379"/>
                    </a:ext>
                  </a:extLst>
                </a:gridCol>
                <a:gridCol w="1086472">
                  <a:extLst>
                    <a:ext uri="{9D8B030D-6E8A-4147-A177-3AD203B41FA5}">
                      <a16:colId xmlns:a16="http://schemas.microsoft.com/office/drawing/2014/main" val="3359401132"/>
                    </a:ext>
                  </a:extLst>
                </a:gridCol>
                <a:gridCol w="636900">
                  <a:extLst>
                    <a:ext uri="{9D8B030D-6E8A-4147-A177-3AD203B41FA5}">
                      <a16:colId xmlns:a16="http://schemas.microsoft.com/office/drawing/2014/main" val="170924465"/>
                    </a:ext>
                  </a:extLst>
                </a:gridCol>
              </a:tblGrid>
              <a:tr h="262009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 dirty="0">
                          <a:effectLst/>
                        </a:rPr>
                        <a:t>Dataset</a:t>
                      </a:r>
                      <a:endParaRPr lang="zh-CN" sz="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SYSU-MM01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LLCM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5069934"/>
                  </a:ext>
                </a:extLst>
              </a:tr>
              <a:tr h="239325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 dirty="0">
                          <a:effectLst/>
                        </a:rPr>
                        <a:t>Settings</a:t>
                      </a:r>
                      <a:endParaRPr lang="zh-CN" sz="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 dirty="0">
                          <a:effectLst/>
                        </a:rPr>
                        <a:t>All-search</a:t>
                      </a:r>
                      <a:endParaRPr lang="zh-CN" sz="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Indoor-search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IR-TO-VIS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VIS-TO-IR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09271"/>
                  </a:ext>
                </a:extLst>
              </a:tr>
              <a:tr h="3083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Method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 dirty="0">
                          <a:effectLst/>
                        </a:rPr>
                        <a:t>Publish</a:t>
                      </a:r>
                      <a:endParaRPr lang="zh-CN" sz="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 dirty="0">
                          <a:effectLst/>
                        </a:rPr>
                        <a:t>R1</a:t>
                      </a:r>
                      <a:endParaRPr lang="zh-CN" sz="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mAP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R1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mAP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R1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mAP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R1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mAP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extLst>
                  <a:ext uri="{0D108BD9-81ED-4DB2-BD59-A6C34878D82A}">
                    <a16:rowId xmlns:a16="http://schemas.microsoft.com/office/drawing/2014/main" val="3088388756"/>
                  </a:ext>
                </a:extLst>
              </a:tr>
              <a:tr h="4111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 dirty="0">
                          <a:effectLst/>
                        </a:rPr>
                        <a:t>CAJ</a:t>
                      </a:r>
                      <a:endParaRPr lang="zh-CN" sz="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CVPR21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 dirty="0">
                          <a:effectLst/>
                        </a:rPr>
                        <a:t>69.8</a:t>
                      </a:r>
                      <a:endParaRPr lang="zh-CN" sz="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66.8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76.2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79.6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52.5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58.9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59.9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62.7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extLst>
                  <a:ext uri="{0D108BD9-81ED-4DB2-BD59-A6C34878D82A}">
                    <a16:rowId xmlns:a16="http://schemas.microsoft.com/office/drawing/2014/main" val="4198245972"/>
                  </a:ext>
                </a:extLst>
              </a:tr>
              <a:tr h="4111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 dirty="0">
                          <a:effectLst/>
                        </a:rPr>
                        <a:t>DEEN</a:t>
                      </a:r>
                      <a:endParaRPr lang="zh-CN" sz="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 dirty="0">
                          <a:effectLst/>
                        </a:rPr>
                        <a:t>CVPR23</a:t>
                      </a:r>
                      <a:endParaRPr lang="zh-CN" sz="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74.7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 dirty="0">
                          <a:effectLst/>
                        </a:rPr>
                        <a:t>71.8</a:t>
                      </a:r>
                      <a:endParaRPr lang="zh-CN" sz="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80.3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 dirty="0">
                          <a:effectLst/>
                        </a:rPr>
                        <a:t>83.3</a:t>
                      </a:r>
                      <a:endParaRPr lang="zh-CN" sz="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55.0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61.0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63.9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66.3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extLst>
                  <a:ext uri="{0D108BD9-81ED-4DB2-BD59-A6C34878D82A}">
                    <a16:rowId xmlns:a16="http://schemas.microsoft.com/office/drawing/2014/main" val="937047642"/>
                  </a:ext>
                </a:extLst>
              </a:tr>
              <a:tr h="4111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 dirty="0">
                          <a:effectLst/>
                        </a:rPr>
                        <a:t>HOS-Net </a:t>
                      </a:r>
                      <a:endParaRPr lang="zh-CN" sz="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AAAI24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75.6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 dirty="0">
                          <a:effectLst/>
                        </a:rPr>
                        <a:t>74.2</a:t>
                      </a:r>
                      <a:endParaRPr lang="zh-CN" sz="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83.0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85.5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56.4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63.2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64.9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67.9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extLst>
                  <a:ext uri="{0D108BD9-81ED-4DB2-BD59-A6C34878D82A}">
                    <a16:rowId xmlns:a16="http://schemas.microsoft.com/office/drawing/2014/main" val="3357196739"/>
                  </a:ext>
                </a:extLst>
              </a:tr>
              <a:tr h="4111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 dirty="0" err="1">
                          <a:effectLst/>
                        </a:rPr>
                        <a:t>DCPLNeT</a:t>
                      </a:r>
                      <a:endParaRPr lang="zh-CN" sz="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IEEE-TII24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74.1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70.4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 dirty="0">
                          <a:effectLst/>
                        </a:rPr>
                        <a:t>78.3</a:t>
                      </a:r>
                      <a:endParaRPr lang="zh-CN" sz="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82.0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53.4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59.8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60.5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63.2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extLst>
                  <a:ext uri="{0D108BD9-81ED-4DB2-BD59-A6C34878D82A}">
                    <a16:rowId xmlns:a16="http://schemas.microsoft.com/office/drawing/2014/main" val="10042521"/>
                  </a:ext>
                </a:extLst>
              </a:tr>
              <a:tr h="4111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 dirty="0">
                          <a:effectLst/>
                        </a:rPr>
                        <a:t>MIAM </a:t>
                      </a:r>
                      <a:endParaRPr lang="zh-CN" sz="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JVCIR24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74.3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71.8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83.1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 dirty="0">
                          <a:effectLst/>
                        </a:rPr>
                        <a:t>85.0</a:t>
                      </a:r>
                      <a:endParaRPr lang="zh-CN" sz="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55.4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62.0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62.0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64.5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extLst>
                  <a:ext uri="{0D108BD9-81ED-4DB2-BD59-A6C34878D82A}">
                    <a16:rowId xmlns:a16="http://schemas.microsoft.com/office/drawing/2014/main" val="2797042055"/>
                  </a:ext>
                </a:extLst>
              </a:tr>
              <a:tr h="4111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 dirty="0">
                          <a:effectLst/>
                        </a:rPr>
                        <a:t>MHN</a:t>
                      </a:r>
                      <a:endParaRPr lang="zh-CN" sz="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Info Fusion25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75.1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71.8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700" kern="100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US" sz="700" kern="100" dirty="0">
                          <a:effectLst/>
                        </a:rPr>
                        <a:t>81.6</a:t>
                      </a:r>
                      <a:endParaRPr lang="zh-CN" sz="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 dirty="0">
                          <a:effectLst/>
                        </a:rPr>
                        <a:t>85.1</a:t>
                      </a:r>
                      <a:endParaRPr lang="zh-CN" sz="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56.7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64.5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69.8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55.1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extLst>
                  <a:ext uri="{0D108BD9-81ED-4DB2-BD59-A6C34878D82A}">
                    <a16:rowId xmlns:a16="http://schemas.microsoft.com/office/drawing/2014/main" val="389458818"/>
                  </a:ext>
                </a:extLst>
              </a:tr>
              <a:tr h="4111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 dirty="0">
                          <a:effectLst/>
                        </a:rPr>
                        <a:t>PDM </a:t>
                      </a:r>
                      <a:endParaRPr lang="zh-CN" sz="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ICASSP 2025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78.0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75.4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86.2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 dirty="0">
                          <a:effectLst/>
                        </a:rPr>
                        <a:t>88.2</a:t>
                      </a:r>
                      <a:endParaRPr lang="zh-CN" sz="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56.4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62.6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65.7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67.8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extLst>
                  <a:ext uri="{0D108BD9-81ED-4DB2-BD59-A6C34878D82A}">
                    <a16:rowId xmlns:a16="http://schemas.microsoft.com/office/drawing/2014/main" val="1733145916"/>
                  </a:ext>
                </a:extLst>
              </a:tr>
              <a:tr h="3028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 dirty="0">
                          <a:effectLst/>
                        </a:rPr>
                        <a:t>CNGC</a:t>
                      </a:r>
                      <a:endParaRPr lang="zh-CN" sz="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ICASSP25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71.3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68.2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77.8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81.1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-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-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-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-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extLst>
                  <a:ext uri="{0D108BD9-81ED-4DB2-BD59-A6C34878D82A}">
                    <a16:rowId xmlns:a16="http://schemas.microsoft.com/office/drawing/2014/main" val="1915729343"/>
                  </a:ext>
                </a:extLst>
              </a:tr>
              <a:tr h="4111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 dirty="0" err="1">
                          <a:effectLst/>
                        </a:rPr>
                        <a:t>MSCMNet</a:t>
                      </a:r>
                      <a:endParaRPr lang="zh-CN" sz="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PR25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78.5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74.4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83.0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86.0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 dirty="0">
                          <a:effectLst/>
                        </a:rPr>
                        <a:t>55.1</a:t>
                      </a:r>
                      <a:endParaRPr lang="zh-CN" sz="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60.8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63.9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>
                          <a:effectLst/>
                        </a:rPr>
                        <a:t>66.1</a:t>
                      </a:r>
                      <a:endParaRPr lang="zh-CN" sz="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extLst>
                  <a:ext uri="{0D108BD9-81ED-4DB2-BD59-A6C34878D82A}">
                    <a16:rowId xmlns:a16="http://schemas.microsoft.com/office/drawing/2014/main" val="4237828201"/>
                  </a:ext>
                </a:extLst>
              </a:tr>
              <a:tr h="411143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 dirty="0">
                          <a:effectLst/>
                        </a:rPr>
                        <a:t>Ours</a:t>
                      </a:r>
                      <a:endParaRPr lang="zh-CN" sz="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 dirty="0">
                          <a:solidFill>
                            <a:srgbClr val="FF0000"/>
                          </a:solidFill>
                          <a:effectLst/>
                        </a:rPr>
                        <a:t>78.7</a:t>
                      </a:r>
                      <a:endParaRPr lang="zh-CN" sz="8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 dirty="0">
                          <a:solidFill>
                            <a:srgbClr val="FF0000"/>
                          </a:solidFill>
                          <a:effectLst/>
                        </a:rPr>
                        <a:t>75.6</a:t>
                      </a:r>
                      <a:endParaRPr lang="zh-CN" sz="8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 dirty="0">
                          <a:solidFill>
                            <a:srgbClr val="FF0000"/>
                          </a:solidFill>
                          <a:effectLst/>
                        </a:rPr>
                        <a:t>86.2</a:t>
                      </a:r>
                      <a:endParaRPr lang="zh-CN" sz="8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 dirty="0">
                          <a:solidFill>
                            <a:srgbClr val="FF0000"/>
                          </a:solidFill>
                          <a:effectLst/>
                        </a:rPr>
                        <a:t>88.8</a:t>
                      </a:r>
                      <a:endParaRPr lang="zh-CN" sz="8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 dirty="0">
                          <a:solidFill>
                            <a:srgbClr val="FF0000"/>
                          </a:solidFill>
                          <a:effectLst/>
                        </a:rPr>
                        <a:t>61.8</a:t>
                      </a:r>
                      <a:endParaRPr lang="zh-CN" sz="8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 dirty="0">
                          <a:solidFill>
                            <a:srgbClr val="FF0000"/>
                          </a:solidFill>
                          <a:effectLst/>
                        </a:rPr>
                        <a:t>69.7</a:t>
                      </a:r>
                      <a:endParaRPr lang="zh-CN" sz="8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 dirty="0">
                          <a:solidFill>
                            <a:srgbClr val="FF0000"/>
                          </a:solidFill>
                          <a:effectLst/>
                        </a:rPr>
                        <a:t>70.4</a:t>
                      </a:r>
                      <a:endParaRPr lang="zh-CN" sz="8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kern="100" dirty="0">
                          <a:solidFill>
                            <a:srgbClr val="FF0000"/>
                          </a:solidFill>
                          <a:effectLst/>
                        </a:rPr>
                        <a:t>69.4</a:t>
                      </a:r>
                      <a:endParaRPr lang="zh-CN" sz="8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369" marR="56369" marT="0" marB="0" anchor="ctr"/>
                </a:tc>
                <a:extLst>
                  <a:ext uri="{0D108BD9-81ED-4DB2-BD59-A6C34878D82A}">
                    <a16:rowId xmlns:a16="http://schemas.microsoft.com/office/drawing/2014/main" val="3495181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49828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AE12504-DEBD-4C1B-9BF9-6712F52677E7}"/>
              </a:ext>
            </a:extLst>
          </p:cNvPr>
          <p:cNvGrpSpPr/>
          <p:nvPr/>
        </p:nvGrpSpPr>
        <p:grpSpPr>
          <a:xfrm>
            <a:off x="322730" y="339134"/>
            <a:ext cx="7983069" cy="860611"/>
            <a:chOff x="322730" y="339134"/>
            <a:chExt cx="7983069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876FD67B-FF92-40E6-90FE-CF4C2316AEDC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EFE52BD2-8191-4D27-B8B6-182474EF8C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384F5AE-1080-43E6-980F-3576864CC119}"/>
                </a:ext>
              </a:extLst>
            </p:cNvPr>
            <p:cNvSpPr txBox="1"/>
            <p:nvPr/>
          </p:nvSpPr>
          <p:spPr>
            <a:xfrm>
              <a:off x="1129552" y="384720"/>
              <a:ext cx="717624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dirty="0">
                  <a:solidFill>
                    <a:schemeClr val="accent1">
                      <a:lumMod val="75000"/>
                    </a:schemeClr>
                  </a:solidFill>
                </a:rPr>
                <a:t>行人重识别跨模态差异消解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B7FEFF24-EFE7-F0A2-B89F-4D3F8801ADAC}"/>
              </a:ext>
            </a:extLst>
          </p:cNvPr>
          <p:cNvSpPr txBox="1"/>
          <p:nvPr/>
        </p:nvSpPr>
        <p:spPr>
          <a:xfrm>
            <a:off x="1129551" y="1292079"/>
            <a:ext cx="64481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实验验证</a:t>
            </a:r>
            <a:endParaRPr lang="zh-CN" altLang="en-US" sz="24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F1FD5EA-6331-7963-EDA0-8609CB159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133" y="2016997"/>
            <a:ext cx="9211734" cy="3548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5899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AE12504-DEBD-4C1B-9BF9-6712F52677E7}"/>
              </a:ext>
            </a:extLst>
          </p:cNvPr>
          <p:cNvGrpSpPr/>
          <p:nvPr/>
        </p:nvGrpSpPr>
        <p:grpSpPr>
          <a:xfrm>
            <a:off x="322730" y="339134"/>
            <a:ext cx="8499537" cy="1492136"/>
            <a:chOff x="322730" y="339134"/>
            <a:chExt cx="8499537" cy="1492136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876FD67B-FF92-40E6-90FE-CF4C2316AEDC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EFE52BD2-8191-4D27-B8B6-182474EF8C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384F5AE-1080-43E6-980F-3576864CC119}"/>
                </a:ext>
              </a:extLst>
            </p:cNvPr>
            <p:cNvSpPr txBox="1"/>
            <p:nvPr/>
          </p:nvSpPr>
          <p:spPr>
            <a:xfrm>
              <a:off x="1129552" y="384720"/>
              <a:ext cx="7692715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dirty="0">
                  <a:solidFill>
                    <a:schemeClr val="accent1">
                      <a:lumMod val="75000"/>
                    </a:schemeClr>
                  </a:solidFill>
                </a:rPr>
                <a:t>行人重识别跨模态差异消解</a:t>
              </a:r>
            </a:p>
            <a:p>
              <a:endParaRPr lang="zh-CN" altLang="en-US" sz="4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105C705-BD1C-08E4-C726-0ADDC166699E}"/>
              </a:ext>
            </a:extLst>
          </p:cNvPr>
          <p:cNvSpPr txBox="1"/>
          <p:nvPr/>
        </p:nvSpPr>
        <p:spPr>
          <a:xfrm>
            <a:off x="1129551" y="1292079"/>
            <a:ext cx="64481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实验验证</a:t>
            </a:r>
            <a:endParaRPr lang="zh-CN" altLang="en-US" sz="24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CB87E4C-5FC0-6806-407C-4271696E8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5600" y="1046546"/>
            <a:ext cx="5626847" cy="5193388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E7E9F376-6EBA-E0DA-0B2B-E13F0EBBA6CE}"/>
              </a:ext>
            </a:extLst>
          </p:cNvPr>
          <p:cNvSpPr txBox="1"/>
          <p:nvPr/>
        </p:nvSpPr>
        <p:spPr>
          <a:xfrm>
            <a:off x="980641" y="3503819"/>
            <a:ext cx="610446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注意力可视化结果： </a:t>
            </a:r>
            <a:r>
              <a:rPr lang="en-US" altLang="zh-CN" dirty="0"/>
              <a:t>(a) </a:t>
            </a:r>
            <a:r>
              <a:rPr lang="zh-CN" altLang="en-US" dirty="0"/>
              <a:t>我们的方法结果</a:t>
            </a:r>
            <a:endParaRPr lang="en-US" altLang="zh-CN" dirty="0"/>
          </a:p>
          <a:p>
            <a:r>
              <a:rPr lang="en-US" altLang="zh-CN" dirty="0"/>
              <a:t>                                  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                              (b) </a:t>
            </a:r>
            <a:r>
              <a:rPr lang="zh-CN" altLang="en-US" dirty="0"/>
              <a:t>基线方法的结果</a:t>
            </a:r>
          </a:p>
        </p:txBody>
      </p:sp>
    </p:spTree>
    <p:extLst>
      <p:ext uri="{BB962C8B-B14F-4D97-AF65-F5344CB8AC3E}">
        <p14:creationId xmlns:p14="http://schemas.microsoft.com/office/powerpoint/2010/main" val="25686840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E4E6A-D2E5-C0EF-A416-9E5194E2E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D5BDC65-39AC-AF79-1EAE-85C65DAC2538}"/>
              </a:ext>
            </a:extLst>
          </p:cNvPr>
          <p:cNvGrpSpPr/>
          <p:nvPr/>
        </p:nvGrpSpPr>
        <p:grpSpPr>
          <a:xfrm>
            <a:off x="322730" y="339134"/>
            <a:ext cx="9066803" cy="860611"/>
            <a:chOff x="322730" y="339134"/>
            <a:chExt cx="9066803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D5A67701-EA99-94FA-4B6A-90C21E349EDB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EACFA860-F920-79BE-E867-CFD1F584CE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7E28F53B-37EE-EA0D-28E8-4E5498875BE5}"/>
                </a:ext>
              </a:extLst>
            </p:cNvPr>
            <p:cNvSpPr txBox="1"/>
            <p:nvPr/>
          </p:nvSpPr>
          <p:spPr>
            <a:xfrm>
              <a:off x="1129553" y="384720"/>
              <a:ext cx="825998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dirty="0">
                  <a:solidFill>
                    <a:schemeClr val="accent1">
                      <a:lumMod val="75000"/>
                    </a:schemeClr>
                  </a:solidFill>
                </a:rPr>
                <a:t>视觉一致性向视觉可辨性的延伸</a:t>
              </a:r>
            </a:p>
          </p:txBody>
        </p:sp>
      </p:grpSp>
      <p:sp>
        <p:nvSpPr>
          <p:cNvPr id="10" name="Rectangle 1">
            <a:extLst>
              <a:ext uri="{FF2B5EF4-FFF2-40B4-BE49-F238E27FC236}">
                <a16:creationId xmlns:a16="http://schemas.microsoft.com/office/drawing/2014/main" id="{62B7410A-919F-343C-51F4-1433CB990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2203" y="2134024"/>
            <a:ext cx="5891930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挑战</a:t>
            </a:r>
            <a:endParaRPr kumimoji="0" lang="en-US" altLang="zh-CN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低光下通道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与纹理特征退化</a:t>
            </a:r>
            <a:r>
              <a:rPr lang="zh-CN" altLang="en-US" b="1" dirty="0">
                <a:latin typeface="Arial" panose="020B0604020202020204" pitchFamily="34" charset="0"/>
              </a:rPr>
              <a:t>。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人体轮廓与细节受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低光影响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导致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局部特征提取准确性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zh-CN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zh-CN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方法</a:t>
            </a:r>
            <a:endParaRPr kumimoji="0" lang="en-US" altLang="zh-CN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增强与增加的有机结合。</a:t>
            </a:r>
            <a:r>
              <a:rPr kumimoji="0" lang="zh-CN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保留特征增强的手段同时利用频域进行特征修复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增加</a:t>
            </a:r>
            <a:r>
              <a:rPr kumimoji="0" lang="zh-CN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网络可利用的纹理特征</a:t>
            </a:r>
            <a:endParaRPr kumimoji="0" lang="en-US" altLang="zh-CN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7FF3CE1-7CD7-76EB-9E13-45642A766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067" y="1216065"/>
            <a:ext cx="3611771" cy="2779318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2209AD1C-271F-4BFF-C07F-14868982395C}"/>
              </a:ext>
            </a:extLst>
          </p:cNvPr>
          <p:cNvSpPr/>
          <p:nvPr/>
        </p:nvSpPr>
        <p:spPr>
          <a:xfrm>
            <a:off x="1030941" y="2793160"/>
            <a:ext cx="403411" cy="987468"/>
          </a:xfrm>
          <a:prstGeom prst="ellipse">
            <a:avLst/>
          </a:prstGeom>
          <a:noFill/>
          <a:ln w="38100">
            <a:solidFill>
              <a:srgbClr val="FF33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921C3CB3-EDB7-C7F7-E08F-5CAEADE0B599}"/>
              </a:ext>
            </a:extLst>
          </p:cNvPr>
          <p:cNvSpPr/>
          <p:nvPr/>
        </p:nvSpPr>
        <p:spPr>
          <a:xfrm>
            <a:off x="3293533" y="2970960"/>
            <a:ext cx="1565817" cy="631868"/>
          </a:xfrm>
          <a:prstGeom prst="ellipse">
            <a:avLst/>
          </a:prstGeom>
          <a:noFill/>
          <a:ln w="38100">
            <a:solidFill>
              <a:srgbClr val="FF33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D488B37-79AD-27EE-7936-4D8947124F34}"/>
              </a:ext>
            </a:extLst>
          </p:cNvPr>
          <p:cNvGrpSpPr/>
          <p:nvPr/>
        </p:nvGrpSpPr>
        <p:grpSpPr>
          <a:xfrm>
            <a:off x="1232646" y="4165599"/>
            <a:ext cx="3140265" cy="2138347"/>
            <a:chOff x="3200401" y="2199436"/>
            <a:chExt cx="4468676" cy="328237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E9C6962B-49E2-C6CD-DECD-A0DB32A011AC}"/>
                </a:ext>
              </a:extLst>
            </p:cNvPr>
            <p:cNvGrpSpPr/>
            <p:nvPr/>
          </p:nvGrpSpPr>
          <p:grpSpPr>
            <a:xfrm>
              <a:off x="3200401" y="2199436"/>
              <a:ext cx="4468676" cy="3282372"/>
              <a:chOff x="3200401" y="2199436"/>
              <a:chExt cx="4468676" cy="3282372"/>
            </a:xfrm>
          </p:grpSpPr>
          <p:pic>
            <p:nvPicPr>
              <p:cNvPr id="13" name="图片 12">
                <a:extLst>
                  <a:ext uri="{FF2B5EF4-FFF2-40B4-BE49-F238E27FC236}">
                    <a16:creationId xmlns:a16="http://schemas.microsoft.com/office/drawing/2014/main" id="{4E61AE6E-79CC-118B-6C15-0450444663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00401" y="2199436"/>
                <a:ext cx="1410455" cy="3282372"/>
              </a:xfrm>
              <a:prstGeom prst="rect">
                <a:avLst/>
              </a:prstGeom>
            </p:spPr>
          </p:pic>
          <p:pic>
            <p:nvPicPr>
              <p:cNvPr id="14" name="图片 13">
                <a:extLst>
                  <a:ext uri="{FF2B5EF4-FFF2-40B4-BE49-F238E27FC236}">
                    <a16:creationId xmlns:a16="http://schemas.microsoft.com/office/drawing/2014/main" id="{12267AF8-FEE1-5452-5AC6-F8B79D7EF2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58622" y="2199436"/>
                <a:ext cx="1410455" cy="3282372"/>
              </a:xfrm>
              <a:prstGeom prst="rect">
                <a:avLst/>
              </a:prstGeom>
            </p:spPr>
          </p:pic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5F77A56F-6CC8-B9AC-CB33-683BCA8D8978}"/>
                  </a:ext>
                </a:extLst>
              </p:cNvPr>
              <p:cNvSpPr/>
              <p:nvPr/>
            </p:nvSpPr>
            <p:spPr>
              <a:xfrm>
                <a:off x="3572934" y="2455332"/>
                <a:ext cx="414866" cy="38946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椭圆 15">
                <a:extLst>
                  <a:ext uri="{FF2B5EF4-FFF2-40B4-BE49-F238E27FC236}">
                    <a16:creationId xmlns:a16="http://schemas.microsoft.com/office/drawing/2014/main" id="{8DBF6E86-F463-47AA-0AFF-35148E34460C}"/>
                  </a:ext>
                </a:extLst>
              </p:cNvPr>
              <p:cNvSpPr/>
              <p:nvPr/>
            </p:nvSpPr>
            <p:spPr>
              <a:xfrm>
                <a:off x="6770496" y="2199436"/>
                <a:ext cx="414866" cy="38946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376E05BD-026B-1A02-BECF-37EECA45E8AD}"/>
                  </a:ext>
                </a:extLst>
              </p:cNvPr>
              <p:cNvSpPr/>
              <p:nvPr/>
            </p:nvSpPr>
            <p:spPr>
              <a:xfrm>
                <a:off x="6475558" y="3834053"/>
                <a:ext cx="709804" cy="389467"/>
              </a:xfrm>
              <a:prstGeom prst="ellipse">
                <a:avLst/>
              </a:prstGeom>
              <a:noFill/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B6954F22-0B07-23F0-15AE-BC73A12EA20C}"/>
                  </a:ext>
                </a:extLst>
              </p:cNvPr>
              <p:cNvSpPr/>
              <p:nvPr/>
            </p:nvSpPr>
            <p:spPr>
              <a:xfrm>
                <a:off x="3550726" y="3840622"/>
                <a:ext cx="709804" cy="389467"/>
              </a:xfrm>
              <a:prstGeom prst="ellipse">
                <a:avLst/>
              </a:prstGeom>
              <a:noFill/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2" name="箭头: 下 11">
              <a:extLst>
                <a:ext uri="{FF2B5EF4-FFF2-40B4-BE49-F238E27FC236}">
                  <a16:creationId xmlns:a16="http://schemas.microsoft.com/office/drawing/2014/main" id="{08EA65EC-1B9B-21A6-5F59-CCC666287377}"/>
                </a:ext>
              </a:extLst>
            </p:cNvPr>
            <p:cNvSpPr/>
            <p:nvPr/>
          </p:nvSpPr>
          <p:spPr>
            <a:xfrm rot="5400000">
              <a:off x="5237693" y="3016181"/>
              <a:ext cx="249764" cy="2038350"/>
            </a:xfrm>
            <a:prstGeom prst="downArrow">
              <a:avLst>
                <a:gd name="adj1" fmla="val 50000"/>
                <a:gd name="adj2" fmla="val 87363"/>
              </a:avLst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136113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40763-9660-7132-5233-A6ABA5AEC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74A5AC2-2477-A258-7EEA-F1F33270513B}"/>
              </a:ext>
            </a:extLst>
          </p:cNvPr>
          <p:cNvGrpSpPr/>
          <p:nvPr/>
        </p:nvGrpSpPr>
        <p:grpSpPr>
          <a:xfrm>
            <a:off x="322730" y="339134"/>
            <a:ext cx="8973670" cy="860611"/>
            <a:chOff x="322730" y="339134"/>
            <a:chExt cx="8973670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13ABD239-1FDD-C0DF-5AD7-5122CCEFDA5D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A9FE85DD-DE8D-27C0-939C-1DF1C6533B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83B8C2A6-6927-C955-4A98-037494BB6215}"/>
                </a:ext>
              </a:extLst>
            </p:cNvPr>
            <p:cNvSpPr txBox="1"/>
            <p:nvPr/>
          </p:nvSpPr>
          <p:spPr>
            <a:xfrm>
              <a:off x="1129553" y="384720"/>
              <a:ext cx="816684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75000"/>
                    </a:srgbClr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研究点二</a:t>
              </a:r>
            </a:p>
          </p:txBody>
        </p:sp>
      </p:grp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1DADBF4-4756-E1EE-F7F2-4C6657826808}"/>
              </a:ext>
            </a:extLst>
          </p:cNvPr>
          <p:cNvSpPr/>
          <p:nvPr/>
        </p:nvSpPr>
        <p:spPr>
          <a:xfrm>
            <a:off x="1279464" y="1635735"/>
            <a:ext cx="1735667" cy="575734"/>
          </a:xfrm>
          <a:prstGeom prst="roundRect">
            <a:avLst/>
          </a:prstGeom>
          <a:gradFill flip="none" rotWithShape="1">
            <a:gsLst>
              <a:gs pos="0">
                <a:srgbClr val="009EDE">
                  <a:tint val="66000"/>
                  <a:satMod val="160000"/>
                </a:srgbClr>
              </a:gs>
              <a:gs pos="50000">
                <a:srgbClr val="009EDE">
                  <a:tint val="44500"/>
                  <a:satMod val="160000"/>
                </a:srgbClr>
              </a:gs>
              <a:gs pos="100000">
                <a:srgbClr val="009EDE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输入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A1938FD-FE7A-2699-6EDF-7B9A0BAC7C5E}"/>
              </a:ext>
            </a:extLst>
          </p:cNvPr>
          <p:cNvSpPr/>
          <p:nvPr/>
        </p:nvSpPr>
        <p:spPr>
          <a:xfrm>
            <a:off x="1279462" y="2620346"/>
            <a:ext cx="1735667" cy="575734"/>
          </a:xfrm>
          <a:prstGeom prst="roundRect">
            <a:avLst/>
          </a:prstGeom>
          <a:gradFill flip="none" rotWithShape="1">
            <a:gsLst>
              <a:gs pos="0">
                <a:srgbClr val="009EDE">
                  <a:tint val="66000"/>
                  <a:satMod val="160000"/>
                </a:srgbClr>
              </a:gs>
              <a:gs pos="50000">
                <a:srgbClr val="009EDE">
                  <a:tint val="44500"/>
                  <a:satMod val="160000"/>
                </a:srgbClr>
              </a:gs>
              <a:gs pos="100000">
                <a:srgbClr val="009EDE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增强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D28159E-5E6F-680E-E49F-235CC0FA58B1}"/>
              </a:ext>
            </a:extLst>
          </p:cNvPr>
          <p:cNvSpPr/>
          <p:nvPr/>
        </p:nvSpPr>
        <p:spPr>
          <a:xfrm>
            <a:off x="1279462" y="3604957"/>
            <a:ext cx="1735667" cy="575734"/>
          </a:xfrm>
          <a:prstGeom prst="roundRect">
            <a:avLst/>
          </a:prstGeom>
          <a:gradFill flip="none" rotWithShape="1">
            <a:gsLst>
              <a:gs pos="0">
                <a:srgbClr val="009EDE">
                  <a:tint val="66000"/>
                  <a:satMod val="160000"/>
                </a:srgbClr>
              </a:gs>
              <a:gs pos="50000">
                <a:srgbClr val="009EDE">
                  <a:tint val="44500"/>
                  <a:satMod val="160000"/>
                </a:srgbClr>
              </a:gs>
              <a:gs pos="100000">
                <a:srgbClr val="009EDE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特征提取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BAC1172-9417-9EB6-8A1E-1AF01CFFB983}"/>
              </a:ext>
            </a:extLst>
          </p:cNvPr>
          <p:cNvSpPr/>
          <p:nvPr/>
        </p:nvSpPr>
        <p:spPr>
          <a:xfrm>
            <a:off x="1279462" y="4589568"/>
            <a:ext cx="1735667" cy="575734"/>
          </a:xfrm>
          <a:prstGeom prst="roundRect">
            <a:avLst/>
          </a:prstGeom>
          <a:gradFill flip="none" rotWithShape="1">
            <a:gsLst>
              <a:gs pos="0">
                <a:srgbClr val="009EDE">
                  <a:tint val="66000"/>
                  <a:satMod val="160000"/>
                </a:srgbClr>
              </a:gs>
              <a:gs pos="50000">
                <a:srgbClr val="009EDE">
                  <a:tint val="44500"/>
                  <a:satMod val="160000"/>
                </a:srgbClr>
              </a:gs>
              <a:gs pos="100000">
                <a:srgbClr val="009EDE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融合</a:t>
            </a: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389DFBFB-7CAD-8BB6-4B35-0D26801F2EBF}"/>
              </a:ext>
            </a:extLst>
          </p:cNvPr>
          <p:cNvCxnSpPr>
            <a:cxnSpLocks/>
          </p:cNvCxnSpPr>
          <p:nvPr/>
        </p:nvCxnSpPr>
        <p:spPr>
          <a:xfrm flipH="1">
            <a:off x="2142066" y="5165302"/>
            <a:ext cx="1" cy="9560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文本框 116">
            <a:extLst>
              <a:ext uri="{FF2B5EF4-FFF2-40B4-BE49-F238E27FC236}">
                <a16:creationId xmlns:a16="http://schemas.microsoft.com/office/drawing/2014/main" id="{A92CB1E9-2673-91C0-1EE6-FEC3F39F9D51}"/>
              </a:ext>
            </a:extLst>
          </p:cNvPr>
          <p:cNvSpPr txBox="1"/>
          <p:nvPr/>
        </p:nvSpPr>
        <p:spPr>
          <a:xfrm>
            <a:off x="1812863" y="5892172"/>
            <a:ext cx="16161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/>
              <a:t>…</a:t>
            </a:r>
            <a:endParaRPr lang="zh-CN" altLang="en-US" sz="5400" dirty="0"/>
          </a:p>
        </p:txBody>
      </p: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E2A58EE6-BE53-9421-0166-A8A73CBBCA7C}"/>
              </a:ext>
            </a:extLst>
          </p:cNvPr>
          <p:cNvCxnSpPr>
            <a:cxnSpLocks/>
          </p:cNvCxnSpPr>
          <p:nvPr/>
        </p:nvCxnSpPr>
        <p:spPr>
          <a:xfrm>
            <a:off x="2142067" y="2206115"/>
            <a:ext cx="0" cy="4142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箭头连接符 119">
            <a:extLst>
              <a:ext uri="{FF2B5EF4-FFF2-40B4-BE49-F238E27FC236}">
                <a16:creationId xmlns:a16="http://schemas.microsoft.com/office/drawing/2014/main" id="{76C122F4-BE50-07A0-FB57-AF08501CF722}"/>
              </a:ext>
            </a:extLst>
          </p:cNvPr>
          <p:cNvCxnSpPr>
            <a:cxnSpLocks/>
          </p:cNvCxnSpPr>
          <p:nvPr/>
        </p:nvCxnSpPr>
        <p:spPr>
          <a:xfrm>
            <a:off x="2142067" y="3196080"/>
            <a:ext cx="0" cy="4142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接箭头连接符 120">
            <a:extLst>
              <a:ext uri="{FF2B5EF4-FFF2-40B4-BE49-F238E27FC236}">
                <a16:creationId xmlns:a16="http://schemas.microsoft.com/office/drawing/2014/main" id="{1F06ACA0-D707-BC2E-333F-62DEF003516F}"/>
              </a:ext>
            </a:extLst>
          </p:cNvPr>
          <p:cNvCxnSpPr>
            <a:cxnSpLocks/>
          </p:cNvCxnSpPr>
          <p:nvPr/>
        </p:nvCxnSpPr>
        <p:spPr>
          <a:xfrm>
            <a:off x="2159001" y="4175337"/>
            <a:ext cx="0" cy="4142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椭圆 123">
            <a:extLst>
              <a:ext uri="{FF2B5EF4-FFF2-40B4-BE49-F238E27FC236}">
                <a16:creationId xmlns:a16="http://schemas.microsoft.com/office/drawing/2014/main" id="{41E26297-66B5-8ED3-6A7D-EB71AB1B18F3}"/>
              </a:ext>
            </a:extLst>
          </p:cNvPr>
          <p:cNvSpPr/>
          <p:nvPr/>
        </p:nvSpPr>
        <p:spPr>
          <a:xfrm>
            <a:off x="626533" y="2268432"/>
            <a:ext cx="3031067" cy="3490102"/>
          </a:xfrm>
          <a:prstGeom prst="ellipse">
            <a:avLst/>
          </a:prstGeom>
          <a:noFill/>
          <a:ln w="381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871FCF16-4838-C1D7-52BF-54890DB9F52A}"/>
              </a:ext>
            </a:extLst>
          </p:cNvPr>
          <p:cNvSpPr txBox="1"/>
          <p:nvPr/>
        </p:nvSpPr>
        <p:spPr>
          <a:xfrm>
            <a:off x="6145806" y="2703751"/>
            <a:ext cx="3361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替换以前的“一刀切”风格弥合</a:t>
            </a: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5F7CE2E6-22DA-AD9D-F9AE-FCBC6C0A6FFC}"/>
              </a:ext>
            </a:extLst>
          </p:cNvPr>
          <p:cNvSpPr txBox="1"/>
          <p:nvPr/>
        </p:nvSpPr>
        <p:spPr>
          <a:xfrm>
            <a:off x="6182657" y="3718668"/>
            <a:ext cx="353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更换提取能力更强的</a:t>
            </a:r>
            <a:r>
              <a:rPr lang="en-US" altLang="zh-CN" dirty="0"/>
              <a:t>backbone</a:t>
            </a:r>
            <a:endParaRPr lang="zh-CN" altLang="en-US" dirty="0"/>
          </a:p>
        </p:txBody>
      </p:sp>
      <p:sp>
        <p:nvSpPr>
          <p:cNvPr id="128" name="矩形: 圆角 127">
            <a:extLst>
              <a:ext uri="{FF2B5EF4-FFF2-40B4-BE49-F238E27FC236}">
                <a16:creationId xmlns:a16="http://schemas.microsoft.com/office/drawing/2014/main" id="{2E8A7F97-B230-AC61-6EA1-CD0F15D0AC26}"/>
              </a:ext>
            </a:extLst>
          </p:cNvPr>
          <p:cNvSpPr/>
          <p:nvPr/>
        </p:nvSpPr>
        <p:spPr>
          <a:xfrm>
            <a:off x="4310529" y="2620346"/>
            <a:ext cx="1735667" cy="575734"/>
          </a:xfrm>
          <a:prstGeom prst="roundRect">
            <a:avLst/>
          </a:prstGeom>
          <a:gradFill flip="none" rotWithShape="1">
            <a:gsLst>
              <a:gs pos="0">
                <a:srgbClr val="009EDE">
                  <a:tint val="66000"/>
                  <a:satMod val="160000"/>
                </a:srgbClr>
              </a:gs>
              <a:gs pos="50000">
                <a:srgbClr val="009EDE">
                  <a:tint val="44500"/>
                  <a:satMod val="160000"/>
                </a:srgbClr>
              </a:gs>
              <a:gs pos="100000">
                <a:srgbClr val="009EDE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局部增强</a:t>
            </a:r>
          </a:p>
        </p:txBody>
      </p:sp>
      <p:sp>
        <p:nvSpPr>
          <p:cNvPr id="129" name="箭头: 左右 128">
            <a:extLst>
              <a:ext uri="{FF2B5EF4-FFF2-40B4-BE49-F238E27FC236}">
                <a16:creationId xmlns:a16="http://schemas.microsoft.com/office/drawing/2014/main" id="{76398226-7620-478A-CE69-54455B47C1ED}"/>
              </a:ext>
            </a:extLst>
          </p:cNvPr>
          <p:cNvSpPr/>
          <p:nvPr/>
        </p:nvSpPr>
        <p:spPr>
          <a:xfrm>
            <a:off x="3429001" y="2802730"/>
            <a:ext cx="745067" cy="184666"/>
          </a:xfrm>
          <a:prstGeom prst="leftRightArrow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矩形: 圆角 129">
            <a:extLst>
              <a:ext uri="{FF2B5EF4-FFF2-40B4-BE49-F238E27FC236}">
                <a16:creationId xmlns:a16="http://schemas.microsoft.com/office/drawing/2014/main" id="{592A8664-A848-19B0-AD6F-C4E220C31EC3}"/>
              </a:ext>
            </a:extLst>
          </p:cNvPr>
          <p:cNvSpPr/>
          <p:nvPr/>
        </p:nvSpPr>
        <p:spPr>
          <a:xfrm>
            <a:off x="4310529" y="3661921"/>
            <a:ext cx="1735667" cy="575734"/>
          </a:xfrm>
          <a:prstGeom prst="roundRect">
            <a:avLst/>
          </a:prstGeom>
          <a:gradFill flip="none" rotWithShape="1">
            <a:gsLst>
              <a:gs pos="0">
                <a:srgbClr val="009EDE">
                  <a:tint val="66000"/>
                  <a:satMod val="160000"/>
                </a:srgbClr>
              </a:gs>
              <a:gs pos="50000">
                <a:srgbClr val="009EDE">
                  <a:tint val="44500"/>
                  <a:satMod val="160000"/>
                </a:srgbClr>
              </a:gs>
              <a:gs pos="100000">
                <a:srgbClr val="009EDE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VIT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31" name="箭头: 右 130">
            <a:extLst>
              <a:ext uri="{FF2B5EF4-FFF2-40B4-BE49-F238E27FC236}">
                <a16:creationId xmlns:a16="http://schemas.microsoft.com/office/drawing/2014/main" id="{55F2F97B-DEE6-E84B-4496-654D6B444E95}"/>
              </a:ext>
            </a:extLst>
          </p:cNvPr>
          <p:cNvSpPr/>
          <p:nvPr/>
        </p:nvSpPr>
        <p:spPr>
          <a:xfrm rot="10800000">
            <a:off x="3471332" y="3853233"/>
            <a:ext cx="702736" cy="193110"/>
          </a:xfrm>
          <a:prstGeom prst="rightArrow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矩形: 圆角 131">
            <a:extLst>
              <a:ext uri="{FF2B5EF4-FFF2-40B4-BE49-F238E27FC236}">
                <a16:creationId xmlns:a16="http://schemas.microsoft.com/office/drawing/2014/main" id="{C4854B61-1569-A38C-AC06-1868AC0BAEE1}"/>
              </a:ext>
            </a:extLst>
          </p:cNvPr>
          <p:cNvSpPr/>
          <p:nvPr/>
        </p:nvSpPr>
        <p:spPr>
          <a:xfrm>
            <a:off x="8267699" y="4842717"/>
            <a:ext cx="1735667" cy="575734"/>
          </a:xfrm>
          <a:prstGeom prst="roundRect">
            <a:avLst/>
          </a:prstGeom>
          <a:gradFill flip="none" rotWithShape="1">
            <a:gsLst>
              <a:gs pos="0">
                <a:srgbClr val="009EDE">
                  <a:tint val="66000"/>
                  <a:satMod val="160000"/>
                </a:srgbClr>
              </a:gs>
              <a:gs pos="50000">
                <a:srgbClr val="009EDE">
                  <a:tint val="44500"/>
                  <a:satMod val="160000"/>
                </a:srgbClr>
              </a:gs>
              <a:gs pos="100000">
                <a:srgbClr val="009EDE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频域增强</a:t>
            </a:r>
          </a:p>
        </p:txBody>
      </p:sp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EAFB6984-FB45-02FF-2A85-85105A63E8D8}"/>
              </a:ext>
            </a:extLst>
          </p:cNvPr>
          <p:cNvSpPr/>
          <p:nvPr/>
        </p:nvSpPr>
        <p:spPr>
          <a:xfrm>
            <a:off x="6096000" y="4443576"/>
            <a:ext cx="1735667" cy="575734"/>
          </a:xfrm>
          <a:prstGeom prst="roundRect">
            <a:avLst/>
          </a:prstGeom>
          <a:gradFill flip="none" rotWithShape="1">
            <a:gsLst>
              <a:gs pos="0">
                <a:srgbClr val="009EDE">
                  <a:tint val="66000"/>
                  <a:satMod val="160000"/>
                </a:srgbClr>
              </a:gs>
              <a:gs pos="50000">
                <a:srgbClr val="009EDE">
                  <a:tint val="44500"/>
                  <a:satMod val="160000"/>
                </a:srgbClr>
              </a:gs>
              <a:gs pos="100000">
                <a:srgbClr val="009EDE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高通（</a:t>
            </a:r>
            <a:r>
              <a:rPr lang="en-US" altLang="zh-CN" dirty="0">
                <a:solidFill>
                  <a:schemeClr val="tx1"/>
                </a:solidFill>
              </a:rPr>
              <a:t>VIS</a:t>
            </a:r>
            <a:r>
              <a:rPr lang="zh-CN" altLang="en-US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134" name="矩形: 圆角 133">
            <a:extLst>
              <a:ext uri="{FF2B5EF4-FFF2-40B4-BE49-F238E27FC236}">
                <a16:creationId xmlns:a16="http://schemas.microsoft.com/office/drawing/2014/main" id="{6C56D2AD-9F84-82FB-635B-19B230EE30ED}"/>
              </a:ext>
            </a:extLst>
          </p:cNvPr>
          <p:cNvSpPr/>
          <p:nvPr/>
        </p:nvSpPr>
        <p:spPr>
          <a:xfrm>
            <a:off x="6095999" y="5245735"/>
            <a:ext cx="1735667" cy="575734"/>
          </a:xfrm>
          <a:prstGeom prst="roundRect">
            <a:avLst/>
          </a:prstGeom>
          <a:gradFill flip="none" rotWithShape="1">
            <a:gsLst>
              <a:gs pos="0">
                <a:srgbClr val="009EDE">
                  <a:tint val="66000"/>
                  <a:satMod val="160000"/>
                </a:srgbClr>
              </a:gs>
              <a:gs pos="50000">
                <a:srgbClr val="009EDE">
                  <a:tint val="44500"/>
                  <a:satMod val="160000"/>
                </a:srgbClr>
              </a:gs>
              <a:gs pos="100000">
                <a:srgbClr val="009EDE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带通（</a:t>
            </a:r>
            <a:r>
              <a:rPr lang="en-US" altLang="zh-CN" dirty="0">
                <a:solidFill>
                  <a:schemeClr val="tx1"/>
                </a:solidFill>
              </a:rPr>
              <a:t>IR</a:t>
            </a:r>
            <a:r>
              <a:rPr lang="zh-CN" altLang="en-US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D1616671-0BE0-3796-0D36-732E1F94DB68}"/>
              </a:ext>
            </a:extLst>
          </p:cNvPr>
          <p:cNvSpPr/>
          <p:nvPr/>
        </p:nvSpPr>
        <p:spPr>
          <a:xfrm>
            <a:off x="5520267" y="4307677"/>
            <a:ext cx="4726392" cy="1645815"/>
          </a:xfrm>
          <a:prstGeom prst="rect">
            <a:avLst/>
          </a:prstGeom>
          <a:noFill/>
          <a:ln w="3810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5B162B32-F1EC-A58B-5C79-20C011C04911}"/>
              </a:ext>
            </a:extLst>
          </p:cNvPr>
          <p:cNvCxnSpPr>
            <a:cxnSpLocks/>
            <a:stCxn id="132" idx="1"/>
            <a:endCxn id="133" idx="3"/>
          </p:cNvCxnSpPr>
          <p:nvPr/>
        </p:nvCxnSpPr>
        <p:spPr>
          <a:xfrm flipH="1" flipV="1">
            <a:off x="7831667" y="4731443"/>
            <a:ext cx="436032" cy="3991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箭头连接符 137">
            <a:extLst>
              <a:ext uri="{FF2B5EF4-FFF2-40B4-BE49-F238E27FC236}">
                <a16:creationId xmlns:a16="http://schemas.microsoft.com/office/drawing/2014/main" id="{2D3580DE-D8A6-993D-C838-88D49B75C7E1}"/>
              </a:ext>
            </a:extLst>
          </p:cNvPr>
          <p:cNvCxnSpPr>
            <a:cxnSpLocks/>
            <a:endCxn id="134" idx="3"/>
          </p:cNvCxnSpPr>
          <p:nvPr/>
        </p:nvCxnSpPr>
        <p:spPr>
          <a:xfrm flipH="1">
            <a:off x="7831666" y="5150962"/>
            <a:ext cx="436033" cy="3826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连接符: 肘形 143">
            <a:extLst>
              <a:ext uri="{FF2B5EF4-FFF2-40B4-BE49-F238E27FC236}">
                <a16:creationId xmlns:a16="http://schemas.microsoft.com/office/drawing/2014/main" id="{BAD98B75-FB9A-2327-B1A5-C09D06693C3F}"/>
              </a:ext>
            </a:extLst>
          </p:cNvPr>
          <p:cNvCxnSpPr>
            <a:stCxn id="135" idx="1"/>
          </p:cNvCxnSpPr>
          <p:nvPr/>
        </p:nvCxnSpPr>
        <p:spPr>
          <a:xfrm rot="10800000">
            <a:off x="2159001" y="4382453"/>
            <a:ext cx="3361266" cy="748133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文本框 147">
            <a:extLst>
              <a:ext uri="{FF2B5EF4-FFF2-40B4-BE49-F238E27FC236}">
                <a16:creationId xmlns:a16="http://schemas.microsoft.com/office/drawing/2014/main" id="{AD11CDAD-F6D7-BA95-6237-36075C52A0BF}"/>
              </a:ext>
            </a:extLst>
          </p:cNvPr>
          <p:cNvSpPr txBox="1"/>
          <p:nvPr/>
        </p:nvSpPr>
        <p:spPr>
          <a:xfrm>
            <a:off x="4000498" y="1308271"/>
            <a:ext cx="59266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低光场景的纹理修复与细节增强</a:t>
            </a:r>
          </a:p>
        </p:txBody>
      </p:sp>
    </p:spTree>
    <p:extLst>
      <p:ext uri="{BB962C8B-B14F-4D97-AF65-F5344CB8AC3E}">
        <p14:creationId xmlns:p14="http://schemas.microsoft.com/office/powerpoint/2010/main" val="42948870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AE12504-DEBD-4C1B-9BF9-6712F52677E7}"/>
              </a:ext>
            </a:extLst>
          </p:cNvPr>
          <p:cNvGrpSpPr/>
          <p:nvPr/>
        </p:nvGrpSpPr>
        <p:grpSpPr>
          <a:xfrm>
            <a:off x="322730" y="339134"/>
            <a:ext cx="8973670" cy="860611"/>
            <a:chOff x="322730" y="339134"/>
            <a:chExt cx="8973670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876FD67B-FF92-40E6-90FE-CF4C2316AEDC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EFE52BD2-8191-4D27-B8B6-182474EF8C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384F5AE-1080-43E6-980F-3576864CC119}"/>
                </a:ext>
              </a:extLst>
            </p:cNvPr>
            <p:cNvSpPr txBox="1"/>
            <p:nvPr/>
          </p:nvSpPr>
          <p:spPr>
            <a:xfrm>
              <a:off x="1129553" y="384720"/>
              <a:ext cx="816684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75000"/>
                    </a:srgbClr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研究点二</a:t>
              </a: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78FC00B0-280A-2E82-F205-CC1DB81117C2}"/>
              </a:ext>
            </a:extLst>
          </p:cNvPr>
          <p:cNvSpPr txBox="1"/>
          <p:nvPr/>
        </p:nvSpPr>
        <p:spPr>
          <a:xfrm>
            <a:off x="1129551" y="1288348"/>
            <a:ext cx="43991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整体框架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FF1DE61-11B6-CE66-49A8-9969AC96433E}"/>
              </a:ext>
            </a:extLst>
          </p:cNvPr>
          <p:cNvGrpSpPr/>
          <p:nvPr/>
        </p:nvGrpSpPr>
        <p:grpSpPr>
          <a:xfrm>
            <a:off x="546100" y="2364677"/>
            <a:ext cx="11099800" cy="3087856"/>
            <a:chOff x="1245235" y="183357"/>
            <a:chExt cx="9701530" cy="2540793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293A5CE3-C409-EE37-B477-0D2E7AE1CBE2}"/>
                </a:ext>
              </a:extLst>
            </p:cNvPr>
            <p:cNvSpPr/>
            <p:nvPr/>
          </p:nvSpPr>
          <p:spPr>
            <a:xfrm>
              <a:off x="1245235" y="183357"/>
              <a:ext cx="9701530" cy="2540793"/>
            </a:xfrm>
            <a:prstGeom prst="roundRect">
              <a:avLst/>
            </a:prstGeom>
            <a:gradFill flip="none" rotWithShape="1">
              <a:gsLst>
                <a:gs pos="0">
                  <a:schemeClr val="accent4">
                    <a:lumMod val="60000"/>
                    <a:lumOff val="40000"/>
                    <a:tint val="66000"/>
                    <a:satMod val="160000"/>
                  </a:schemeClr>
                </a:gs>
                <a:gs pos="50000">
                  <a:schemeClr val="accent4">
                    <a:lumMod val="60000"/>
                    <a:lumOff val="40000"/>
                    <a:tint val="44500"/>
                    <a:satMod val="160000"/>
                  </a:schemeClr>
                </a:gs>
                <a:gs pos="100000">
                  <a:schemeClr val="accent4">
                    <a:lumMod val="60000"/>
                    <a:lumOff val="40000"/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  <a:ln w="28575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n w="28575">
                  <a:solidFill>
                    <a:schemeClr val="tx1"/>
                  </a:solidFill>
                </a:ln>
              </a:endParaRPr>
            </a:p>
          </p:txBody>
        </p: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0F240A89-A038-1EE6-2A76-339C4BC9E0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15504" y="345807"/>
              <a:ext cx="590297" cy="926077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83FFE708-7F1F-0419-9307-A6FDED7BA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26791" y="1625906"/>
              <a:ext cx="567722" cy="912054"/>
            </a:xfrm>
            <a:prstGeom prst="rect">
              <a:avLst/>
            </a:prstGeom>
          </p:spPr>
        </p:pic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B29C563B-E627-10CD-E08C-CABD5DDCF975}"/>
                </a:ext>
              </a:extLst>
            </p:cNvPr>
            <p:cNvSpPr/>
            <p:nvPr/>
          </p:nvSpPr>
          <p:spPr>
            <a:xfrm>
              <a:off x="1810652" y="345807"/>
              <a:ext cx="283861" cy="22935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0B293180-1A59-FF27-78FD-F01635201241}"/>
                </a:ext>
              </a:extLst>
            </p:cNvPr>
            <p:cNvSpPr/>
            <p:nvPr/>
          </p:nvSpPr>
          <p:spPr>
            <a:xfrm>
              <a:off x="1656656" y="1639949"/>
              <a:ext cx="228660" cy="16999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箭头: 右 16">
              <a:extLst>
                <a:ext uri="{FF2B5EF4-FFF2-40B4-BE49-F238E27FC236}">
                  <a16:creationId xmlns:a16="http://schemas.microsoft.com/office/drawing/2014/main" id="{29278B2D-6A0F-1108-FF52-089054C7CC23}"/>
                </a:ext>
              </a:extLst>
            </p:cNvPr>
            <p:cNvSpPr/>
            <p:nvPr/>
          </p:nvSpPr>
          <p:spPr>
            <a:xfrm rot="2895058">
              <a:off x="2177723" y="1013069"/>
              <a:ext cx="368059" cy="160020"/>
            </a:xfrm>
            <a:prstGeom prst="rightArrow">
              <a:avLst/>
            </a:prstGeom>
            <a:gradFill flip="none" rotWithShape="1">
              <a:gsLst>
                <a:gs pos="0">
                  <a:srgbClr val="00B0F0">
                    <a:shade val="30000"/>
                    <a:satMod val="115000"/>
                  </a:srgbClr>
                </a:gs>
                <a:gs pos="50000">
                  <a:srgbClr val="00B0F0">
                    <a:shade val="67500"/>
                    <a:satMod val="115000"/>
                  </a:srgbClr>
                </a:gs>
                <a:gs pos="100000">
                  <a:srgbClr val="00B0F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endParaRPr lang="zh-CN" altLang="en-US" sz="1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箭头: 右 18">
              <a:extLst>
                <a:ext uri="{FF2B5EF4-FFF2-40B4-BE49-F238E27FC236}">
                  <a16:creationId xmlns:a16="http://schemas.microsoft.com/office/drawing/2014/main" id="{E76FBED6-8506-AF05-1F27-9651FA5276E1}"/>
                </a:ext>
              </a:extLst>
            </p:cNvPr>
            <p:cNvSpPr/>
            <p:nvPr/>
          </p:nvSpPr>
          <p:spPr>
            <a:xfrm rot="18871275">
              <a:off x="2172079" y="1692415"/>
              <a:ext cx="368059" cy="160020"/>
            </a:xfrm>
            <a:prstGeom prst="rightArrow">
              <a:avLst/>
            </a:prstGeom>
            <a:gradFill flip="none" rotWithShape="1">
              <a:gsLst>
                <a:gs pos="0">
                  <a:srgbClr val="00B0F0">
                    <a:shade val="30000"/>
                    <a:satMod val="115000"/>
                  </a:srgbClr>
                </a:gs>
                <a:gs pos="50000">
                  <a:srgbClr val="00B0F0">
                    <a:shade val="67500"/>
                    <a:satMod val="115000"/>
                  </a:srgbClr>
                </a:gs>
                <a:gs pos="100000">
                  <a:srgbClr val="00B0F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endParaRPr lang="zh-CN" altLang="en-US" sz="1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梯形 21">
                  <a:extLst>
                    <a:ext uri="{FF2B5EF4-FFF2-40B4-BE49-F238E27FC236}">
                      <a16:creationId xmlns:a16="http://schemas.microsoft.com/office/drawing/2014/main" id="{0AF1B3F0-F6F6-E259-D172-4A61AC26F15C}"/>
                    </a:ext>
                  </a:extLst>
                </p:cNvPr>
                <p:cNvSpPr/>
                <p:nvPr/>
              </p:nvSpPr>
              <p:spPr>
                <a:xfrm rot="5400000">
                  <a:off x="3904139" y="365073"/>
                  <a:ext cx="777672" cy="739140"/>
                </a:xfrm>
                <a:prstGeom prst="trapezoid">
                  <a:avLst>
                    <a:gd name="adj" fmla="val 36340"/>
                  </a:avLst>
                </a:prstGeom>
                <a:gradFill flip="none" rotWithShape="1">
                  <a:gsLst>
                    <a:gs pos="0">
                      <a:srgbClr val="EF1984">
                        <a:tint val="66000"/>
                        <a:satMod val="160000"/>
                      </a:srgbClr>
                    </a:gs>
                    <a:gs pos="50000">
                      <a:srgbClr val="EF1984">
                        <a:tint val="44500"/>
                        <a:satMod val="160000"/>
                      </a:srgbClr>
                    </a:gs>
                    <a:gs pos="100000">
                      <a:srgbClr val="EF1984">
                        <a:tint val="23500"/>
                        <a:satMod val="160000"/>
                      </a:srgbClr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2" name="梯形 21">
                  <a:extLst>
                    <a:ext uri="{FF2B5EF4-FFF2-40B4-BE49-F238E27FC236}">
                      <a16:creationId xmlns:a16="http://schemas.microsoft.com/office/drawing/2014/main" id="{0AF1B3F0-F6F6-E259-D172-4A61AC26F15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3904139" y="365073"/>
                  <a:ext cx="777672" cy="739140"/>
                </a:xfrm>
                <a:prstGeom prst="trapezoid">
                  <a:avLst>
                    <a:gd name="adj" fmla="val 36340"/>
                  </a:avLst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梯形 22">
                  <a:extLst>
                    <a:ext uri="{FF2B5EF4-FFF2-40B4-BE49-F238E27FC236}">
                      <a16:creationId xmlns:a16="http://schemas.microsoft.com/office/drawing/2014/main" id="{F79EE92F-66FA-DCAC-34F4-37974A4DE113}"/>
                    </a:ext>
                  </a:extLst>
                </p:cNvPr>
                <p:cNvSpPr/>
                <p:nvPr/>
              </p:nvSpPr>
              <p:spPr>
                <a:xfrm rot="5400000">
                  <a:off x="3904139" y="1829205"/>
                  <a:ext cx="777672" cy="739140"/>
                </a:xfrm>
                <a:prstGeom prst="trapezoid">
                  <a:avLst>
                    <a:gd name="adj" fmla="val 36340"/>
                  </a:avLst>
                </a:prstGeom>
                <a:gradFill flip="none" rotWithShape="1">
                  <a:gsLst>
                    <a:gs pos="0">
                      <a:srgbClr val="590000">
                        <a:tint val="66000"/>
                        <a:satMod val="160000"/>
                      </a:srgbClr>
                    </a:gs>
                    <a:gs pos="50000">
                      <a:srgbClr val="590000">
                        <a:tint val="44500"/>
                        <a:satMod val="160000"/>
                      </a:srgbClr>
                    </a:gs>
                    <a:gs pos="100000">
                      <a:srgbClr val="590000">
                        <a:tint val="23500"/>
                        <a:satMod val="160000"/>
                      </a:srgbClr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3" name="梯形 22">
                  <a:extLst>
                    <a:ext uri="{FF2B5EF4-FFF2-40B4-BE49-F238E27FC236}">
                      <a16:creationId xmlns:a16="http://schemas.microsoft.com/office/drawing/2014/main" id="{F79EE92F-66FA-DCAC-34F4-37974A4DE11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3904139" y="1829205"/>
                  <a:ext cx="777672" cy="739140"/>
                </a:xfrm>
                <a:prstGeom prst="trapezoid">
                  <a:avLst>
                    <a:gd name="adj" fmla="val 36340"/>
                  </a:avLst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箭头: 右 23">
              <a:extLst>
                <a:ext uri="{FF2B5EF4-FFF2-40B4-BE49-F238E27FC236}">
                  <a16:creationId xmlns:a16="http://schemas.microsoft.com/office/drawing/2014/main" id="{0F0F343D-B8C6-65CF-7665-E5497BC01943}"/>
                </a:ext>
              </a:extLst>
            </p:cNvPr>
            <p:cNvSpPr/>
            <p:nvPr/>
          </p:nvSpPr>
          <p:spPr>
            <a:xfrm>
              <a:off x="3306316" y="684181"/>
              <a:ext cx="472440" cy="124665"/>
            </a:xfrm>
            <a:prstGeom prst="rightArrow">
              <a:avLst/>
            </a:prstGeom>
            <a:gradFill flip="none" rotWithShape="1">
              <a:gsLst>
                <a:gs pos="0">
                  <a:srgbClr val="00B0F0">
                    <a:shade val="30000"/>
                    <a:satMod val="115000"/>
                  </a:srgbClr>
                </a:gs>
                <a:gs pos="50000">
                  <a:srgbClr val="00B0F0">
                    <a:shade val="67500"/>
                    <a:satMod val="115000"/>
                  </a:srgbClr>
                </a:gs>
                <a:gs pos="100000">
                  <a:srgbClr val="00B0F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endParaRPr lang="zh-CN" altLang="en-US" sz="1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箭头: 右 24">
              <a:extLst>
                <a:ext uri="{FF2B5EF4-FFF2-40B4-BE49-F238E27FC236}">
                  <a16:creationId xmlns:a16="http://schemas.microsoft.com/office/drawing/2014/main" id="{6FF24B9F-11D0-D588-338D-4BD4B6E3F8C3}"/>
                </a:ext>
              </a:extLst>
            </p:cNvPr>
            <p:cNvSpPr/>
            <p:nvPr/>
          </p:nvSpPr>
          <p:spPr>
            <a:xfrm>
              <a:off x="3319758" y="2136443"/>
              <a:ext cx="472440" cy="124665"/>
            </a:xfrm>
            <a:prstGeom prst="rightArrow">
              <a:avLst/>
            </a:prstGeom>
            <a:gradFill flip="none" rotWithShape="1">
              <a:gsLst>
                <a:gs pos="0">
                  <a:srgbClr val="00B0F0">
                    <a:shade val="30000"/>
                    <a:satMod val="115000"/>
                  </a:srgbClr>
                </a:gs>
                <a:gs pos="50000">
                  <a:srgbClr val="00B0F0">
                    <a:shade val="67500"/>
                    <a:satMod val="115000"/>
                  </a:srgbClr>
                </a:gs>
                <a:gs pos="100000">
                  <a:srgbClr val="00B0F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endParaRPr lang="zh-CN" altLang="en-US" sz="1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226F7BD7-4DAB-60D1-8D43-41A3B1546C82}"/>
                </a:ext>
              </a:extLst>
            </p:cNvPr>
            <p:cNvSpPr/>
            <p:nvPr/>
          </p:nvSpPr>
          <p:spPr>
            <a:xfrm>
              <a:off x="2689227" y="705821"/>
              <a:ext cx="472440" cy="1543414"/>
            </a:xfrm>
            <a:prstGeom prst="rect">
              <a:avLst/>
            </a:prstGeom>
            <a:gradFill flip="none" rotWithShape="1">
              <a:gsLst>
                <a:gs pos="0">
                  <a:srgbClr val="4E13F5">
                    <a:tint val="66000"/>
                    <a:satMod val="160000"/>
                  </a:srgbClr>
                </a:gs>
                <a:gs pos="50000">
                  <a:srgbClr val="4E13F5">
                    <a:tint val="44500"/>
                    <a:satMod val="160000"/>
                  </a:srgbClr>
                </a:gs>
                <a:gs pos="100000">
                  <a:srgbClr val="4E13F5">
                    <a:tint val="23500"/>
                    <a:satMod val="160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PIM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箭头: 右 26">
              <a:extLst>
                <a:ext uri="{FF2B5EF4-FFF2-40B4-BE49-F238E27FC236}">
                  <a16:creationId xmlns:a16="http://schemas.microsoft.com/office/drawing/2014/main" id="{680F0B96-7E35-2E36-A379-92BF7D1E9106}"/>
                </a:ext>
              </a:extLst>
            </p:cNvPr>
            <p:cNvSpPr/>
            <p:nvPr/>
          </p:nvSpPr>
          <p:spPr>
            <a:xfrm>
              <a:off x="4770977" y="672311"/>
              <a:ext cx="472440" cy="124665"/>
            </a:xfrm>
            <a:prstGeom prst="rightArrow">
              <a:avLst/>
            </a:prstGeom>
            <a:gradFill flip="none" rotWithShape="1">
              <a:gsLst>
                <a:gs pos="0">
                  <a:srgbClr val="00B0F0">
                    <a:shade val="30000"/>
                    <a:satMod val="115000"/>
                  </a:srgbClr>
                </a:gs>
                <a:gs pos="50000">
                  <a:srgbClr val="00B0F0">
                    <a:shade val="67500"/>
                    <a:satMod val="115000"/>
                  </a:srgbClr>
                </a:gs>
                <a:gs pos="100000">
                  <a:srgbClr val="00B0F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endParaRPr lang="zh-CN" altLang="en-US" sz="1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箭头: 右 27">
              <a:extLst>
                <a:ext uri="{FF2B5EF4-FFF2-40B4-BE49-F238E27FC236}">
                  <a16:creationId xmlns:a16="http://schemas.microsoft.com/office/drawing/2014/main" id="{D5004EFE-C4C4-CC46-E354-269550F6278C}"/>
                </a:ext>
              </a:extLst>
            </p:cNvPr>
            <p:cNvSpPr/>
            <p:nvPr/>
          </p:nvSpPr>
          <p:spPr>
            <a:xfrm>
              <a:off x="4781223" y="2136443"/>
              <a:ext cx="472440" cy="124665"/>
            </a:xfrm>
            <a:prstGeom prst="rightArrow">
              <a:avLst/>
            </a:prstGeom>
            <a:gradFill flip="none" rotWithShape="1">
              <a:gsLst>
                <a:gs pos="0">
                  <a:srgbClr val="00B0F0">
                    <a:shade val="30000"/>
                    <a:satMod val="115000"/>
                  </a:srgbClr>
                </a:gs>
                <a:gs pos="50000">
                  <a:srgbClr val="00B0F0">
                    <a:shade val="67500"/>
                    <a:satMod val="115000"/>
                  </a:srgbClr>
                </a:gs>
                <a:gs pos="100000">
                  <a:srgbClr val="00B0F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endParaRPr lang="zh-CN" altLang="en-US" sz="1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84CFA714-D107-0FDA-E733-C38B7287A04C}"/>
                </a:ext>
              </a:extLst>
            </p:cNvPr>
            <p:cNvSpPr/>
            <p:nvPr/>
          </p:nvSpPr>
          <p:spPr>
            <a:xfrm>
              <a:off x="5424283" y="345807"/>
              <a:ext cx="472440" cy="777672"/>
            </a:xfrm>
            <a:prstGeom prst="rect">
              <a:avLst/>
            </a:prstGeom>
            <a:gradFill flip="none" rotWithShape="1">
              <a:gsLst>
                <a:gs pos="0">
                  <a:srgbClr val="9900FF">
                    <a:tint val="66000"/>
                    <a:satMod val="160000"/>
                  </a:srgbClr>
                </a:gs>
                <a:gs pos="50000">
                  <a:srgbClr val="9900FF">
                    <a:tint val="44500"/>
                    <a:satMod val="160000"/>
                  </a:srgbClr>
                </a:gs>
                <a:gs pos="100000">
                  <a:srgbClr val="9900FF">
                    <a:tint val="23500"/>
                    <a:satMod val="160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000" b="0" i="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  <a:r>
                <a:rPr lang="en-US" altLang="zh-CN" sz="1000" b="1" i="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high-pass</a:t>
              </a:r>
              <a:endParaRPr lang="zh-CN" altLang="en-US" sz="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5B8CEDC8-18DE-1913-F5F3-6509BF7C63F4}"/>
                </a:ext>
              </a:extLst>
            </p:cNvPr>
            <p:cNvSpPr/>
            <p:nvPr/>
          </p:nvSpPr>
          <p:spPr>
            <a:xfrm>
              <a:off x="5424283" y="1810676"/>
              <a:ext cx="472440" cy="777672"/>
            </a:xfrm>
            <a:prstGeom prst="rect">
              <a:avLst/>
            </a:prstGeom>
            <a:gradFill flip="none" rotWithShape="1">
              <a:gsLst>
                <a:gs pos="0">
                  <a:srgbClr val="687BA0">
                    <a:tint val="66000"/>
                    <a:satMod val="160000"/>
                  </a:srgbClr>
                </a:gs>
                <a:gs pos="50000">
                  <a:srgbClr val="687BA0">
                    <a:tint val="44500"/>
                    <a:satMod val="160000"/>
                  </a:srgbClr>
                </a:gs>
                <a:gs pos="100000">
                  <a:srgbClr val="687BA0">
                    <a:tint val="23500"/>
                    <a:satMod val="160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Band-pas</a:t>
              </a:r>
              <a:r>
                <a:rPr lang="en-US" altLang="zh-CN" sz="1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zh-CN" altLang="en-US" sz="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05E2C501-5C9A-4F24-0BC4-16855A36B910}"/>
                </a:ext>
              </a:extLst>
            </p:cNvPr>
            <p:cNvGrpSpPr/>
            <p:nvPr/>
          </p:nvGrpSpPr>
          <p:grpSpPr>
            <a:xfrm>
              <a:off x="6208774" y="991562"/>
              <a:ext cx="1671723" cy="269056"/>
              <a:chOff x="6310398" y="2391167"/>
              <a:chExt cx="1671723" cy="345362"/>
            </a:xfrm>
          </p:grpSpPr>
          <p:grpSp>
            <p:nvGrpSpPr>
              <p:cNvPr id="105" name="组合 104">
                <a:extLst>
                  <a:ext uri="{FF2B5EF4-FFF2-40B4-BE49-F238E27FC236}">
                    <a16:creationId xmlns:a16="http://schemas.microsoft.com/office/drawing/2014/main" id="{51585134-9B5C-729E-6742-67ADCBAF5F22}"/>
                  </a:ext>
                </a:extLst>
              </p:cNvPr>
              <p:cNvGrpSpPr/>
              <p:nvPr/>
            </p:nvGrpSpPr>
            <p:grpSpPr>
              <a:xfrm>
                <a:off x="6391446" y="2391167"/>
                <a:ext cx="1590675" cy="310588"/>
                <a:chOff x="6530339" y="1846818"/>
                <a:chExt cx="1590675" cy="310588"/>
              </a:xfrm>
            </p:grpSpPr>
            <p:sp>
              <p:nvSpPr>
                <p:cNvPr id="112" name="矩形 111">
                  <a:extLst>
                    <a:ext uri="{FF2B5EF4-FFF2-40B4-BE49-F238E27FC236}">
                      <a16:creationId xmlns:a16="http://schemas.microsoft.com/office/drawing/2014/main" id="{06CA2ADD-8D34-ABDA-3515-D6D9DD2660E3}"/>
                    </a:ext>
                  </a:extLst>
                </p:cNvPr>
                <p:cNvSpPr/>
                <p:nvPr/>
              </p:nvSpPr>
              <p:spPr>
                <a:xfrm>
                  <a:off x="6530339" y="1846821"/>
                  <a:ext cx="318135" cy="310585"/>
                </a:xfrm>
                <a:prstGeom prst="rect">
                  <a:avLst/>
                </a:prstGeom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3" name="矩形 112">
                  <a:extLst>
                    <a:ext uri="{FF2B5EF4-FFF2-40B4-BE49-F238E27FC236}">
                      <a16:creationId xmlns:a16="http://schemas.microsoft.com/office/drawing/2014/main" id="{EFA2B293-AC94-B8A1-8B4C-E6D8EDE6550D}"/>
                    </a:ext>
                  </a:extLst>
                </p:cNvPr>
                <p:cNvSpPr/>
                <p:nvPr/>
              </p:nvSpPr>
              <p:spPr>
                <a:xfrm>
                  <a:off x="7166609" y="1846820"/>
                  <a:ext cx="318135" cy="310585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4" name="矩形 113">
                  <a:extLst>
                    <a:ext uri="{FF2B5EF4-FFF2-40B4-BE49-F238E27FC236}">
                      <a16:creationId xmlns:a16="http://schemas.microsoft.com/office/drawing/2014/main" id="{00B54331-9FBF-659B-F208-0E5849ADE936}"/>
                    </a:ext>
                  </a:extLst>
                </p:cNvPr>
                <p:cNvSpPr/>
                <p:nvPr/>
              </p:nvSpPr>
              <p:spPr>
                <a:xfrm>
                  <a:off x="6848474" y="1846820"/>
                  <a:ext cx="318135" cy="310585"/>
                </a:xfrm>
                <a:prstGeom prst="rect">
                  <a:avLst/>
                </a:prstGeom>
              </p:spPr>
              <p:style>
                <a:lnRef idx="2">
                  <a:schemeClr val="accent5">
                    <a:shade val="15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5" name="矩形 114">
                  <a:extLst>
                    <a:ext uri="{FF2B5EF4-FFF2-40B4-BE49-F238E27FC236}">
                      <a16:creationId xmlns:a16="http://schemas.microsoft.com/office/drawing/2014/main" id="{A57D29F9-7C91-57D0-F213-F8DB22F5CC38}"/>
                    </a:ext>
                  </a:extLst>
                </p:cNvPr>
                <p:cNvSpPr/>
                <p:nvPr/>
              </p:nvSpPr>
              <p:spPr>
                <a:xfrm>
                  <a:off x="7484744" y="1846819"/>
                  <a:ext cx="318135" cy="310585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6" name="矩形 115">
                  <a:extLst>
                    <a:ext uri="{FF2B5EF4-FFF2-40B4-BE49-F238E27FC236}">
                      <a16:creationId xmlns:a16="http://schemas.microsoft.com/office/drawing/2014/main" id="{3A5F371D-D24A-E435-B644-2AFE1C8504C1}"/>
                    </a:ext>
                  </a:extLst>
                </p:cNvPr>
                <p:cNvSpPr/>
                <p:nvPr/>
              </p:nvSpPr>
              <p:spPr>
                <a:xfrm>
                  <a:off x="7802879" y="1846818"/>
                  <a:ext cx="318135" cy="310585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06" name="组合 105">
                <a:extLst>
                  <a:ext uri="{FF2B5EF4-FFF2-40B4-BE49-F238E27FC236}">
                    <a16:creationId xmlns:a16="http://schemas.microsoft.com/office/drawing/2014/main" id="{36CB7A9E-35DC-D3E5-6484-05E8FFCF5EE1}"/>
                  </a:ext>
                </a:extLst>
              </p:cNvPr>
              <p:cNvGrpSpPr/>
              <p:nvPr/>
            </p:nvGrpSpPr>
            <p:grpSpPr>
              <a:xfrm>
                <a:off x="6310398" y="2425941"/>
                <a:ext cx="1590675" cy="310588"/>
                <a:chOff x="6530339" y="1846818"/>
                <a:chExt cx="1590675" cy="310588"/>
              </a:xfrm>
            </p:grpSpPr>
            <p:sp>
              <p:nvSpPr>
                <p:cNvPr id="107" name="矩形 106">
                  <a:extLst>
                    <a:ext uri="{FF2B5EF4-FFF2-40B4-BE49-F238E27FC236}">
                      <a16:creationId xmlns:a16="http://schemas.microsoft.com/office/drawing/2014/main" id="{08D4F972-152C-9912-0079-5C8541934293}"/>
                    </a:ext>
                  </a:extLst>
                </p:cNvPr>
                <p:cNvSpPr/>
                <p:nvPr/>
              </p:nvSpPr>
              <p:spPr>
                <a:xfrm>
                  <a:off x="6530339" y="1846821"/>
                  <a:ext cx="318135" cy="310585"/>
                </a:xfrm>
                <a:prstGeom prst="rect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8" name="矩形 107">
                  <a:extLst>
                    <a:ext uri="{FF2B5EF4-FFF2-40B4-BE49-F238E27FC236}">
                      <a16:creationId xmlns:a16="http://schemas.microsoft.com/office/drawing/2014/main" id="{EC1F7C7E-66B8-590A-66FF-9310C1FD7494}"/>
                    </a:ext>
                  </a:extLst>
                </p:cNvPr>
                <p:cNvSpPr/>
                <p:nvPr/>
              </p:nvSpPr>
              <p:spPr>
                <a:xfrm>
                  <a:off x="7166609" y="1846820"/>
                  <a:ext cx="318135" cy="310585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9" name="矩形 108">
                  <a:extLst>
                    <a:ext uri="{FF2B5EF4-FFF2-40B4-BE49-F238E27FC236}">
                      <a16:creationId xmlns:a16="http://schemas.microsoft.com/office/drawing/2014/main" id="{2F44999B-D418-340C-C0AF-668AFADE3561}"/>
                    </a:ext>
                  </a:extLst>
                </p:cNvPr>
                <p:cNvSpPr/>
                <p:nvPr/>
              </p:nvSpPr>
              <p:spPr>
                <a:xfrm>
                  <a:off x="6848474" y="1846820"/>
                  <a:ext cx="318135" cy="310585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0" name="矩形 109">
                  <a:extLst>
                    <a:ext uri="{FF2B5EF4-FFF2-40B4-BE49-F238E27FC236}">
                      <a16:creationId xmlns:a16="http://schemas.microsoft.com/office/drawing/2014/main" id="{B4CBE5BE-1614-77EF-52D1-93B0E88B66C2}"/>
                    </a:ext>
                  </a:extLst>
                </p:cNvPr>
                <p:cNvSpPr/>
                <p:nvPr/>
              </p:nvSpPr>
              <p:spPr>
                <a:xfrm>
                  <a:off x="7484744" y="1846819"/>
                  <a:ext cx="318135" cy="310585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1" name="矩形 110">
                  <a:extLst>
                    <a:ext uri="{FF2B5EF4-FFF2-40B4-BE49-F238E27FC236}">
                      <a16:creationId xmlns:a16="http://schemas.microsoft.com/office/drawing/2014/main" id="{9B57C615-121E-EB04-6732-8EB9858D6071}"/>
                    </a:ext>
                  </a:extLst>
                </p:cNvPr>
                <p:cNvSpPr/>
                <p:nvPr/>
              </p:nvSpPr>
              <p:spPr>
                <a:xfrm>
                  <a:off x="7802879" y="1846818"/>
                  <a:ext cx="318135" cy="310585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DCB2527D-4A5B-07E3-732F-BCE4793801D7}"/>
                </a:ext>
              </a:extLst>
            </p:cNvPr>
            <p:cNvGrpSpPr/>
            <p:nvPr/>
          </p:nvGrpSpPr>
          <p:grpSpPr>
            <a:xfrm>
              <a:off x="6135866" y="1042083"/>
              <a:ext cx="1590675" cy="241966"/>
              <a:chOff x="6530339" y="1846818"/>
              <a:chExt cx="1590675" cy="310588"/>
            </a:xfrm>
          </p:grpSpPr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1FFB864D-8344-7146-1009-AD9B33981332}"/>
                  </a:ext>
                </a:extLst>
              </p:cNvPr>
              <p:cNvSpPr/>
              <p:nvPr/>
            </p:nvSpPr>
            <p:spPr>
              <a:xfrm>
                <a:off x="6530339" y="1846821"/>
                <a:ext cx="318135" cy="310585"/>
              </a:xfrm>
              <a:prstGeom prst="rect">
                <a:avLst/>
              </a:prstGeom>
              <a:gradFill flip="none" rotWithShape="1">
                <a:gsLst>
                  <a:gs pos="0">
                    <a:srgbClr val="F81031">
                      <a:tint val="66000"/>
                      <a:satMod val="160000"/>
                    </a:srgbClr>
                  </a:gs>
                  <a:gs pos="50000">
                    <a:srgbClr val="F81031">
                      <a:tint val="44500"/>
                      <a:satMod val="160000"/>
                    </a:srgbClr>
                  </a:gs>
                  <a:gs pos="100000">
                    <a:srgbClr val="F81031">
                      <a:tint val="23500"/>
                      <a:satMod val="160000"/>
                    </a:srgbClr>
                  </a:gs>
                </a:gsLst>
                <a:lin ang="2700000" scaled="1"/>
                <a:tileRect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3D9892EC-7D2E-6EFF-8DC7-A657E770B2D5}"/>
                  </a:ext>
                </a:extLst>
              </p:cNvPr>
              <p:cNvSpPr/>
              <p:nvPr/>
            </p:nvSpPr>
            <p:spPr>
              <a:xfrm>
                <a:off x="6848474" y="1846820"/>
                <a:ext cx="318135" cy="310585"/>
              </a:xfrm>
              <a:prstGeom prst="rect">
                <a:avLst/>
              </a:prstGeom>
              <a:solidFill>
                <a:srgbClr val="DD2B3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2EDA8B8D-A079-B084-1F0B-F6F2D4C32479}"/>
                  </a:ext>
                </a:extLst>
              </p:cNvPr>
              <p:cNvSpPr/>
              <p:nvPr/>
            </p:nvSpPr>
            <p:spPr>
              <a:xfrm>
                <a:off x="7166609" y="1846820"/>
                <a:ext cx="318135" cy="310585"/>
              </a:xfrm>
              <a:prstGeom prst="rect">
                <a:avLst/>
              </a:prstGeom>
              <a:solidFill>
                <a:srgbClr val="C2464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DD1DA522-1FE3-6F51-D295-50D61C86DC29}"/>
                  </a:ext>
                </a:extLst>
              </p:cNvPr>
              <p:cNvSpPr/>
              <p:nvPr/>
            </p:nvSpPr>
            <p:spPr>
              <a:xfrm>
                <a:off x="7484744" y="1846819"/>
                <a:ext cx="318135" cy="310585"/>
              </a:xfrm>
              <a:prstGeom prst="rect">
                <a:avLst/>
              </a:prstGeom>
              <a:solidFill>
                <a:srgbClr val="996F7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68F345BE-8D1C-E4E5-14A5-3940E6BFA518}"/>
                  </a:ext>
                </a:extLst>
              </p:cNvPr>
              <p:cNvSpPr/>
              <p:nvPr/>
            </p:nvSpPr>
            <p:spPr>
              <a:xfrm>
                <a:off x="7802879" y="1846818"/>
                <a:ext cx="318135" cy="310585"/>
              </a:xfrm>
              <a:prstGeom prst="rect">
                <a:avLst/>
              </a:prstGeom>
              <a:gradFill flip="none" rotWithShape="1">
                <a:gsLst>
                  <a:gs pos="0">
                    <a:srgbClr val="E62230">
                      <a:tint val="66000"/>
                      <a:satMod val="160000"/>
                    </a:srgbClr>
                  </a:gs>
                  <a:gs pos="50000">
                    <a:srgbClr val="E62230">
                      <a:tint val="44500"/>
                      <a:satMod val="160000"/>
                    </a:srgbClr>
                  </a:gs>
                  <a:gs pos="100000">
                    <a:srgbClr val="E62230">
                      <a:tint val="23500"/>
                      <a:satMod val="160000"/>
                    </a:srgbClr>
                  </a:gs>
                </a:gsLst>
                <a:lin ang="5400000" scaled="1"/>
                <a:tileRect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C8EE8B0A-1F70-D69C-C125-9BC65CA6CD4D}"/>
                </a:ext>
              </a:extLst>
            </p:cNvPr>
            <p:cNvSpPr/>
            <p:nvPr/>
          </p:nvSpPr>
          <p:spPr>
            <a:xfrm>
              <a:off x="8448279" y="684180"/>
              <a:ext cx="1498193" cy="1476996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C000"/>
                </a:solidFill>
              </a:endParaRPr>
            </a:p>
          </p:txBody>
        </p:sp>
        <p:sp>
          <p:nvSpPr>
            <p:cNvPr id="34" name="箭头: 右 33">
              <a:extLst>
                <a:ext uri="{FF2B5EF4-FFF2-40B4-BE49-F238E27FC236}">
                  <a16:creationId xmlns:a16="http://schemas.microsoft.com/office/drawing/2014/main" id="{87D13D47-4E49-8403-EE8B-E4D5A3697DB9}"/>
                </a:ext>
              </a:extLst>
            </p:cNvPr>
            <p:cNvSpPr/>
            <p:nvPr/>
          </p:nvSpPr>
          <p:spPr>
            <a:xfrm rot="19686071">
              <a:off x="7890394" y="834345"/>
              <a:ext cx="472440" cy="124665"/>
            </a:xfrm>
            <a:prstGeom prst="rightArrow">
              <a:avLst/>
            </a:prstGeom>
            <a:gradFill flip="none" rotWithShape="1">
              <a:gsLst>
                <a:gs pos="0">
                  <a:srgbClr val="00B0F0">
                    <a:shade val="30000"/>
                    <a:satMod val="115000"/>
                  </a:srgbClr>
                </a:gs>
                <a:gs pos="50000">
                  <a:srgbClr val="00B0F0">
                    <a:shade val="67500"/>
                    <a:satMod val="115000"/>
                  </a:srgbClr>
                </a:gs>
                <a:gs pos="100000">
                  <a:srgbClr val="00B0F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endParaRPr lang="zh-CN" altLang="en-US" sz="1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箭头: 右 34">
              <a:extLst>
                <a:ext uri="{FF2B5EF4-FFF2-40B4-BE49-F238E27FC236}">
                  <a16:creationId xmlns:a16="http://schemas.microsoft.com/office/drawing/2014/main" id="{984AA2C4-6EEA-6BE3-7DB3-C166FC985D8A}"/>
                </a:ext>
              </a:extLst>
            </p:cNvPr>
            <p:cNvSpPr/>
            <p:nvPr/>
          </p:nvSpPr>
          <p:spPr>
            <a:xfrm>
              <a:off x="7943741" y="1340070"/>
              <a:ext cx="472440" cy="124665"/>
            </a:xfrm>
            <a:prstGeom prst="rightArrow">
              <a:avLst/>
            </a:prstGeom>
            <a:gradFill flip="none" rotWithShape="1">
              <a:gsLst>
                <a:gs pos="0">
                  <a:srgbClr val="00B0F0">
                    <a:shade val="30000"/>
                    <a:satMod val="115000"/>
                  </a:srgbClr>
                </a:gs>
                <a:gs pos="50000">
                  <a:srgbClr val="00B0F0">
                    <a:shade val="67500"/>
                    <a:satMod val="115000"/>
                  </a:srgbClr>
                </a:gs>
                <a:gs pos="100000">
                  <a:srgbClr val="00B0F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endParaRPr lang="zh-CN" altLang="en-US" sz="1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箭头: 右 35">
              <a:extLst>
                <a:ext uri="{FF2B5EF4-FFF2-40B4-BE49-F238E27FC236}">
                  <a16:creationId xmlns:a16="http://schemas.microsoft.com/office/drawing/2014/main" id="{C400150C-7B01-68A5-A81D-D1CE01F34DD1}"/>
                </a:ext>
              </a:extLst>
            </p:cNvPr>
            <p:cNvSpPr/>
            <p:nvPr/>
          </p:nvSpPr>
          <p:spPr>
            <a:xfrm rot="1921371">
              <a:off x="7870207" y="1948412"/>
              <a:ext cx="472440" cy="124665"/>
            </a:xfrm>
            <a:prstGeom prst="rightArrow">
              <a:avLst/>
            </a:prstGeom>
            <a:gradFill flip="none" rotWithShape="1">
              <a:gsLst>
                <a:gs pos="0">
                  <a:srgbClr val="00B0F0">
                    <a:shade val="30000"/>
                    <a:satMod val="115000"/>
                  </a:srgbClr>
                </a:gs>
                <a:gs pos="50000">
                  <a:srgbClr val="00B0F0">
                    <a:shade val="67500"/>
                    <a:satMod val="115000"/>
                  </a:srgbClr>
                </a:gs>
                <a:gs pos="100000">
                  <a:srgbClr val="00B0F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endParaRPr lang="zh-CN" altLang="en-US" sz="1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889B4AEE-D1F5-16A6-398F-49014BE70242}"/>
                </a:ext>
              </a:extLst>
            </p:cNvPr>
            <p:cNvGrpSpPr/>
            <p:nvPr/>
          </p:nvGrpSpPr>
          <p:grpSpPr>
            <a:xfrm>
              <a:off x="6192002" y="1663696"/>
              <a:ext cx="1671723" cy="269056"/>
              <a:chOff x="6310398" y="2391169"/>
              <a:chExt cx="1671723" cy="345360"/>
            </a:xfrm>
          </p:grpSpPr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CAE8E3F2-1526-4B8B-1B83-6851BCB9102E}"/>
                  </a:ext>
                </a:extLst>
              </p:cNvPr>
              <p:cNvGrpSpPr/>
              <p:nvPr/>
            </p:nvGrpSpPr>
            <p:grpSpPr>
              <a:xfrm>
                <a:off x="6391446" y="2391169"/>
                <a:ext cx="1590675" cy="310588"/>
                <a:chOff x="6530339" y="1846818"/>
                <a:chExt cx="1590675" cy="310588"/>
              </a:xfrm>
            </p:grpSpPr>
            <p:sp>
              <p:nvSpPr>
                <p:cNvPr id="95" name="矩形 94">
                  <a:extLst>
                    <a:ext uri="{FF2B5EF4-FFF2-40B4-BE49-F238E27FC236}">
                      <a16:creationId xmlns:a16="http://schemas.microsoft.com/office/drawing/2014/main" id="{BD063292-6FDC-D8E1-85F6-2277921302F5}"/>
                    </a:ext>
                  </a:extLst>
                </p:cNvPr>
                <p:cNvSpPr/>
                <p:nvPr/>
              </p:nvSpPr>
              <p:spPr>
                <a:xfrm>
                  <a:off x="6530339" y="1846821"/>
                  <a:ext cx="318135" cy="310585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6" name="矩形 95">
                  <a:extLst>
                    <a:ext uri="{FF2B5EF4-FFF2-40B4-BE49-F238E27FC236}">
                      <a16:creationId xmlns:a16="http://schemas.microsoft.com/office/drawing/2014/main" id="{E560CE75-8487-4A8B-85AA-ABC43023FF22}"/>
                    </a:ext>
                  </a:extLst>
                </p:cNvPr>
                <p:cNvSpPr/>
                <p:nvPr/>
              </p:nvSpPr>
              <p:spPr>
                <a:xfrm>
                  <a:off x="7166609" y="1846820"/>
                  <a:ext cx="318135" cy="310585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7" name="矩形 96">
                  <a:extLst>
                    <a:ext uri="{FF2B5EF4-FFF2-40B4-BE49-F238E27FC236}">
                      <a16:creationId xmlns:a16="http://schemas.microsoft.com/office/drawing/2014/main" id="{C9ABC175-DEA2-462F-7242-AE76AAA71D1D}"/>
                    </a:ext>
                  </a:extLst>
                </p:cNvPr>
                <p:cNvSpPr/>
                <p:nvPr/>
              </p:nvSpPr>
              <p:spPr>
                <a:xfrm>
                  <a:off x="6848474" y="1846820"/>
                  <a:ext cx="318135" cy="310585"/>
                </a:xfrm>
                <a:prstGeom prst="rect">
                  <a:avLst/>
                </a:prstGeom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>
                  <a:extLst>
                    <a:ext uri="{FF2B5EF4-FFF2-40B4-BE49-F238E27FC236}">
                      <a16:creationId xmlns:a16="http://schemas.microsoft.com/office/drawing/2014/main" id="{96E00467-3AF5-3DF7-54BA-63384D02BCC7}"/>
                    </a:ext>
                  </a:extLst>
                </p:cNvPr>
                <p:cNvSpPr/>
                <p:nvPr/>
              </p:nvSpPr>
              <p:spPr>
                <a:xfrm>
                  <a:off x="7484744" y="1846819"/>
                  <a:ext cx="318135" cy="310585"/>
                </a:xfrm>
                <a:prstGeom prst="rect">
                  <a:avLst/>
                </a:prstGeom>
              </p:spPr>
              <p:style>
                <a:lnRef idx="2">
                  <a:schemeClr val="accent5">
                    <a:shade val="15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9" name="矩形 98">
                  <a:extLst>
                    <a:ext uri="{FF2B5EF4-FFF2-40B4-BE49-F238E27FC236}">
                      <a16:creationId xmlns:a16="http://schemas.microsoft.com/office/drawing/2014/main" id="{D19FB15F-4C23-3A72-3132-318BA9EECA42}"/>
                    </a:ext>
                  </a:extLst>
                </p:cNvPr>
                <p:cNvSpPr/>
                <p:nvPr/>
              </p:nvSpPr>
              <p:spPr>
                <a:xfrm>
                  <a:off x="7802879" y="1846818"/>
                  <a:ext cx="318135" cy="310585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89" name="组合 88">
                <a:extLst>
                  <a:ext uri="{FF2B5EF4-FFF2-40B4-BE49-F238E27FC236}">
                    <a16:creationId xmlns:a16="http://schemas.microsoft.com/office/drawing/2014/main" id="{5A9138EE-6CAA-7C5C-7D2E-622A5256D203}"/>
                  </a:ext>
                </a:extLst>
              </p:cNvPr>
              <p:cNvGrpSpPr/>
              <p:nvPr/>
            </p:nvGrpSpPr>
            <p:grpSpPr>
              <a:xfrm>
                <a:off x="6310398" y="2425941"/>
                <a:ext cx="1590675" cy="310588"/>
                <a:chOff x="6530339" y="1846818"/>
                <a:chExt cx="1590675" cy="310588"/>
              </a:xfrm>
            </p:grpSpPr>
            <p:sp>
              <p:nvSpPr>
                <p:cNvPr id="90" name="矩形 89">
                  <a:extLst>
                    <a:ext uri="{FF2B5EF4-FFF2-40B4-BE49-F238E27FC236}">
                      <a16:creationId xmlns:a16="http://schemas.microsoft.com/office/drawing/2014/main" id="{DB9DBF24-D32C-F511-D03C-F7AF34358701}"/>
                    </a:ext>
                  </a:extLst>
                </p:cNvPr>
                <p:cNvSpPr/>
                <p:nvPr/>
              </p:nvSpPr>
              <p:spPr>
                <a:xfrm>
                  <a:off x="6530339" y="1846821"/>
                  <a:ext cx="318135" cy="310585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1" name="矩形 90">
                  <a:extLst>
                    <a:ext uri="{FF2B5EF4-FFF2-40B4-BE49-F238E27FC236}">
                      <a16:creationId xmlns:a16="http://schemas.microsoft.com/office/drawing/2014/main" id="{F879FF38-C285-640D-2848-C85E27D02F82}"/>
                    </a:ext>
                  </a:extLst>
                </p:cNvPr>
                <p:cNvSpPr/>
                <p:nvPr/>
              </p:nvSpPr>
              <p:spPr>
                <a:xfrm>
                  <a:off x="7166609" y="1846820"/>
                  <a:ext cx="318135" cy="310585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2" name="矩形 91">
                  <a:extLst>
                    <a:ext uri="{FF2B5EF4-FFF2-40B4-BE49-F238E27FC236}">
                      <a16:creationId xmlns:a16="http://schemas.microsoft.com/office/drawing/2014/main" id="{A2D38BDA-3405-7BC4-4A88-94AB1BDC75A8}"/>
                    </a:ext>
                  </a:extLst>
                </p:cNvPr>
                <p:cNvSpPr/>
                <p:nvPr/>
              </p:nvSpPr>
              <p:spPr>
                <a:xfrm>
                  <a:off x="6848474" y="1846820"/>
                  <a:ext cx="318135" cy="310585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3" name="矩形 92">
                  <a:extLst>
                    <a:ext uri="{FF2B5EF4-FFF2-40B4-BE49-F238E27FC236}">
                      <a16:creationId xmlns:a16="http://schemas.microsoft.com/office/drawing/2014/main" id="{4FD48D85-17C2-D369-173D-3EA21F67B54A}"/>
                    </a:ext>
                  </a:extLst>
                </p:cNvPr>
                <p:cNvSpPr/>
                <p:nvPr/>
              </p:nvSpPr>
              <p:spPr>
                <a:xfrm>
                  <a:off x="7484744" y="1846819"/>
                  <a:ext cx="318135" cy="310585"/>
                </a:xfrm>
                <a:prstGeom prst="rect">
                  <a:avLst/>
                </a:prstGeom>
              </p:spPr>
              <p:style>
                <a:lnRef idx="2">
                  <a:schemeClr val="accent5">
                    <a:shade val="15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4" name="矩形 93">
                  <a:extLst>
                    <a:ext uri="{FF2B5EF4-FFF2-40B4-BE49-F238E27FC236}">
                      <a16:creationId xmlns:a16="http://schemas.microsoft.com/office/drawing/2014/main" id="{912B2C7A-C967-A26B-D8E9-8274F4FD069D}"/>
                    </a:ext>
                  </a:extLst>
                </p:cNvPr>
                <p:cNvSpPr/>
                <p:nvPr/>
              </p:nvSpPr>
              <p:spPr>
                <a:xfrm>
                  <a:off x="7802879" y="1846818"/>
                  <a:ext cx="318135" cy="310585"/>
                </a:xfrm>
                <a:prstGeom prst="rect">
                  <a:avLst/>
                </a:prstGeom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A720077A-5E7F-5BD0-9CAE-2A0D29618A32}"/>
                </a:ext>
              </a:extLst>
            </p:cNvPr>
            <p:cNvGrpSpPr/>
            <p:nvPr/>
          </p:nvGrpSpPr>
          <p:grpSpPr>
            <a:xfrm>
              <a:off x="6119094" y="1714216"/>
              <a:ext cx="1590675" cy="241966"/>
              <a:chOff x="6530339" y="1846818"/>
              <a:chExt cx="1590675" cy="310588"/>
            </a:xfrm>
          </p:grpSpPr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119B7E28-2EE0-5749-051C-C687A395382A}"/>
                  </a:ext>
                </a:extLst>
              </p:cNvPr>
              <p:cNvSpPr/>
              <p:nvPr/>
            </p:nvSpPr>
            <p:spPr>
              <a:xfrm>
                <a:off x="6530339" y="1846821"/>
                <a:ext cx="318135" cy="310585"/>
              </a:xfrm>
              <a:prstGeom prst="rect">
                <a:avLst/>
              </a:prstGeom>
              <a:gradFill flip="none" rotWithShape="1">
                <a:gsLst>
                  <a:gs pos="0">
                    <a:srgbClr val="2CE523">
                      <a:tint val="66000"/>
                      <a:satMod val="160000"/>
                    </a:srgbClr>
                  </a:gs>
                  <a:gs pos="50000">
                    <a:srgbClr val="2CE523">
                      <a:tint val="44500"/>
                      <a:satMod val="160000"/>
                    </a:srgbClr>
                  </a:gs>
                  <a:gs pos="100000">
                    <a:srgbClr val="2CE523">
                      <a:tint val="23500"/>
                      <a:satMod val="160000"/>
                    </a:srgbClr>
                  </a:gs>
                </a:gsLst>
                <a:lin ang="5400000" scaled="1"/>
                <a:tileRect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1A55E381-8D55-9DDA-FA71-04862C67A995}"/>
                  </a:ext>
                </a:extLst>
              </p:cNvPr>
              <p:cNvSpPr/>
              <p:nvPr/>
            </p:nvSpPr>
            <p:spPr>
              <a:xfrm>
                <a:off x="6848474" y="1846820"/>
                <a:ext cx="318135" cy="310585"/>
              </a:xfrm>
              <a:prstGeom prst="rect">
                <a:avLst/>
              </a:prstGeom>
              <a:gradFill flip="none" rotWithShape="1">
                <a:gsLst>
                  <a:gs pos="0">
                    <a:srgbClr val="7FEE1A">
                      <a:tint val="66000"/>
                      <a:satMod val="160000"/>
                    </a:srgbClr>
                  </a:gs>
                  <a:gs pos="50000">
                    <a:srgbClr val="7FEE1A">
                      <a:tint val="44500"/>
                      <a:satMod val="160000"/>
                    </a:srgbClr>
                  </a:gs>
                  <a:gs pos="100000">
                    <a:srgbClr val="7FEE1A">
                      <a:tint val="23500"/>
                      <a:satMod val="160000"/>
                    </a:srgbClr>
                  </a:gs>
                </a:gsLst>
                <a:lin ang="5400000" scaled="1"/>
                <a:tileRect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776867CD-D80C-8373-B5A9-77579CE4C129}"/>
                  </a:ext>
                </a:extLst>
              </p:cNvPr>
              <p:cNvSpPr/>
              <p:nvPr/>
            </p:nvSpPr>
            <p:spPr>
              <a:xfrm>
                <a:off x="7166609" y="1846820"/>
                <a:ext cx="318135" cy="310585"/>
              </a:xfrm>
              <a:prstGeom prst="rect">
                <a:avLst/>
              </a:prstGeom>
              <a:gradFill flip="none" rotWithShape="1">
                <a:gsLst>
                  <a:gs pos="0">
                    <a:srgbClr val="0FF9A0">
                      <a:tint val="66000"/>
                      <a:satMod val="160000"/>
                    </a:srgbClr>
                  </a:gs>
                  <a:gs pos="50000">
                    <a:srgbClr val="0FF9A0">
                      <a:tint val="44500"/>
                      <a:satMod val="160000"/>
                    </a:srgbClr>
                  </a:gs>
                  <a:gs pos="100000">
                    <a:srgbClr val="0FF9A0">
                      <a:tint val="23500"/>
                      <a:satMod val="160000"/>
                    </a:srgbClr>
                  </a:gs>
                </a:gsLst>
                <a:lin ang="10800000" scaled="1"/>
                <a:tileRect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6EF26BC5-5168-E0A3-8AC2-FEDC5105AD61}"/>
                  </a:ext>
                </a:extLst>
              </p:cNvPr>
              <p:cNvSpPr/>
              <p:nvPr/>
            </p:nvSpPr>
            <p:spPr>
              <a:xfrm>
                <a:off x="7484744" y="1846819"/>
                <a:ext cx="318135" cy="310585"/>
              </a:xfrm>
              <a:prstGeom prst="rect">
                <a:avLst/>
              </a:prstGeom>
              <a:gradFill flip="none" rotWithShape="1">
                <a:gsLst>
                  <a:gs pos="0">
                    <a:srgbClr val="00FFFF">
                      <a:tint val="66000"/>
                      <a:satMod val="160000"/>
                    </a:srgbClr>
                  </a:gs>
                  <a:gs pos="50000">
                    <a:srgbClr val="00FFFF">
                      <a:tint val="44500"/>
                      <a:satMod val="160000"/>
                    </a:srgbClr>
                  </a:gs>
                  <a:gs pos="100000">
                    <a:srgbClr val="00FFFF">
                      <a:tint val="23500"/>
                      <a:satMod val="160000"/>
                    </a:srgbClr>
                  </a:gs>
                </a:gsLst>
                <a:lin ang="5400000" scaled="1"/>
                <a:tileRect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" name="矩形 86">
                <a:extLst>
                  <a:ext uri="{FF2B5EF4-FFF2-40B4-BE49-F238E27FC236}">
                    <a16:creationId xmlns:a16="http://schemas.microsoft.com/office/drawing/2014/main" id="{1F704A45-D79C-60B5-212E-473E718C45B5}"/>
                  </a:ext>
                </a:extLst>
              </p:cNvPr>
              <p:cNvSpPr/>
              <p:nvPr/>
            </p:nvSpPr>
            <p:spPr>
              <a:xfrm>
                <a:off x="7802879" y="1846818"/>
                <a:ext cx="318135" cy="310585"/>
              </a:xfrm>
              <a:prstGeom prst="rect">
                <a:avLst/>
              </a:prstGeom>
              <a:gradFill flip="none" rotWithShape="1">
                <a:gsLst>
                  <a:gs pos="0">
                    <a:srgbClr val="65A375">
                      <a:tint val="66000"/>
                      <a:satMod val="160000"/>
                    </a:srgbClr>
                  </a:gs>
                  <a:gs pos="50000">
                    <a:srgbClr val="65A375">
                      <a:tint val="44500"/>
                      <a:satMod val="160000"/>
                    </a:srgbClr>
                  </a:gs>
                  <a:gs pos="100000">
                    <a:srgbClr val="65A375">
                      <a:tint val="23500"/>
                      <a:satMod val="160000"/>
                    </a:srgbClr>
                  </a:gs>
                </a:gsLst>
                <a:lin ang="5400000" scaled="1"/>
                <a:tileRect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738569C3-8176-7FBE-6EF7-CC4A1450CADE}"/>
                </a:ext>
              </a:extLst>
            </p:cNvPr>
            <p:cNvSpPr/>
            <p:nvPr/>
          </p:nvSpPr>
          <p:spPr>
            <a:xfrm>
              <a:off x="3826818" y="290213"/>
              <a:ext cx="881497" cy="2344890"/>
            </a:xfrm>
            <a:prstGeom prst="roundRect">
              <a:avLst/>
            </a:prstGeom>
            <a:noFill/>
            <a:ln w="1905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B42C18AC-E0DD-6306-C810-2E39ECF771F9}"/>
                </a:ext>
              </a:extLst>
            </p:cNvPr>
            <p:cNvSpPr txBox="1"/>
            <p:nvPr/>
          </p:nvSpPr>
          <p:spPr>
            <a:xfrm>
              <a:off x="4025649" y="1202333"/>
              <a:ext cx="430887" cy="61938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SCM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C481E3CF-10DF-77C9-EFB5-7C3CC005A6F9}"/>
                </a:ext>
              </a:extLst>
            </p:cNvPr>
            <p:cNvSpPr/>
            <p:nvPr/>
          </p:nvSpPr>
          <p:spPr>
            <a:xfrm>
              <a:off x="5305009" y="290213"/>
              <a:ext cx="685583" cy="2344890"/>
            </a:xfrm>
            <a:prstGeom prst="roundRect">
              <a:avLst/>
            </a:prstGeom>
            <a:noFill/>
            <a:ln w="1905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E86CB486-ECD0-01B0-AEA4-F3063A093E0E}"/>
                </a:ext>
              </a:extLst>
            </p:cNvPr>
            <p:cNvSpPr txBox="1"/>
            <p:nvPr/>
          </p:nvSpPr>
          <p:spPr>
            <a:xfrm>
              <a:off x="5423677" y="1175715"/>
              <a:ext cx="430887" cy="703838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FGSE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箭头: 上下 42">
              <a:extLst>
                <a:ext uri="{FF2B5EF4-FFF2-40B4-BE49-F238E27FC236}">
                  <a16:creationId xmlns:a16="http://schemas.microsoft.com/office/drawing/2014/main" id="{F323B0E2-3431-06FE-42DD-2662A3393A25}"/>
                </a:ext>
              </a:extLst>
            </p:cNvPr>
            <p:cNvSpPr/>
            <p:nvPr/>
          </p:nvSpPr>
          <p:spPr>
            <a:xfrm>
              <a:off x="6605350" y="1367246"/>
              <a:ext cx="164179" cy="223504"/>
            </a:xfrm>
            <a:prstGeom prst="upDownArrow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endParaRPr lang="zh-CN" altLang="en-US" sz="1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箭头: 左右 43">
              <a:extLst>
                <a:ext uri="{FF2B5EF4-FFF2-40B4-BE49-F238E27FC236}">
                  <a16:creationId xmlns:a16="http://schemas.microsoft.com/office/drawing/2014/main" id="{3933ADA5-3A56-FCED-455C-3A2C8F0FE52A}"/>
                </a:ext>
              </a:extLst>
            </p:cNvPr>
            <p:cNvSpPr/>
            <p:nvPr/>
          </p:nvSpPr>
          <p:spPr>
            <a:xfrm>
              <a:off x="7056328" y="1420211"/>
              <a:ext cx="308311" cy="124665"/>
            </a:xfrm>
            <a:prstGeom prst="leftRightArrow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endParaRPr lang="zh-CN" altLang="en-US" sz="1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63DD9A18-E33A-3248-4E81-50DF710F28CD}"/>
                </a:ext>
              </a:extLst>
            </p:cNvPr>
            <p:cNvSpPr txBox="1"/>
            <p:nvPr/>
          </p:nvSpPr>
          <p:spPr>
            <a:xfrm>
              <a:off x="6065838" y="739108"/>
              <a:ext cx="2279915" cy="2157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Multi-Layer Feature Fusion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流程图: 接点 45">
              <a:extLst>
                <a:ext uri="{FF2B5EF4-FFF2-40B4-BE49-F238E27FC236}">
                  <a16:creationId xmlns:a16="http://schemas.microsoft.com/office/drawing/2014/main" id="{C8D25CE7-5273-13A1-4081-8E9CD2D222F3}"/>
                </a:ext>
              </a:extLst>
            </p:cNvPr>
            <p:cNvSpPr/>
            <p:nvPr/>
          </p:nvSpPr>
          <p:spPr>
            <a:xfrm>
              <a:off x="6850575" y="1430120"/>
              <a:ext cx="131384" cy="106084"/>
            </a:xfrm>
            <a:prstGeom prst="flowChartConnector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endParaRPr lang="zh-CN" altLang="en-US" sz="1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流程图: 接点 46">
              <a:extLst>
                <a:ext uri="{FF2B5EF4-FFF2-40B4-BE49-F238E27FC236}">
                  <a16:creationId xmlns:a16="http://schemas.microsoft.com/office/drawing/2014/main" id="{F6CA8940-FD1B-03F6-36CB-416A55ADCFEA}"/>
                </a:ext>
              </a:extLst>
            </p:cNvPr>
            <p:cNvSpPr/>
            <p:nvPr/>
          </p:nvSpPr>
          <p:spPr>
            <a:xfrm>
              <a:off x="6893408" y="1464735"/>
              <a:ext cx="45719" cy="35618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4408FF34-65E6-B887-396C-5EA620364F24}"/>
                </a:ext>
              </a:extLst>
            </p:cNvPr>
            <p:cNvSpPr/>
            <p:nvPr/>
          </p:nvSpPr>
          <p:spPr>
            <a:xfrm>
              <a:off x="8612458" y="1093079"/>
              <a:ext cx="1204416" cy="621137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49" name="流程图: 接点 48">
              <a:extLst>
                <a:ext uri="{FF2B5EF4-FFF2-40B4-BE49-F238E27FC236}">
                  <a16:creationId xmlns:a16="http://schemas.microsoft.com/office/drawing/2014/main" id="{FAA915BF-30B3-F230-F8F3-0FAA26743C2B}"/>
                </a:ext>
              </a:extLst>
            </p:cNvPr>
            <p:cNvSpPr/>
            <p:nvPr/>
          </p:nvSpPr>
          <p:spPr>
            <a:xfrm>
              <a:off x="8841929" y="944465"/>
              <a:ext cx="122491" cy="10437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流程图: 接点 49">
              <a:extLst>
                <a:ext uri="{FF2B5EF4-FFF2-40B4-BE49-F238E27FC236}">
                  <a16:creationId xmlns:a16="http://schemas.microsoft.com/office/drawing/2014/main" id="{665A01D7-1890-2B9F-AD49-74F06B77D2C4}"/>
                </a:ext>
              </a:extLst>
            </p:cNvPr>
            <p:cNvSpPr/>
            <p:nvPr/>
          </p:nvSpPr>
          <p:spPr>
            <a:xfrm>
              <a:off x="9405384" y="935267"/>
              <a:ext cx="122491" cy="104378"/>
            </a:xfrm>
            <a:prstGeom prst="flowChartConnector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流程图: 接点 50">
              <a:extLst>
                <a:ext uri="{FF2B5EF4-FFF2-40B4-BE49-F238E27FC236}">
                  <a16:creationId xmlns:a16="http://schemas.microsoft.com/office/drawing/2014/main" id="{9F7802E6-E589-4F2A-AD1A-4A98B021B0F3}"/>
                </a:ext>
              </a:extLst>
            </p:cNvPr>
            <p:cNvSpPr/>
            <p:nvPr/>
          </p:nvSpPr>
          <p:spPr>
            <a:xfrm>
              <a:off x="8877135" y="1778382"/>
              <a:ext cx="122491" cy="97036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流程图: 接点 51">
              <a:extLst>
                <a:ext uri="{FF2B5EF4-FFF2-40B4-BE49-F238E27FC236}">
                  <a16:creationId xmlns:a16="http://schemas.microsoft.com/office/drawing/2014/main" id="{BB4BD5AB-450D-495B-67FE-0276CB7D0DA6}"/>
                </a:ext>
              </a:extLst>
            </p:cNvPr>
            <p:cNvSpPr/>
            <p:nvPr/>
          </p:nvSpPr>
          <p:spPr>
            <a:xfrm>
              <a:off x="9425510" y="1808190"/>
              <a:ext cx="122491" cy="104378"/>
            </a:xfrm>
            <a:prstGeom prst="flowChartConnector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梯形 52">
              <a:extLst>
                <a:ext uri="{FF2B5EF4-FFF2-40B4-BE49-F238E27FC236}">
                  <a16:creationId xmlns:a16="http://schemas.microsoft.com/office/drawing/2014/main" id="{34D3309A-B3FC-92B9-F167-D316F02A20A0}"/>
                </a:ext>
              </a:extLst>
            </p:cNvPr>
            <p:cNvSpPr/>
            <p:nvPr/>
          </p:nvSpPr>
          <p:spPr>
            <a:xfrm>
              <a:off x="8803889" y="1252015"/>
              <a:ext cx="122491" cy="79454"/>
            </a:xfrm>
            <a:prstGeom prst="trapezoi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梯形 53">
              <a:extLst>
                <a:ext uri="{FF2B5EF4-FFF2-40B4-BE49-F238E27FC236}">
                  <a16:creationId xmlns:a16="http://schemas.microsoft.com/office/drawing/2014/main" id="{D6CC7CDF-2F0F-4968-FCD3-12BA8EE004B0}"/>
                </a:ext>
              </a:extLst>
            </p:cNvPr>
            <p:cNvSpPr/>
            <p:nvPr/>
          </p:nvSpPr>
          <p:spPr>
            <a:xfrm>
              <a:off x="9029159" y="1459067"/>
              <a:ext cx="122491" cy="79454"/>
            </a:xfrm>
            <a:prstGeom prst="trapezoi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梯形 54">
              <a:extLst>
                <a:ext uri="{FF2B5EF4-FFF2-40B4-BE49-F238E27FC236}">
                  <a16:creationId xmlns:a16="http://schemas.microsoft.com/office/drawing/2014/main" id="{2B4D1B84-84AF-FDD0-08DB-6271D2ED76B6}"/>
                </a:ext>
              </a:extLst>
            </p:cNvPr>
            <p:cNvSpPr/>
            <p:nvPr/>
          </p:nvSpPr>
          <p:spPr>
            <a:xfrm>
              <a:off x="8865135" y="1409393"/>
              <a:ext cx="122491" cy="79454"/>
            </a:xfrm>
            <a:prstGeom prst="trapezoi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等腰三角形 55">
              <a:extLst>
                <a:ext uri="{FF2B5EF4-FFF2-40B4-BE49-F238E27FC236}">
                  <a16:creationId xmlns:a16="http://schemas.microsoft.com/office/drawing/2014/main" id="{8B0E8868-E753-57F9-B04C-56B7F2C32294}"/>
                </a:ext>
              </a:extLst>
            </p:cNvPr>
            <p:cNvSpPr/>
            <p:nvPr/>
          </p:nvSpPr>
          <p:spPr>
            <a:xfrm>
              <a:off x="9176642" y="1301278"/>
              <a:ext cx="122491" cy="97950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等腰三角形 56">
              <a:extLst>
                <a:ext uri="{FF2B5EF4-FFF2-40B4-BE49-F238E27FC236}">
                  <a16:creationId xmlns:a16="http://schemas.microsoft.com/office/drawing/2014/main" id="{F106C3C8-3B9E-1E67-AAA5-0BD67FFBF3F1}"/>
                </a:ext>
              </a:extLst>
            </p:cNvPr>
            <p:cNvSpPr/>
            <p:nvPr/>
          </p:nvSpPr>
          <p:spPr>
            <a:xfrm>
              <a:off x="9317155" y="1487228"/>
              <a:ext cx="122491" cy="97950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等腰三角形 57">
              <a:extLst>
                <a:ext uri="{FF2B5EF4-FFF2-40B4-BE49-F238E27FC236}">
                  <a16:creationId xmlns:a16="http://schemas.microsoft.com/office/drawing/2014/main" id="{931ED2FE-EB80-880F-01E0-54FDC9EE2AC1}"/>
                </a:ext>
              </a:extLst>
            </p:cNvPr>
            <p:cNvSpPr/>
            <p:nvPr/>
          </p:nvSpPr>
          <p:spPr>
            <a:xfrm>
              <a:off x="9477685" y="1346116"/>
              <a:ext cx="122491" cy="97950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等腰三角形 58">
              <a:extLst>
                <a:ext uri="{FF2B5EF4-FFF2-40B4-BE49-F238E27FC236}">
                  <a16:creationId xmlns:a16="http://schemas.microsoft.com/office/drawing/2014/main" id="{CA02B51E-6837-3B21-BED1-9391622987D6}"/>
                </a:ext>
              </a:extLst>
            </p:cNvPr>
            <p:cNvSpPr/>
            <p:nvPr/>
          </p:nvSpPr>
          <p:spPr>
            <a:xfrm>
              <a:off x="9391021" y="1178029"/>
              <a:ext cx="122491" cy="97950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梯形 59">
              <a:extLst>
                <a:ext uri="{FF2B5EF4-FFF2-40B4-BE49-F238E27FC236}">
                  <a16:creationId xmlns:a16="http://schemas.microsoft.com/office/drawing/2014/main" id="{08DD739B-4A64-94AA-1C33-5F8ECAD401B7}"/>
                </a:ext>
              </a:extLst>
            </p:cNvPr>
            <p:cNvSpPr/>
            <p:nvPr/>
          </p:nvSpPr>
          <p:spPr>
            <a:xfrm>
              <a:off x="9068083" y="1205185"/>
              <a:ext cx="122491" cy="79454"/>
            </a:xfrm>
            <a:prstGeom prst="trapezoi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3025193B-35AF-6EEF-1520-77DD04CD0D37}"/>
                </a:ext>
              </a:extLst>
            </p:cNvPr>
            <p:cNvGrpSpPr/>
            <p:nvPr/>
          </p:nvGrpSpPr>
          <p:grpSpPr>
            <a:xfrm>
              <a:off x="10510656" y="976057"/>
              <a:ext cx="302736" cy="888307"/>
              <a:chOff x="10012992" y="2222824"/>
              <a:chExt cx="302736" cy="1140231"/>
            </a:xfrm>
          </p:grpSpPr>
          <p:sp>
            <p:nvSpPr>
              <p:cNvPr id="78" name="矩形: 剪去左右顶角 77">
                <a:extLst>
                  <a:ext uri="{FF2B5EF4-FFF2-40B4-BE49-F238E27FC236}">
                    <a16:creationId xmlns:a16="http://schemas.microsoft.com/office/drawing/2014/main" id="{BCE892BA-F4C8-5E69-55DE-3722DD25E0BB}"/>
                  </a:ext>
                </a:extLst>
              </p:cNvPr>
              <p:cNvSpPr/>
              <p:nvPr/>
            </p:nvSpPr>
            <p:spPr>
              <a:xfrm rot="5400000">
                <a:off x="9594244" y="2641572"/>
                <a:ext cx="1140231" cy="302736"/>
              </a:xfrm>
              <a:prstGeom prst="snip2Same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79" name="对象 78">
                    <a:extLst>
                      <a:ext uri="{FF2B5EF4-FFF2-40B4-BE49-F238E27FC236}">
                        <a16:creationId xmlns:a16="http://schemas.microsoft.com/office/drawing/2014/main" id="{FD3E0387-19BA-D319-25C6-E5060682ED9C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65963817"/>
                      </p:ext>
                    </p:extLst>
                  </p:nvPr>
                </p:nvGraphicFramePr>
                <p:xfrm>
                  <a:off x="10058553" y="2269501"/>
                  <a:ext cx="257175" cy="233363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6" imgW="256795" imgH="232848" progId="Equation.DSMT4">
                          <p:embed/>
                        </p:oleObj>
                      </mc:Choice>
                      <mc:Fallback>
                        <p:oleObj name="Equation" r:id="rId6" imgW="256795" imgH="232848" progId="Equation.DSMT4">
                          <p:embed/>
                          <p:pic>
                            <p:nvPicPr>
                              <p:cNvPr id="122" name="对象 121">
                                <a:extLst>
                                  <a:ext uri="{FF2B5EF4-FFF2-40B4-BE49-F238E27FC236}">
                                    <a16:creationId xmlns:a16="http://schemas.microsoft.com/office/drawing/2014/main" id="{2F0D54CB-029C-3E43-B825-426458A79F37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7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10058553" y="2269501"/>
                                <a:ext cx="257175" cy="23336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22" name="对象 121">
                    <a:extLst>
                      <a:ext uri="{FF2B5EF4-FFF2-40B4-BE49-F238E27FC236}">
                        <a16:creationId xmlns:a16="http://schemas.microsoft.com/office/drawing/2014/main" id="{2F0D54CB-029C-3E43-B825-426458A79F37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0759099"/>
                      </p:ext>
                    </p:extLst>
                  </p:nvPr>
                </p:nvGraphicFramePr>
                <p:xfrm>
                  <a:off x="10058553" y="2269501"/>
                  <a:ext cx="257175" cy="233363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8" imgW="256795" imgH="232848" progId="Equation.DSMT4">
                          <p:embed/>
                        </p:oleObj>
                      </mc:Choice>
                      <mc:Fallback>
                        <p:oleObj name="Equation" r:id="rId8" imgW="256795" imgH="232848" progId="Equation.DSMT4">
                          <p:embed/>
                          <p:pic>
                            <p:nvPicPr>
                              <p:cNvPr id="0" name=""/>
                              <p:cNvPicPr/>
                              <p:nvPr/>
                            </p:nvPicPr>
                            <p:blipFill>
                              <a:blip r:embed="rId9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10058553" y="2269501"/>
                                <a:ext cx="257175" cy="23336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80" name="对象 79">
                    <a:extLst>
                      <a:ext uri="{FF2B5EF4-FFF2-40B4-BE49-F238E27FC236}">
                        <a16:creationId xmlns:a16="http://schemas.microsoft.com/office/drawing/2014/main" id="{628E0F62-5B61-A537-C871-65D5465BA5A6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4090581262"/>
                      </p:ext>
                    </p:extLst>
                  </p:nvPr>
                </p:nvGraphicFramePr>
                <p:xfrm>
                  <a:off x="10052634" y="2529017"/>
                  <a:ext cx="184150" cy="220663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10" imgW="183574" imgH="220684" progId="Equation.DSMT4">
                          <p:embed/>
                        </p:oleObj>
                      </mc:Choice>
                      <mc:Fallback>
                        <p:oleObj name="Equation" r:id="rId10" imgW="183574" imgH="220684" progId="Equation.DSMT4">
                          <p:embed/>
                          <p:pic>
                            <p:nvPicPr>
                              <p:cNvPr id="123" name="对象 122">
                                <a:extLst>
                                  <a:ext uri="{FF2B5EF4-FFF2-40B4-BE49-F238E27FC236}">
                                    <a16:creationId xmlns:a16="http://schemas.microsoft.com/office/drawing/2014/main" id="{052154D2-73DD-6B3D-677F-6FA293B082A9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11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10052634" y="2529017"/>
                                <a:ext cx="184150" cy="22066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23" name="对象 122">
                    <a:extLst>
                      <a:ext uri="{FF2B5EF4-FFF2-40B4-BE49-F238E27FC236}">
                        <a16:creationId xmlns:a16="http://schemas.microsoft.com/office/drawing/2014/main" id="{052154D2-73DD-6B3D-677F-6FA293B082A9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762607364"/>
                      </p:ext>
                    </p:extLst>
                  </p:nvPr>
                </p:nvGraphicFramePr>
                <p:xfrm>
                  <a:off x="10052634" y="2529017"/>
                  <a:ext cx="184150" cy="220663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12" imgW="183574" imgH="220684" progId="Equation.DSMT4">
                          <p:embed/>
                        </p:oleObj>
                      </mc:Choice>
                      <mc:Fallback>
                        <p:oleObj name="Equation" r:id="rId12" imgW="183574" imgH="220684" progId="Equation.DSMT4">
                          <p:embed/>
                          <p:pic>
                            <p:nvPicPr>
                              <p:cNvPr id="0" name=""/>
                              <p:cNvPicPr/>
                              <p:nvPr/>
                            </p:nvPicPr>
                            <p:blipFill>
                              <a:blip r:embed="rId13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10052634" y="2529017"/>
                                <a:ext cx="184150" cy="22066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81" name="对象 80">
                    <a:extLst>
                      <a:ext uri="{FF2B5EF4-FFF2-40B4-BE49-F238E27FC236}">
                        <a16:creationId xmlns:a16="http://schemas.microsoft.com/office/drawing/2014/main" id="{A0A3FC75-D97C-BDD4-7429-1A27C970E7FC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992109578"/>
                      </p:ext>
                    </p:extLst>
                  </p:nvPr>
                </p:nvGraphicFramePr>
                <p:xfrm>
                  <a:off x="10030678" y="2792939"/>
                  <a:ext cx="266700" cy="22860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14" imgW="266400" imgH="228600" progId="Equation.DSMT4">
                          <p:embed/>
                        </p:oleObj>
                      </mc:Choice>
                      <mc:Fallback>
                        <p:oleObj name="Equation" r:id="rId14" imgW="266400" imgH="228600" progId="Equation.DSMT4">
                          <p:embed/>
                          <p:pic>
                            <p:nvPicPr>
                              <p:cNvPr id="124" name="对象 123">
                                <a:extLst>
                                  <a:ext uri="{FF2B5EF4-FFF2-40B4-BE49-F238E27FC236}">
                                    <a16:creationId xmlns:a16="http://schemas.microsoft.com/office/drawing/2014/main" id="{02271AEB-91A8-3C47-BCF2-EFA397C15D56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15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10030678" y="2792939"/>
                                <a:ext cx="266700" cy="22860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24" name="对象 123">
                    <a:extLst>
                      <a:ext uri="{FF2B5EF4-FFF2-40B4-BE49-F238E27FC236}">
                        <a16:creationId xmlns:a16="http://schemas.microsoft.com/office/drawing/2014/main" id="{02271AEB-91A8-3C47-BCF2-EFA397C15D56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646855652"/>
                      </p:ext>
                    </p:extLst>
                  </p:nvPr>
                </p:nvGraphicFramePr>
                <p:xfrm>
                  <a:off x="10030678" y="2792939"/>
                  <a:ext cx="266700" cy="22860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16" imgW="266400" imgH="228600" progId="Equation.DSMT4">
                          <p:embed/>
                        </p:oleObj>
                      </mc:Choice>
                      <mc:Fallback>
                        <p:oleObj name="Equation" r:id="rId16" imgW="266400" imgH="228600" progId="Equation.DSMT4">
                          <p:embed/>
                          <p:pic>
                            <p:nvPicPr>
                              <p:cNvPr id="0" name=""/>
                              <p:cNvPicPr/>
                              <p:nvPr/>
                            </p:nvPicPr>
                            <p:blipFill>
                              <a:blip r:embed="rId17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10030678" y="2792939"/>
                                <a:ext cx="266700" cy="22860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82" name="对象 81">
                    <a:extLst>
                      <a:ext uri="{FF2B5EF4-FFF2-40B4-BE49-F238E27FC236}">
                        <a16:creationId xmlns:a16="http://schemas.microsoft.com/office/drawing/2014/main" id="{6DB3E582-FCBD-570B-2006-2C2797B771EA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879281701"/>
                      </p:ext>
                    </p:extLst>
                  </p:nvPr>
                </p:nvGraphicFramePr>
                <p:xfrm>
                  <a:off x="10029656" y="3087648"/>
                  <a:ext cx="257175" cy="220663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18" imgW="256795" imgH="220684" progId="Equation.DSMT4">
                          <p:embed/>
                        </p:oleObj>
                      </mc:Choice>
                      <mc:Fallback>
                        <p:oleObj name="Equation" r:id="rId18" imgW="256795" imgH="220684" progId="Equation.DSMT4">
                          <p:embed/>
                          <p:pic>
                            <p:nvPicPr>
                              <p:cNvPr id="125" name="对象 124">
                                <a:extLst>
                                  <a:ext uri="{FF2B5EF4-FFF2-40B4-BE49-F238E27FC236}">
                                    <a16:creationId xmlns:a16="http://schemas.microsoft.com/office/drawing/2014/main" id="{19BFE566-3DA1-AAC5-9836-EF03469E22A6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19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10029656" y="3087648"/>
                                <a:ext cx="257175" cy="22066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25" name="对象 124">
                    <a:extLst>
                      <a:ext uri="{FF2B5EF4-FFF2-40B4-BE49-F238E27FC236}">
                        <a16:creationId xmlns:a16="http://schemas.microsoft.com/office/drawing/2014/main" id="{19BFE566-3DA1-AAC5-9836-EF03469E22A6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721201016"/>
                      </p:ext>
                    </p:extLst>
                  </p:nvPr>
                </p:nvGraphicFramePr>
                <p:xfrm>
                  <a:off x="10029656" y="3087648"/>
                  <a:ext cx="257175" cy="220663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20" imgW="256795" imgH="220684" progId="Equation.DSMT4">
                          <p:embed/>
                        </p:oleObj>
                      </mc:Choice>
                      <mc:Fallback>
                        <p:oleObj name="Equation" r:id="rId20" imgW="256795" imgH="220684" progId="Equation.DSMT4">
                          <p:embed/>
                          <p:pic>
                            <p:nvPicPr>
                              <p:cNvPr id="0" name=""/>
                              <p:cNvPicPr/>
                              <p:nvPr/>
                            </p:nvPicPr>
                            <p:blipFill>
                              <a:blip r:embed="rId21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10029656" y="3087648"/>
                                <a:ext cx="257175" cy="22066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</p:grpSp>
        <p:sp>
          <p:nvSpPr>
            <p:cNvPr id="62" name="箭头: 右 61">
              <a:extLst>
                <a:ext uri="{FF2B5EF4-FFF2-40B4-BE49-F238E27FC236}">
                  <a16:creationId xmlns:a16="http://schemas.microsoft.com/office/drawing/2014/main" id="{04E68A18-E2FB-4A86-B37E-35BE9C0D63C0}"/>
                </a:ext>
              </a:extLst>
            </p:cNvPr>
            <p:cNvSpPr/>
            <p:nvPr/>
          </p:nvSpPr>
          <p:spPr>
            <a:xfrm rot="10800000">
              <a:off x="9964312" y="1237581"/>
              <a:ext cx="472440" cy="290052"/>
            </a:xfrm>
            <a:prstGeom prst="rightArrow">
              <a:avLst/>
            </a:prstGeom>
            <a:gradFill flip="none" rotWithShape="1">
              <a:gsLst>
                <a:gs pos="0">
                  <a:srgbClr val="00B0F0">
                    <a:shade val="30000"/>
                    <a:satMod val="115000"/>
                  </a:srgbClr>
                </a:gs>
                <a:gs pos="50000">
                  <a:srgbClr val="00B0F0">
                    <a:shade val="67500"/>
                    <a:satMod val="115000"/>
                  </a:srgbClr>
                </a:gs>
                <a:gs pos="100000">
                  <a:srgbClr val="00B0F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endParaRPr lang="zh-CN" altLang="en-US" sz="1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梯形 62">
                  <a:extLst>
                    <a:ext uri="{FF2B5EF4-FFF2-40B4-BE49-F238E27FC236}">
                      <a16:creationId xmlns:a16="http://schemas.microsoft.com/office/drawing/2014/main" id="{62ACC612-0DA6-E8DB-CB01-FF84FE183CA5}"/>
                    </a:ext>
                  </a:extLst>
                </p:cNvPr>
                <p:cNvSpPr/>
                <p:nvPr/>
              </p:nvSpPr>
              <p:spPr>
                <a:xfrm>
                  <a:off x="6086683" y="2041933"/>
                  <a:ext cx="300382" cy="189019"/>
                </a:xfrm>
                <a:prstGeom prst="trapezoid">
                  <a:avLst>
                    <a:gd name="adj" fmla="val 36340"/>
                  </a:avLst>
                </a:prstGeom>
                <a:gradFill flip="none" rotWithShape="1">
                  <a:gsLst>
                    <a:gs pos="0">
                      <a:srgbClr val="EF1984">
                        <a:tint val="66000"/>
                        <a:satMod val="160000"/>
                      </a:srgbClr>
                    </a:gs>
                    <a:gs pos="50000">
                      <a:srgbClr val="EF1984">
                        <a:tint val="44500"/>
                        <a:satMod val="160000"/>
                      </a:srgbClr>
                    </a:gs>
                    <a:gs pos="100000">
                      <a:srgbClr val="EF1984">
                        <a:tint val="23500"/>
                        <a:satMod val="160000"/>
                      </a:srgbClr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1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1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11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sub>
                        </m:sSub>
                      </m:oMath>
                    </m:oMathPara>
                  </a14:m>
                  <a:endParaRPr lang="zh-CN" altLang="en-US" sz="11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3" name="梯形 62">
                  <a:extLst>
                    <a:ext uri="{FF2B5EF4-FFF2-40B4-BE49-F238E27FC236}">
                      <a16:creationId xmlns:a16="http://schemas.microsoft.com/office/drawing/2014/main" id="{62ACC612-0DA6-E8DB-CB01-FF84FE183CA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6683" y="2041933"/>
                  <a:ext cx="300382" cy="189019"/>
                </a:xfrm>
                <a:prstGeom prst="trapezoid">
                  <a:avLst>
                    <a:gd name="adj" fmla="val 36340"/>
                  </a:avLst>
                </a:prstGeom>
                <a:blipFill>
                  <a:blip r:embed="rId22"/>
                  <a:stretch>
                    <a:fillRect b="-526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梯形 63">
                  <a:extLst>
                    <a:ext uri="{FF2B5EF4-FFF2-40B4-BE49-F238E27FC236}">
                      <a16:creationId xmlns:a16="http://schemas.microsoft.com/office/drawing/2014/main" id="{A76CC7B8-A372-B1C3-D701-920B81E1F7AE}"/>
                    </a:ext>
                  </a:extLst>
                </p:cNvPr>
                <p:cNvSpPr/>
                <p:nvPr/>
              </p:nvSpPr>
              <p:spPr>
                <a:xfrm>
                  <a:off x="6076066" y="2371075"/>
                  <a:ext cx="300382" cy="189020"/>
                </a:xfrm>
                <a:prstGeom prst="trapezoid">
                  <a:avLst>
                    <a:gd name="adj" fmla="val 36340"/>
                  </a:avLst>
                </a:prstGeom>
                <a:gradFill flip="none" rotWithShape="1">
                  <a:gsLst>
                    <a:gs pos="0">
                      <a:srgbClr val="590000">
                        <a:tint val="66000"/>
                        <a:satMod val="160000"/>
                      </a:srgbClr>
                    </a:gs>
                    <a:gs pos="50000">
                      <a:srgbClr val="590000">
                        <a:tint val="44500"/>
                        <a:satMod val="160000"/>
                      </a:srgbClr>
                    </a:gs>
                    <a:gs pos="100000">
                      <a:srgbClr val="590000">
                        <a:tint val="23500"/>
                        <a:satMod val="160000"/>
                      </a:srgbClr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1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1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1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11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4" name="梯形 63">
                  <a:extLst>
                    <a:ext uri="{FF2B5EF4-FFF2-40B4-BE49-F238E27FC236}">
                      <a16:creationId xmlns:a16="http://schemas.microsoft.com/office/drawing/2014/main" id="{A76CC7B8-A372-B1C3-D701-920B81E1F7A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76066" y="2371075"/>
                  <a:ext cx="300382" cy="189020"/>
                </a:xfrm>
                <a:prstGeom prst="trapezoid">
                  <a:avLst>
                    <a:gd name="adj" fmla="val 36340"/>
                  </a:avLst>
                </a:prstGeom>
                <a:blipFill>
                  <a:blip r:embed="rId23"/>
                  <a:stretch>
                    <a:fillRect b="-1052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E99DF1CF-B060-ED7F-EDB4-67E8691D664E}"/>
                </a:ext>
              </a:extLst>
            </p:cNvPr>
            <p:cNvSpPr txBox="1"/>
            <p:nvPr/>
          </p:nvSpPr>
          <p:spPr>
            <a:xfrm>
              <a:off x="6345401" y="2359876"/>
              <a:ext cx="14897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IR Image encoder </a:t>
              </a:r>
              <a:endParaRPr lang="zh-CN" alt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EFEEC5DB-36BB-7EEB-7565-F6F9DD7AE313}"/>
                </a:ext>
              </a:extLst>
            </p:cNvPr>
            <p:cNvSpPr txBox="1"/>
            <p:nvPr/>
          </p:nvSpPr>
          <p:spPr>
            <a:xfrm>
              <a:off x="6348119" y="2026472"/>
              <a:ext cx="14897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RGB Image encoder </a:t>
              </a:r>
              <a:endParaRPr lang="zh-CN" alt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流程图: 接点 66">
              <a:extLst>
                <a:ext uri="{FF2B5EF4-FFF2-40B4-BE49-F238E27FC236}">
                  <a16:creationId xmlns:a16="http://schemas.microsoft.com/office/drawing/2014/main" id="{7C4FB49A-01F0-30C8-04CE-87373303A05A}"/>
                </a:ext>
              </a:extLst>
            </p:cNvPr>
            <p:cNvSpPr/>
            <p:nvPr/>
          </p:nvSpPr>
          <p:spPr>
            <a:xfrm>
              <a:off x="7303393" y="2430844"/>
              <a:ext cx="122491" cy="10437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梯形 67">
              <a:extLst>
                <a:ext uri="{FF2B5EF4-FFF2-40B4-BE49-F238E27FC236}">
                  <a16:creationId xmlns:a16="http://schemas.microsoft.com/office/drawing/2014/main" id="{01BFD6DD-55CE-A576-AF81-81A7F705EB88}"/>
                </a:ext>
              </a:extLst>
            </p:cNvPr>
            <p:cNvSpPr/>
            <p:nvPr/>
          </p:nvSpPr>
          <p:spPr>
            <a:xfrm>
              <a:off x="7893129" y="2443306"/>
              <a:ext cx="122491" cy="79454"/>
            </a:xfrm>
            <a:prstGeom prst="trapezoi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流程图: 接点 68">
              <a:extLst>
                <a:ext uri="{FF2B5EF4-FFF2-40B4-BE49-F238E27FC236}">
                  <a16:creationId xmlns:a16="http://schemas.microsoft.com/office/drawing/2014/main" id="{4EBA7270-B825-C011-1611-569ED35978FF}"/>
                </a:ext>
              </a:extLst>
            </p:cNvPr>
            <p:cNvSpPr/>
            <p:nvPr/>
          </p:nvSpPr>
          <p:spPr>
            <a:xfrm>
              <a:off x="8584363" y="2430844"/>
              <a:ext cx="122491" cy="104378"/>
            </a:xfrm>
            <a:prstGeom prst="flowChartConnector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等腰三角形 69">
              <a:extLst>
                <a:ext uri="{FF2B5EF4-FFF2-40B4-BE49-F238E27FC236}">
                  <a16:creationId xmlns:a16="http://schemas.microsoft.com/office/drawing/2014/main" id="{462ADAA1-23A0-F748-A123-9C100BE7D154}"/>
                </a:ext>
              </a:extLst>
            </p:cNvPr>
            <p:cNvSpPr/>
            <p:nvPr/>
          </p:nvSpPr>
          <p:spPr>
            <a:xfrm>
              <a:off x="9151650" y="2428767"/>
              <a:ext cx="122491" cy="97950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15DC5EA7-37E1-798E-379E-545462E35EAC}"/>
                </a:ext>
              </a:extLst>
            </p:cNvPr>
            <p:cNvSpPr txBox="1"/>
            <p:nvPr/>
          </p:nvSpPr>
          <p:spPr>
            <a:xfrm>
              <a:off x="7364638" y="2385409"/>
              <a:ext cx="69123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RGB Feature</a:t>
              </a:r>
              <a:endParaRPr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E913CBE4-AE2B-BDB4-B694-1DF424D07D3F}"/>
                </a:ext>
              </a:extLst>
            </p:cNvPr>
            <p:cNvSpPr txBox="1"/>
            <p:nvPr/>
          </p:nvSpPr>
          <p:spPr>
            <a:xfrm>
              <a:off x="7954374" y="2385409"/>
              <a:ext cx="69123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RGB+ Feature</a:t>
              </a:r>
              <a:endParaRPr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A1262633-FD88-A1D6-3ADB-5D9412C32C79}"/>
                </a:ext>
              </a:extLst>
            </p:cNvPr>
            <p:cNvSpPr txBox="1"/>
            <p:nvPr/>
          </p:nvSpPr>
          <p:spPr>
            <a:xfrm>
              <a:off x="8654008" y="2389092"/>
              <a:ext cx="69123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IR Feature</a:t>
              </a:r>
              <a:endParaRPr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E54719B7-83F8-99A3-5B44-9AE2220BC8BC}"/>
                </a:ext>
              </a:extLst>
            </p:cNvPr>
            <p:cNvSpPr txBox="1"/>
            <p:nvPr/>
          </p:nvSpPr>
          <p:spPr>
            <a:xfrm>
              <a:off x="9212896" y="2385409"/>
              <a:ext cx="57714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IR+ Feature</a:t>
              </a:r>
              <a:endParaRPr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流程图: 接点 74">
              <a:extLst>
                <a:ext uri="{FF2B5EF4-FFF2-40B4-BE49-F238E27FC236}">
                  <a16:creationId xmlns:a16="http://schemas.microsoft.com/office/drawing/2014/main" id="{CAF37C91-D76A-D380-BFE7-B1FD756F65DF}"/>
                </a:ext>
              </a:extLst>
            </p:cNvPr>
            <p:cNvSpPr/>
            <p:nvPr/>
          </p:nvSpPr>
          <p:spPr>
            <a:xfrm>
              <a:off x="9755629" y="2430844"/>
              <a:ext cx="95655" cy="91916"/>
            </a:xfrm>
            <a:prstGeom prst="flowChartConnector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流程图: 接点 75">
              <a:extLst>
                <a:ext uri="{FF2B5EF4-FFF2-40B4-BE49-F238E27FC236}">
                  <a16:creationId xmlns:a16="http://schemas.microsoft.com/office/drawing/2014/main" id="{501EF1B9-6C82-F5B9-C787-E058780E7D43}"/>
                </a:ext>
              </a:extLst>
            </p:cNvPr>
            <p:cNvSpPr/>
            <p:nvPr/>
          </p:nvSpPr>
          <p:spPr>
            <a:xfrm>
              <a:off x="9778637" y="2456023"/>
              <a:ext cx="49638" cy="45719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6586FA2B-B433-6C8A-3108-94512F81C02E}"/>
                </a:ext>
              </a:extLst>
            </p:cNvPr>
            <p:cNvSpPr txBox="1"/>
            <p:nvPr/>
          </p:nvSpPr>
          <p:spPr>
            <a:xfrm>
              <a:off x="9797235" y="2384469"/>
              <a:ext cx="57714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Dot</a:t>
              </a:r>
              <a:endParaRPr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313241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F62E1-1A16-B587-A68C-E556D5C0D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5432D3D5-A97D-E239-29EF-F358ED85D58B}"/>
              </a:ext>
            </a:extLst>
          </p:cNvPr>
          <p:cNvGrpSpPr/>
          <p:nvPr/>
        </p:nvGrpSpPr>
        <p:grpSpPr>
          <a:xfrm>
            <a:off x="322730" y="339134"/>
            <a:ext cx="8973670" cy="860611"/>
            <a:chOff x="322730" y="339134"/>
            <a:chExt cx="8973670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78B0A618-3EAD-E440-3728-05E45C557E82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56C3DE55-5400-9E17-D0C9-35A5671AFA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56D8CE2C-5F77-4940-AC14-B4B97FD2010C}"/>
                </a:ext>
              </a:extLst>
            </p:cNvPr>
            <p:cNvSpPr txBox="1"/>
            <p:nvPr/>
          </p:nvSpPr>
          <p:spPr>
            <a:xfrm>
              <a:off x="1129553" y="384720"/>
              <a:ext cx="816684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75000"/>
                    </a:srgbClr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低光场景的纹理修复与细节增强</a:t>
              </a: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CE391F64-7CF3-1059-20AA-15484DD26E6F}"/>
              </a:ext>
            </a:extLst>
          </p:cNvPr>
          <p:cNvSpPr txBox="1"/>
          <p:nvPr/>
        </p:nvSpPr>
        <p:spPr>
          <a:xfrm>
            <a:off x="1129551" y="1288348"/>
            <a:ext cx="43991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局部风格统一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914A8C0-D2BE-ADBA-5035-28EA6D9502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551" y="2210268"/>
            <a:ext cx="5296148" cy="3187580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FDC76678-A873-DB19-E2E4-436345094239}"/>
              </a:ext>
            </a:extLst>
          </p:cNvPr>
          <p:cNvGrpSpPr/>
          <p:nvPr/>
        </p:nvGrpSpPr>
        <p:grpSpPr>
          <a:xfrm>
            <a:off x="8796866" y="2624666"/>
            <a:ext cx="1981205" cy="2561516"/>
            <a:chOff x="8800526" y="2247618"/>
            <a:chExt cx="1755135" cy="1857936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ED6FEF14-8BF7-0E86-52C7-F55334B59D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83576" y="2247618"/>
              <a:ext cx="872085" cy="1857936"/>
            </a:xfrm>
            <a:prstGeom prst="rect">
              <a:avLst/>
            </a:prstGeom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970F54CD-A2F9-1F75-6492-8876CB761B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0526" y="2247618"/>
              <a:ext cx="883049" cy="1857936"/>
            </a:xfrm>
            <a:prstGeom prst="rect">
              <a:avLst/>
            </a:prstGeom>
          </p:spPr>
        </p:pic>
      </p:grpSp>
      <p:sp>
        <p:nvSpPr>
          <p:cNvPr id="18" name="箭头: 右 17">
            <a:extLst>
              <a:ext uri="{FF2B5EF4-FFF2-40B4-BE49-F238E27FC236}">
                <a16:creationId xmlns:a16="http://schemas.microsoft.com/office/drawing/2014/main" id="{0FDE0569-52D4-4D41-524E-8BB2E0E6AE92}"/>
              </a:ext>
            </a:extLst>
          </p:cNvPr>
          <p:cNvSpPr/>
          <p:nvPr/>
        </p:nvSpPr>
        <p:spPr>
          <a:xfrm>
            <a:off x="7095066" y="3685290"/>
            <a:ext cx="1202267" cy="440267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2446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AE12504-DEBD-4C1B-9BF9-6712F52677E7}"/>
              </a:ext>
            </a:extLst>
          </p:cNvPr>
          <p:cNvGrpSpPr/>
          <p:nvPr/>
        </p:nvGrpSpPr>
        <p:grpSpPr>
          <a:xfrm>
            <a:off x="322730" y="339134"/>
            <a:ext cx="9050657" cy="860611"/>
            <a:chOff x="322730" y="339134"/>
            <a:chExt cx="9050657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876FD67B-FF92-40E6-90FE-CF4C2316AEDC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EFE52BD2-8191-4D27-B8B6-182474EF8C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384F5AE-1080-43E6-980F-3576864CC119}"/>
                </a:ext>
              </a:extLst>
            </p:cNvPr>
            <p:cNvSpPr txBox="1"/>
            <p:nvPr/>
          </p:nvSpPr>
          <p:spPr>
            <a:xfrm>
              <a:off x="1129552" y="384720"/>
              <a:ext cx="8243835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75000"/>
                    </a:srgbClr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低光场景的纹理修复与细节增强</a:t>
              </a: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6F810B20-5090-F6E6-F117-C48DA709C3B0}"/>
              </a:ext>
            </a:extLst>
          </p:cNvPr>
          <p:cNvSpPr txBox="1"/>
          <p:nvPr/>
        </p:nvSpPr>
        <p:spPr>
          <a:xfrm>
            <a:off x="1129551" y="1288348"/>
            <a:ext cx="43991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更强的特征提取能力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D5FA3891-D22C-E928-6710-D9CBD98F0DB2}"/>
              </a:ext>
            </a:extLst>
          </p:cNvPr>
          <p:cNvGrpSpPr/>
          <p:nvPr/>
        </p:nvGrpSpPr>
        <p:grpSpPr>
          <a:xfrm>
            <a:off x="618270" y="2201557"/>
            <a:ext cx="5353315" cy="1947671"/>
            <a:chOff x="1257300" y="1452626"/>
            <a:chExt cx="4567238" cy="1862341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FF7EBFE3-7BBC-CC7D-5DFF-70B3C79B35DE}"/>
                </a:ext>
              </a:extLst>
            </p:cNvPr>
            <p:cNvSpPr/>
            <p:nvPr/>
          </p:nvSpPr>
          <p:spPr>
            <a:xfrm>
              <a:off x="1257300" y="1452626"/>
              <a:ext cx="4567238" cy="186234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840AD0FB-861B-A100-8A0D-D97EECE2632A}"/>
                </a:ext>
              </a:extLst>
            </p:cNvPr>
            <p:cNvGrpSpPr/>
            <p:nvPr/>
          </p:nvGrpSpPr>
          <p:grpSpPr>
            <a:xfrm>
              <a:off x="1353474" y="2511480"/>
              <a:ext cx="373605" cy="721247"/>
              <a:chOff x="2885119" y="3619499"/>
              <a:chExt cx="1060893" cy="2019344"/>
            </a:xfrm>
          </p:grpSpPr>
          <p:pic>
            <p:nvPicPr>
              <p:cNvPr id="111" name="图片 110">
                <a:extLst>
                  <a:ext uri="{FF2B5EF4-FFF2-40B4-BE49-F238E27FC236}">
                    <a16:creationId xmlns:a16="http://schemas.microsoft.com/office/drawing/2014/main" id="{9F0BE714-34A7-C9EB-24FD-FFFCBE7E69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85119" y="3619499"/>
                <a:ext cx="711518" cy="1774573"/>
              </a:xfrm>
              <a:prstGeom prst="rect">
                <a:avLst/>
              </a:prstGeom>
            </p:spPr>
          </p:pic>
          <p:pic>
            <p:nvPicPr>
              <p:cNvPr id="112" name="图片 111">
                <a:extLst>
                  <a:ext uri="{FF2B5EF4-FFF2-40B4-BE49-F238E27FC236}">
                    <a16:creationId xmlns:a16="http://schemas.microsoft.com/office/drawing/2014/main" id="{4C811B76-E456-BDD0-6484-BD4E14B94F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3062997" y="3741886"/>
                <a:ext cx="711520" cy="1774570"/>
              </a:xfrm>
              <a:prstGeom prst="rect">
                <a:avLst/>
              </a:prstGeom>
            </p:spPr>
          </p:pic>
          <p:pic>
            <p:nvPicPr>
              <p:cNvPr id="113" name="图片 112">
                <a:extLst>
                  <a:ext uri="{FF2B5EF4-FFF2-40B4-BE49-F238E27FC236}">
                    <a16:creationId xmlns:a16="http://schemas.microsoft.com/office/drawing/2014/main" id="{EEFF8952-3463-9A25-6D2A-C225D44B85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34492" y="3915259"/>
                <a:ext cx="711520" cy="1723584"/>
              </a:xfrm>
              <a:prstGeom prst="rect">
                <a:avLst/>
              </a:prstGeom>
            </p:spPr>
          </p:pic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6A50AC82-9A2F-4718-B665-1C6D5292645D}"/>
                </a:ext>
              </a:extLst>
            </p:cNvPr>
            <p:cNvGrpSpPr/>
            <p:nvPr/>
          </p:nvGrpSpPr>
          <p:grpSpPr>
            <a:xfrm>
              <a:off x="1372772" y="1644053"/>
              <a:ext cx="354307" cy="691627"/>
              <a:chOff x="832483" y="3104197"/>
              <a:chExt cx="993456" cy="1876418"/>
            </a:xfrm>
          </p:grpSpPr>
          <p:pic>
            <p:nvPicPr>
              <p:cNvPr id="108" name="图片 107">
                <a:extLst>
                  <a:ext uri="{FF2B5EF4-FFF2-40B4-BE49-F238E27FC236}">
                    <a16:creationId xmlns:a16="http://schemas.microsoft.com/office/drawing/2014/main" id="{2A1D411E-8D6C-0F7B-89C2-570FCC7548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2483" y="3104197"/>
                <a:ext cx="771525" cy="1685925"/>
              </a:xfrm>
              <a:prstGeom prst="rect">
                <a:avLst/>
              </a:prstGeom>
            </p:spPr>
          </p:pic>
          <p:pic>
            <p:nvPicPr>
              <p:cNvPr id="109" name="图片 108">
                <a:extLst>
                  <a:ext uri="{FF2B5EF4-FFF2-40B4-BE49-F238E27FC236}">
                    <a16:creationId xmlns:a16="http://schemas.microsoft.com/office/drawing/2014/main" id="{3888B6D7-00A9-3FD4-894A-DB50DA0D89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 rot="10800000">
                <a:off x="943449" y="3180395"/>
                <a:ext cx="771525" cy="1685925"/>
              </a:xfrm>
              <a:prstGeom prst="rect">
                <a:avLst/>
              </a:prstGeom>
            </p:spPr>
          </p:pic>
          <p:pic>
            <p:nvPicPr>
              <p:cNvPr id="110" name="图片 109">
                <a:extLst>
                  <a:ext uri="{FF2B5EF4-FFF2-40B4-BE49-F238E27FC236}">
                    <a16:creationId xmlns:a16="http://schemas.microsoft.com/office/drawing/2014/main" id="{FA7A2D01-7D17-E91C-42DD-359B4A07B0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54414" y="3294689"/>
                <a:ext cx="771525" cy="1685926"/>
              </a:xfrm>
              <a:prstGeom prst="rect">
                <a:avLst/>
              </a:prstGeom>
            </p:spPr>
          </p:pic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梯形 17">
                  <a:extLst>
                    <a:ext uri="{FF2B5EF4-FFF2-40B4-BE49-F238E27FC236}">
                      <a16:creationId xmlns:a16="http://schemas.microsoft.com/office/drawing/2014/main" id="{5C85FFE6-58A2-6C6F-D1C6-8F0BB98D013C}"/>
                    </a:ext>
                  </a:extLst>
                </p:cNvPr>
                <p:cNvSpPr/>
                <p:nvPr/>
              </p:nvSpPr>
              <p:spPr>
                <a:xfrm rot="5400000">
                  <a:off x="1874991" y="1786546"/>
                  <a:ext cx="590645" cy="441891"/>
                </a:xfrm>
                <a:prstGeom prst="trapezoid">
                  <a:avLst>
                    <a:gd name="adj" fmla="val 36340"/>
                  </a:avLst>
                </a:prstGeom>
                <a:gradFill flip="none" rotWithShape="1">
                  <a:gsLst>
                    <a:gs pos="0">
                      <a:srgbClr val="EF1984">
                        <a:tint val="66000"/>
                        <a:satMod val="160000"/>
                      </a:srgbClr>
                    </a:gs>
                    <a:gs pos="50000">
                      <a:srgbClr val="EF1984">
                        <a:tint val="44500"/>
                        <a:satMod val="160000"/>
                      </a:srgbClr>
                    </a:gs>
                    <a:gs pos="100000">
                      <a:srgbClr val="EF1984">
                        <a:tint val="23500"/>
                        <a:satMod val="160000"/>
                      </a:srgbClr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44" name="梯形 243">
                  <a:extLst>
                    <a:ext uri="{FF2B5EF4-FFF2-40B4-BE49-F238E27FC236}">
                      <a16:creationId xmlns:a16="http://schemas.microsoft.com/office/drawing/2014/main" id="{D3E866D1-52A9-D269-ECDF-B1417215E2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1874991" y="1786546"/>
                  <a:ext cx="590645" cy="441891"/>
                </a:xfrm>
                <a:prstGeom prst="trapezoid">
                  <a:avLst>
                    <a:gd name="adj" fmla="val 36340"/>
                  </a:avLst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梯形 18">
                  <a:extLst>
                    <a:ext uri="{FF2B5EF4-FFF2-40B4-BE49-F238E27FC236}">
                      <a16:creationId xmlns:a16="http://schemas.microsoft.com/office/drawing/2014/main" id="{CD61322B-92C4-AE04-B31E-EED1EEAE54BD}"/>
                    </a:ext>
                  </a:extLst>
                </p:cNvPr>
                <p:cNvSpPr/>
                <p:nvPr/>
              </p:nvSpPr>
              <p:spPr>
                <a:xfrm rot="5400000">
                  <a:off x="1874504" y="2703976"/>
                  <a:ext cx="590647" cy="441892"/>
                </a:xfrm>
                <a:prstGeom prst="trapezoid">
                  <a:avLst>
                    <a:gd name="adj" fmla="val 36340"/>
                  </a:avLst>
                </a:prstGeom>
                <a:gradFill flip="none" rotWithShape="1">
                  <a:gsLst>
                    <a:gs pos="0">
                      <a:srgbClr val="590000">
                        <a:tint val="66000"/>
                        <a:satMod val="160000"/>
                      </a:srgbClr>
                    </a:gs>
                    <a:gs pos="50000">
                      <a:srgbClr val="590000">
                        <a:tint val="44500"/>
                        <a:satMod val="160000"/>
                      </a:srgbClr>
                    </a:gs>
                    <a:gs pos="100000">
                      <a:srgbClr val="590000">
                        <a:tint val="23500"/>
                        <a:satMod val="160000"/>
                      </a:srgbClr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45" name="梯形 244">
                  <a:extLst>
                    <a:ext uri="{FF2B5EF4-FFF2-40B4-BE49-F238E27FC236}">
                      <a16:creationId xmlns:a16="http://schemas.microsoft.com/office/drawing/2014/main" id="{454ABAC5-E706-01BC-0D92-035B49D652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1874504" y="2703976"/>
                  <a:ext cx="590647" cy="441892"/>
                </a:xfrm>
                <a:prstGeom prst="trapezoid">
                  <a:avLst>
                    <a:gd name="adj" fmla="val 36340"/>
                  </a:avLst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D2ED45E0-F1FC-9550-2F8E-E908E4EACE36}"/>
                </a:ext>
              </a:extLst>
            </p:cNvPr>
            <p:cNvCxnSpPr>
              <a:cxnSpLocks/>
            </p:cNvCxnSpPr>
            <p:nvPr/>
          </p:nvCxnSpPr>
          <p:spPr>
            <a:xfrm>
              <a:off x="1771537" y="1982845"/>
              <a:ext cx="15200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F8EFBF99-D64F-5BFD-4604-9A871A002B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1537" y="2924922"/>
              <a:ext cx="152004" cy="16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2E5B7C4C-1AEA-F744-CBD8-07E19B01CFBC}"/>
                </a:ext>
              </a:extLst>
            </p:cNvPr>
            <p:cNvGrpSpPr/>
            <p:nvPr/>
          </p:nvGrpSpPr>
          <p:grpSpPr>
            <a:xfrm>
              <a:off x="2510154" y="1927708"/>
              <a:ext cx="778811" cy="288162"/>
              <a:chOff x="2612706" y="1939615"/>
              <a:chExt cx="992029" cy="379410"/>
            </a:xfrm>
          </p:grpSpPr>
          <p:grpSp>
            <p:nvGrpSpPr>
              <p:cNvPr id="92" name="组合 91">
                <a:extLst>
                  <a:ext uri="{FF2B5EF4-FFF2-40B4-BE49-F238E27FC236}">
                    <a16:creationId xmlns:a16="http://schemas.microsoft.com/office/drawing/2014/main" id="{3C77AF37-CF3B-5BB9-C3C6-0BC2C82A0F6C}"/>
                  </a:ext>
                </a:extLst>
              </p:cNvPr>
              <p:cNvGrpSpPr/>
              <p:nvPr/>
            </p:nvGrpSpPr>
            <p:grpSpPr>
              <a:xfrm>
                <a:off x="2728435" y="1939615"/>
                <a:ext cx="876300" cy="306389"/>
                <a:chOff x="2728435" y="1939615"/>
                <a:chExt cx="876300" cy="306389"/>
              </a:xfrm>
            </p:grpSpPr>
            <p:grpSp>
              <p:nvGrpSpPr>
                <p:cNvPr id="98" name="组合 97">
                  <a:extLst>
                    <a:ext uri="{FF2B5EF4-FFF2-40B4-BE49-F238E27FC236}">
                      <a16:creationId xmlns:a16="http://schemas.microsoft.com/office/drawing/2014/main" id="{E0B89ADF-F799-5408-1002-AC30448F7502}"/>
                    </a:ext>
                  </a:extLst>
                </p:cNvPr>
                <p:cNvGrpSpPr/>
                <p:nvPr/>
              </p:nvGrpSpPr>
              <p:grpSpPr>
                <a:xfrm>
                  <a:off x="2819875" y="1939615"/>
                  <a:ext cx="784860" cy="228600"/>
                  <a:chOff x="4000500" y="1905000"/>
                  <a:chExt cx="784860" cy="228600"/>
                </a:xfrm>
              </p:grpSpPr>
              <p:sp>
                <p:nvSpPr>
                  <p:cNvPr id="104" name="立方体 103">
                    <a:extLst>
                      <a:ext uri="{FF2B5EF4-FFF2-40B4-BE49-F238E27FC236}">
                        <a16:creationId xmlns:a16="http://schemas.microsoft.com/office/drawing/2014/main" id="{3478FB7D-E754-EF4F-B740-95126699B240}"/>
                      </a:ext>
                    </a:extLst>
                  </p:cNvPr>
                  <p:cNvSpPr/>
                  <p:nvPr/>
                </p:nvSpPr>
                <p:spPr>
                  <a:xfrm>
                    <a:off x="4000500" y="1905000"/>
                    <a:ext cx="236220" cy="228600"/>
                  </a:xfrm>
                  <a:prstGeom prst="cube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5" name="立方体 104">
                    <a:extLst>
                      <a:ext uri="{FF2B5EF4-FFF2-40B4-BE49-F238E27FC236}">
                        <a16:creationId xmlns:a16="http://schemas.microsoft.com/office/drawing/2014/main" id="{49A6811E-F226-78D4-73BC-B4D98CA617DD}"/>
                      </a:ext>
                    </a:extLst>
                  </p:cNvPr>
                  <p:cNvSpPr/>
                  <p:nvPr/>
                </p:nvSpPr>
                <p:spPr>
                  <a:xfrm>
                    <a:off x="4183380" y="1905000"/>
                    <a:ext cx="236220" cy="228600"/>
                  </a:xfrm>
                  <a:prstGeom prst="cube">
                    <a:avLst/>
                  </a:prstGeom>
                  <a:solidFill>
                    <a:schemeClr val="accent1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6" name="立方体 105">
                    <a:extLst>
                      <a:ext uri="{FF2B5EF4-FFF2-40B4-BE49-F238E27FC236}">
                        <a16:creationId xmlns:a16="http://schemas.microsoft.com/office/drawing/2014/main" id="{39F87F5B-A109-BBBE-EC7D-3FEE3A2D4898}"/>
                      </a:ext>
                    </a:extLst>
                  </p:cNvPr>
                  <p:cNvSpPr/>
                  <p:nvPr/>
                </p:nvSpPr>
                <p:spPr>
                  <a:xfrm>
                    <a:off x="4366260" y="1905000"/>
                    <a:ext cx="236220" cy="228600"/>
                  </a:xfrm>
                  <a:prstGeom prst="cube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7" name="立方体 106">
                    <a:extLst>
                      <a:ext uri="{FF2B5EF4-FFF2-40B4-BE49-F238E27FC236}">
                        <a16:creationId xmlns:a16="http://schemas.microsoft.com/office/drawing/2014/main" id="{6A493FE6-4E80-F52A-F4BE-BA1E69B90BA8}"/>
                      </a:ext>
                    </a:extLst>
                  </p:cNvPr>
                  <p:cNvSpPr/>
                  <p:nvPr/>
                </p:nvSpPr>
                <p:spPr>
                  <a:xfrm>
                    <a:off x="4549140" y="1905000"/>
                    <a:ext cx="236220" cy="228600"/>
                  </a:xfrm>
                  <a:prstGeom prst="cube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99" name="组合 98">
                  <a:extLst>
                    <a:ext uri="{FF2B5EF4-FFF2-40B4-BE49-F238E27FC236}">
                      <a16:creationId xmlns:a16="http://schemas.microsoft.com/office/drawing/2014/main" id="{9D2EBAEC-9409-DD12-9895-3F9FD69EE7D2}"/>
                    </a:ext>
                  </a:extLst>
                </p:cNvPr>
                <p:cNvGrpSpPr/>
                <p:nvPr/>
              </p:nvGrpSpPr>
              <p:grpSpPr>
                <a:xfrm>
                  <a:off x="2728435" y="2017404"/>
                  <a:ext cx="784860" cy="228600"/>
                  <a:chOff x="4000500" y="1905000"/>
                  <a:chExt cx="784860" cy="228600"/>
                </a:xfrm>
              </p:grpSpPr>
              <p:sp>
                <p:nvSpPr>
                  <p:cNvPr id="100" name="立方体 99">
                    <a:extLst>
                      <a:ext uri="{FF2B5EF4-FFF2-40B4-BE49-F238E27FC236}">
                        <a16:creationId xmlns:a16="http://schemas.microsoft.com/office/drawing/2014/main" id="{AEB832D9-ED8A-7367-69AD-E015A539343B}"/>
                      </a:ext>
                    </a:extLst>
                  </p:cNvPr>
                  <p:cNvSpPr/>
                  <p:nvPr/>
                </p:nvSpPr>
                <p:spPr>
                  <a:xfrm>
                    <a:off x="4000500" y="1905000"/>
                    <a:ext cx="236220" cy="228600"/>
                  </a:xfrm>
                  <a:prstGeom prst="cube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1" name="立方体 100">
                    <a:extLst>
                      <a:ext uri="{FF2B5EF4-FFF2-40B4-BE49-F238E27FC236}">
                        <a16:creationId xmlns:a16="http://schemas.microsoft.com/office/drawing/2014/main" id="{486E7966-3CBE-3814-3613-2429E706A0BA}"/>
                      </a:ext>
                    </a:extLst>
                  </p:cNvPr>
                  <p:cNvSpPr/>
                  <p:nvPr/>
                </p:nvSpPr>
                <p:spPr>
                  <a:xfrm>
                    <a:off x="4183380" y="1905000"/>
                    <a:ext cx="236220" cy="228600"/>
                  </a:xfrm>
                  <a:prstGeom prst="cube">
                    <a:avLst/>
                  </a:prstGeom>
                  <a:solidFill>
                    <a:schemeClr val="accent4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2" name="立方体 101">
                    <a:extLst>
                      <a:ext uri="{FF2B5EF4-FFF2-40B4-BE49-F238E27FC236}">
                        <a16:creationId xmlns:a16="http://schemas.microsoft.com/office/drawing/2014/main" id="{F163D5E3-CB83-EEC8-8413-CCF68356AA56}"/>
                      </a:ext>
                    </a:extLst>
                  </p:cNvPr>
                  <p:cNvSpPr/>
                  <p:nvPr/>
                </p:nvSpPr>
                <p:spPr>
                  <a:xfrm>
                    <a:off x="4366260" y="1905000"/>
                    <a:ext cx="236220" cy="228600"/>
                  </a:xfrm>
                  <a:prstGeom prst="cube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3" name="立方体 102">
                    <a:extLst>
                      <a:ext uri="{FF2B5EF4-FFF2-40B4-BE49-F238E27FC236}">
                        <a16:creationId xmlns:a16="http://schemas.microsoft.com/office/drawing/2014/main" id="{CC8511E9-A5EA-99DB-D044-C968430A01D2}"/>
                      </a:ext>
                    </a:extLst>
                  </p:cNvPr>
                  <p:cNvSpPr/>
                  <p:nvPr/>
                </p:nvSpPr>
                <p:spPr>
                  <a:xfrm>
                    <a:off x="4549140" y="1905000"/>
                    <a:ext cx="236220" cy="228600"/>
                  </a:xfrm>
                  <a:prstGeom prst="cub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grpSp>
            <p:nvGrpSpPr>
              <p:cNvPr id="93" name="组合 92">
                <a:extLst>
                  <a:ext uri="{FF2B5EF4-FFF2-40B4-BE49-F238E27FC236}">
                    <a16:creationId xmlns:a16="http://schemas.microsoft.com/office/drawing/2014/main" id="{C3363CA6-9874-4245-3E7B-FDBCC4034269}"/>
                  </a:ext>
                </a:extLst>
              </p:cNvPr>
              <p:cNvGrpSpPr/>
              <p:nvPr/>
            </p:nvGrpSpPr>
            <p:grpSpPr>
              <a:xfrm>
                <a:off x="2612706" y="2090425"/>
                <a:ext cx="784860" cy="228600"/>
                <a:chOff x="4000500" y="1905000"/>
                <a:chExt cx="784860" cy="228600"/>
              </a:xfrm>
            </p:grpSpPr>
            <p:sp>
              <p:nvSpPr>
                <p:cNvPr id="94" name="立方体 93">
                  <a:extLst>
                    <a:ext uri="{FF2B5EF4-FFF2-40B4-BE49-F238E27FC236}">
                      <a16:creationId xmlns:a16="http://schemas.microsoft.com/office/drawing/2014/main" id="{B539CE1E-198A-E43F-CCFD-7FA8B5D76C28}"/>
                    </a:ext>
                  </a:extLst>
                </p:cNvPr>
                <p:cNvSpPr/>
                <p:nvPr/>
              </p:nvSpPr>
              <p:spPr>
                <a:xfrm>
                  <a:off x="4000500" y="1905000"/>
                  <a:ext cx="236220" cy="228600"/>
                </a:xfrm>
                <a:prstGeom prst="cube">
                  <a:avLst/>
                </a:prstGeom>
                <a:gradFill flip="none" rotWithShape="1">
                  <a:gsLst>
                    <a:gs pos="0">
                      <a:srgbClr val="0CFC67">
                        <a:tint val="66000"/>
                        <a:satMod val="160000"/>
                      </a:srgbClr>
                    </a:gs>
                    <a:gs pos="50000">
                      <a:srgbClr val="0CFC67">
                        <a:tint val="44500"/>
                        <a:satMod val="160000"/>
                      </a:srgbClr>
                    </a:gs>
                    <a:gs pos="100000">
                      <a:srgbClr val="0CFC67">
                        <a:tint val="23500"/>
                        <a:satMod val="160000"/>
                      </a:srgbClr>
                    </a:gs>
                  </a:gsLst>
                  <a:lin ang="5400000" scaled="1"/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5" name="立方体 94">
                  <a:extLst>
                    <a:ext uri="{FF2B5EF4-FFF2-40B4-BE49-F238E27FC236}">
                      <a16:creationId xmlns:a16="http://schemas.microsoft.com/office/drawing/2014/main" id="{D939A3AE-DFAF-2C1F-19D6-CDABC2DDB495}"/>
                    </a:ext>
                  </a:extLst>
                </p:cNvPr>
                <p:cNvSpPr/>
                <p:nvPr/>
              </p:nvSpPr>
              <p:spPr>
                <a:xfrm>
                  <a:off x="4183380" y="1905000"/>
                  <a:ext cx="236220" cy="228600"/>
                </a:xfrm>
                <a:prstGeom prst="cube">
                  <a:avLst/>
                </a:prstGeom>
                <a:solidFill>
                  <a:srgbClr val="0CFC67">
                    <a:tint val="66000"/>
                    <a:satMod val="160000"/>
                  </a:srgb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6" name="立方体 95">
                  <a:extLst>
                    <a:ext uri="{FF2B5EF4-FFF2-40B4-BE49-F238E27FC236}">
                      <a16:creationId xmlns:a16="http://schemas.microsoft.com/office/drawing/2014/main" id="{7DE88C25-952A-CC59-185F-49D1A9B6CB67}"/>
                    </a:ext>
                  </a:extLst>
                </p:cNvPr>
                <p:cNvSpPr/>
                <p:nvPr/>
              </p:nvSpPr>
              <p:spPr>
                <a:xfrm>
                  <a:off x="4366260" y="1905000"/>
                  <a:ext cx="236220" cy="228600"/>
                </a:xfrm>
                <a:prstGeom prst="cube">
                  <a:avLst/>
                </a:prstGeom>
                <a:gradFill flip="none" rotWithShape="1">
                  <a:gsLst>
                    <a:gs pos="0">
                      <a:srgbClr val="7FEE1A">
                        <a:shade val="30000"/>
                        <a:satMod val="115000"/>
                      </a:srgbClr>
                    </a:gs>
                    <a:gs pos="50000">
                      <a:srgbClr val="7FEE1A">
                        <a:shade val="67500"/>
                        <a:satMod val="115000"/>
                      </a:srgbClr>
                    </a:gs>
                    <a:gs pos="100000">
                      <a:srgbClr val="7FEE1A">
                        <a:shade val="100000"/>
                        <a:satMod val="115000"/>
                      </a:srgbClr>
                    </a:gs>
                  </a:gsLst>
                  <a:lin ang="8100000" scaled="1"/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97" name="立方体 96">
                  <a:extLst>
                    <a:ext uri="{FF2B5EF4-FFF2-40B4-BE49-F238E27FC236}">
                      <a16:creationId xmlns:a16="http://schemas.microsoft.com/office/drawing/2014/main" id="{98A1C880-B571-8A37-5D4A-EE40F1FF4549}"/>
                    </a:ext>
                  </a:extLst>
                </p:cNvPr>
                <p:cNvSpPr/>
                <p:nvPr/>
              </p:nvSpPr>
              <p:spPr>
                <a:xfrm>
                  <a:off x="4549140" y="1905000"/>
                  <a:ext cx="236220" cy="228600"/>
                </a:xfrm>
                <a:prstGeom prst="cube">
                  <a:avLst/>
                </a:prstGeom>
                <a:solidFill>
                  <a:srgbClr val="7FEE1A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1772619A-88C2-9A68-BBAE-5C07763B323A}"/>
                </a:ext>
              </a:extLst>
            </p:cNvPr>
            <p:cNvGrpSpPr/>
            <p:nvPr/>
          </p:nvGrpSpPr>
          <p:grpSpPr>
            <a:xfrm>
              <a:off x="2496396" y="2846353"/>
              <a:ext cx="778811" cy="288162"/>
              <a:chOff x="4000500" y="1754190"/>
              <a:chExt cx="992029" cy="379410"/>
            </a:xfrm>
          </p:grpSpPr>
          <p:grpSp>
            <p:nvGrpSpPr>
              <p:cNvPr id="77" name="组合 76">
                <a:extLst>
                  <a:ext uri="{FF2B5EF4-FFF2-40B4-BE49-F238E27FC236}">
                    <a16:creationId xmlns:a16="http://schemas.microsoft.com/office/drawing/2014/main" id="{50CE3534-AAB2-32F1-CC74-7EAE09C3C337}"/>
                  </a:ext>
                </a:extLst>
              </p:cNvPr>
              <p:cNvGrpSpPr/>
              <p:nvPr/>
            </p:nvGrpSpPr>
            <p:grpSpPr>
              <a:xfrm>
                <a:off x="4207669" y="1754190"/>
                <a:ext cx="784860" cy="228600"/>
                <a:chOff x="4000500" y="1905000"/>
                <a:chExt cx="784860" cy="228600"/>
              </a:xfrm>
            </p:grpSpPr>
            <p:sp>
              <p:nvSpPr>
                <p:cNvPr id="88" name="立方体 87">
                  <a:extLst>
                    <a:ext uri="{FF2B5EF4-FFF2-40B4-BE49-F238E27FC236}">
                      <a16:creationId xmlns:a16="http://schemas.microsoft.com/office/drawing/2014/main" id="{13F1D163-7209-CD6A-6779-8B59600237C6}"/>
                    </a:ext>
                  </a:extLst>
                </p:cNvPr>
                <p:cNvSpPr/>
                <p:nvPr/>
              </p:nvSpPr>
              <p:spPr>
                <a:xfrm>
                  <a:off x="4000500" y="1905000"/>
                  <a:ext cx="236220" cy="228600"/>
                </a:xfrm>
                <a:prstGeom prst="cube">
                  <a:avLst/>
                </a:prstGeom>
                <a:solidFill>
                  <a:schemeClr val="accent2">
                    <a:lumMod val="5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9" name="立方体 88">
                  <a:extLst>
                    <a:ext uri="{FF2B5EF4-FFF2-40B4-BE49-F238E27FC236}">
                      <a16:creationId xmlns:a16="http://schemas.microsoft.com/office/drawing/2014/main" id="{56AE5A60-7307-4F9C-EFD0-EFEB1E7C676D}"/>
                    </a:ext>
                  </a:extLst>
                </p:cNvPr>
                <p:cNvSpPr/>
                <p:nvPr/>
              </p:nvSpPr>
              <p:spPr>
                <a:xfrm>
                  <a:off x="4183380" y="1905000"/>
                  <a:ext cx="236220" cy="228600"/>
                </a:xfrm>
                <a:prstGeom prst="cub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0" name="立方体 89">
                  <a:extLst>
                    <a:ext uri="{FF2B5EF4-FFF2-40B4-BE49-F238E27FC236}">
                      <a16:creationId xmlns:a16="http://schemas.microsoft.com/office/drawing/2014/main" id="{36B0AB1A-059E-D77A-7E9B-F657D4D54E31}"/>
                    </a:ext>
                  </a:extLst>
                </p:cNvPr>
                <p:cNvSpPr/>
                <p:nvPr/>
              </p:nvSpPr>
              <p:spPr>
                <a:xfrm>
                  <a:off x="4366260" y="1905000"/>
                  <a:ext cx="236220" cy="228600"/>
                </a:xfrm>
                <a:prstGeom prst="cube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1" name="立方体 90">
                  <a:extLst>
                    <a:ext uri="{FF2B5EF4-FFF2-40B4-BE49-F238E27FC236}">
                      <a16:creationId xmlns:a16="http://schemas.microsoft.com/office/drawing/2014/main" id="{9957DF1F-A41F-BDD2-61AD-8FAF766BEB2A}"/>
                    </a:ext>
                  </a:extLst>
                </p:cNvPr>
                <p:cNvSpPr/>
                <p:nvPr/>
              </p:nvSpPr>
              <p:spPr>
                <a:xfrm>
                  <a:off x="4549140" y="1905000"/>
                  <a:ext cx="236220" cy="228600"/>
                </a:xfrm>
                <a:prstGeom prst="cub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78" name="组合 77">
                <a:extLst>
                  <a:ext uri="{FF2B5EF4-FFF2-40B4-BE49-F238E27FC236}">
                    <a16:creationId xmlns:a16="http://schemas.microsoft.com/office/drawing/2014/main" id="{48C8B24D-A38E-1F74-1F91-B2B8025A1C09}"/>
                  </a:ext>
                </a:extLst>
              </p:cNvPr>
              <p:cNvGrpSpPr/>
              <p:nvPr/>
            </p:nvGrpSpPr>
            <p:grpSpPr>
              <a:xfrm>
                <a:off x="4116229" y="1831979"/>
                <a:ext cx="784860" cy="228600"/>
                <a:chOff x="4000500" y="1905000"/>
                <a:chExt cx="784860" cy="228600"/>
              </a:xfrm>
            </p:grpSpPr>
            <p:sp>
              <p:nvSpPr>
                <p:cNvPr id="84" name="立方体 83">
                  <a:extLst>
                    <a:ext uri="{FF2B5EF4-FFF2-40B4-BE49-F238E27FC236}">
                      <a16:creationId xmlns:a16="http://schemas.microsoft.com/office/drawing/2014/main" id="{1EE76567-EB58-B13F-D192-4F269E6F0EAD}"/>
                    </a:ext>
                  </a:extLst>
                </p:cNvPr>
                <p:cNvSpPr/>
                <p:nvPr/>
              </p:nvSpPr>
              <p:spPr>
                <a:xfrm>
                  <a:off x="4000500" y="1905000"/>
                  <a:ext cx="236220" cy="228600"/>
                </a:xfrm>
                <a:prstGeom prst="cube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5" name="立方体 84">
                  <a:extLst>
                    <a:ext uri="{FF2B5EF4-FFF2-40B4-BE49-F238E27FC236}">
                      <a16:creationId xmlns:a16="http://schemas.microsoft.com/office/drawing/2014/main" id="{D2565950-9CE0-41E1-38DC-CCE639899A1D}"/>
                    </a:ext>
                  </a:extLst>
                </p:cNvPr>
                <p:cNvSpPr/>
                <p:nvPr/>
              </p:nvSpPr>
              <p:spPr>
                <a:xfrm>
                  <a:off x="4183380" y="1905000"/>
                  <a:ext cx="236220" cy="228600"/>
                </a:xfrm>
                <a:prstGeom prst="cub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6" name="立方体 85">
                  <a:extLst>
                    <a:ext uri="{FF2B5EF4-FFF2-40B4-BE49-F238E27FC236}">
                      <a16:creationId xmlns:a16="http://schemas.microsoft.com/office/drawing/2014/main" id="{CC4932D6-8829-7ECB-6728-16A8701D6F52}"/>
                    </a:ext>
                  </a:extLst>
                </p:cNvPr>
                <p:cNvSpPr/>
                <p:nvPr/>
              </p:nvSpPr>
              <p:spPr>
                <a:xfrm>
                  <a:off x="4366260" y="1905000"/>
                  <a:ext cx="236220" cy="228600"/>
                </a:xfrm>
                <a:prstGeom prst="cub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7" name="立方体 86">
                  <a:extLst>
                    <a:ext uri="{FF2B5EF4-FFF2-40B4-BE49-F238E27FC236}">
                      <a16:creationId xmlns:a16="http://schemas.microsoft.com/office/drawing/2014/main" id="{ED4FF661-D10E-C3EF-0082-2FD2C037AFB1}"/>
                    </a:ext>
                  </a:extLst>
                </p:cNvPr>
                <p:cNvSpPr/>
                <p:nvPr/>
              </p:nvSpPr>
              <p:spPr>
                <a:xfrm>
                  <a:off x="4549140" y="1905000"/>
                  <a:ext cx="236220" cy="228600"/>
                </a:xfrm>
                <a:prstGeom prst="cube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79" name="组合 78">
                <a:extLst>
                  <a:ext uri="{FF2B5EF4-FFF2-40B4-BE49-F238E27FC236}">
                    <a16:creationId xmlns:a16="http://schemas.microsoft.com/office/drawing/2014/main" id="{9AEE190C-3B88-DB53-3DD4-81D393D0D489}"/>
                  </a:ext>
                </a:extLst>
              </p:cNvPr>
              <p:cNvGrpSpPr/>
              <p:nvPr/>
            </p:nvGrpSpPr>
            <p:grpSpPr>
              <a:xfrm>
                <a:off x="4000500" y="1905000"/>
                <a:ext cx="784860" cy="228600"/>
                <a:chOff x="4000500" y="1905000"/>
                <a:chExt cx="784860" cy="228600"/>
              </a:xfrm>
            </p:grpSpPr>
            <p:sp>
              <p:nvSpPr>
                <p:cNvPr id="80" name="立方体 79">
                  <a:extLst>
                    <a:ext uri="{FF2B5EF4-FFF2-40B4-BE49-F238E27FC236}">
                      <a16:creationId xmlns:a16="http://schemas.microsoft.com/office/drawing/2014/main" id="{9CFDD37E-101C-C4BF-E65D-2E61BD81C6B2}"/>
                    </a:ext>
                  </a:extLst>
                </p:cNvPr>
                <p:cNvSpPr/>
                <p:nvPr/>
              </p:nvSpPr>
              <p:spPr>
                <a:xfrm>
                  <a:off x="4000500" y="1905000"/>
                  <a:ext cx="236220" cy="228600"/>
                </a:xfrm>
                <a:prstGeom prst="cube">
                  <a:avLst/>
                </a:prstGeom>
                <a:gradFill flip="none" rotWithShape="1">
                  <a:gsLst>
                    <a:gs pos="0">
                      <a:srgbClr val="FA570E">
                        <a:tint val="66000"/>
                        <a:satMod val="160000"/>
                      </a:srgbClr>
                    </a:gs>
                    <a:gs pos="50000">
                      <a:srgbClr val="FA570E">
                        <a:tint val="44500"/>
                        <a:satMod val="160000"/>
                      </a:srgbClr>
                    </a:gs>
                    <a:gs pos="100000">
                      <a:srgbClr val="FA570E">
                        <a:tint val="23500"/>
                        <a:satMod val="160000"/>
                      </a:srgbClr>
                    </a:gs>
                  </a:gsLst>
                  <a:lin ang="5400000" scaled="1"/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1" name="立方体 80">
                  <a:extLst>
                    <a:ext uri="{FF2B5EF4-FFF2-40B4-BE49-F238E27FC236}">
                      <a16:creationId xmlns:a16="http://schemas.microsoft.com/office/drawing/2014/main" id="{FD0B7671-694C-7C6F-9D86-65293ED126E2}"/>
                    </a:ext>
                  </a:extLst>
                </p:cNvPr>
                <p:cNvSpPr/>
                <p:nvPr/>
              </p:nvSpPr>
              <p:spPr>
                <a:xfrm>
                  <a:off x="4183380" y="1905000"/>
                  <a:ext cx="236220" cy="228600"/>
                </a:xfrm>
                <a:prstGeom prst="cube">
                  <a:avLst/>
                </a:pr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  <a:tint val="66000"/>
                        <a:satMod val="160000"/>
                      </a:schemeClr>
                    </a:gs>
                    <a:gs pos="50000">
                      <a:schemeClr val="accent2">
                        <a:lumMod val="60000"/>
                        <a:lumOff val="40000"/>
                        <a:tint val="44500"/>
                        <a:satMod val="160000"/>
                      </a:schemeClr>
                    </a:gs>
                    <a:gs pos="100000">
                      <a:schemeClr val="accent2">
                        <a:lumMod val="60000"/>
                        <a:lumOff val="40000"/>
                        <a:tint val="23500"/>
                        <a:satMod val="160000"/>
                      </a:schemeClr>
                    </a:gs>
                  </a:gsLst>
                  <a:lin ang="5400000" scaled="1"/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立方体 81">
                  <a:extLst>
                    <a:ext uri="{FF2B5EF4-FFF2-40B4-BE49-F238E27FC236}">
                      <a16:creationId xmlns:a16="http://schemas.microsoft.com/office/drawing/2014/main" id="{B2FE2CD2-ABE4-BEBB-1286-1138A6F78828}"/>
                    </a:ext>
                  </a:extLst>
                </p:cNvPr>
                <p:cNvSpPr/>
                <p:nvPr/>
              </p:nvSpPr>
              <p:spPr>
                <a:xfrm>
                  <a:off x="4366260" y="1905000"/>
                  <a:ext cx="236220" cy="228600"/>
                </a:xfrm>
                <a:prstGeom prst="cube">
                  <a:avLst/>
                </a:pr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  <a:tint val="66000"/>
                        <a:satMod val="160000"/>
                      </a:schemeClr>
                    </a:gs>
                    <a:gs pos="50000">
                      <a:schemeClr val="accent2">
                        <a:lumMod val="60000"/>
                        <a:lumOff val="40000"/>
                        <a:tint val="44500"/>
                        <a:satMod val="160000"/>
                      </a:schemeClr>
                    </a:gs>
                    <a:gs pos="100000">
                      <a:schemeClr val="accent2">
                        <a:lumMod val="60000"/>
                        <a:lumOff val="40000"/>
                        <a:tint val="23500"/>
                        <a:satMod val="160000"/>
                      </a:schemeClr>
                    </a:gs>
                  </a:gsLst>
                  <a:lin ang="5400000" scaled="1"/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3" name="立方体 82">
                  <a:extLst>
                    <a:ext uri="{FF2B5EF4-FFF2-40B4-BE49-F238E27FC236}">
                      <a16:creationId xmlns:a16="http://schemas.microsoft.com/office/drawing/2014/main" id="{7BC5F946-A93A-7297-6909-50C4C3AA8F89}"/>
                    </a:ext>
                  </a:extLst>
                </p:cNvPr>
                <p:cNvSpPr/>
                <p:nvPr/>
              </p:nvSpPr>
              <p:spPr>
                <a:xfrm>
                  <a:off x="4549140" y="1905000"/>
                  <a:ext cx="236220" cy="228600"/>
                </a:xfrm>
                <a:prstGeom prst="cube">
                  <a:avLst/>
                </a:prstGeom>
                <a:gradFill flip="none" rotWithShape="1">
                  <a:gsLst>
                    <a:gs pos="0">
                      <a:srgbClr val="B65254">
                        <a:tint val="66000"/>
                        <a:satMod val="160000"/>
                      </a:srgbClr>
                    </a:gs>
                    <a:gs pos="50000">
                      <a:srgbClr val="B65254">
                        <a:tint val="44500"/>
                        <a:satMod val="160000"/>
                      </a:srgbClr>
                    </a:gs>
                    <a:gs pos="100000">
                      <a:srgbClr val="B65254">
                        <a:tint val="23500"/>
                        <a:satMod val="160000"/>
                      </a:srgbClr>
                    </a:gs>
                  </a:gsLst>
                  <a:lin ang="10800000" scaled="1"/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4E06B3A3-95C2-63C1-41F1-9F1D01A3638F}"/>
                </a:ext>
              </a:extLst>
            </p:cNvPr>
            <p:cNvCxnSpPr/>
            <p:nvPr/>
          </p:nvCxnSpPr>
          <p:spPr>
            <a:xfrm>
              <a:off x="2422105" y="1978322"/>
              <a:ext cx="16675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D80A38FB-79EF-9A5E-8BF1-670D3BCC47CD}"/>
                </a:ext>
              </a:extLst>
            </p:cNvPr>
            <p:cNvCxnSpPr/>
            <p:nvPr/>
          </p:nvCxnSpPr>
          <p:spPr>
            <a:xfrm>
              <a:off x="2422105" y="2915202"/>
              <a:ext cx="16675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立方体 25">
              <a:extLst>
                <a:ext uri="{FF2B5EF4-FFF2-40B4-BE49-F238E27FC236}">
                  <a16:creationId xmlns:a16="http://schemas.microsoft.com/office/drawing/2014/main" id="{9D3013CA-654A-576A-FBB6-5DC7FCCBADF6}"/>
                </a:ext>
              </a:extLst>
            </p:cNvPr>
            <p:cNvSpPr/>
            <p:nvPr/>
          </p:nvSpPr>
          <p:spPr>
            <a:xfrm>
              <a:off x="3325606" y="2700528"/>
              <a:ext cx="185449" cy="173622"/>
            </a:xfrm>
            <a:prstGeom prst="cube">
              <a:avLst/>
            </a:prstGeom>
            <a:gradFill flip="none" rotWithShape="1">
              <a:gsLst>
                <a:gs pos="0">
                  <a:srgbClr val="660033">
                    <a:tint val="66000"/>
                    <a:satMod val="160000"/>
                  </a:srgbClr>
                </a:gs>
                <a:gs pos="50000">
                  <a:srgbClr val="660033">
                    <a:tint val="44500"/>
                    <a:satMod val="160000"/>
                  </a:srgbClr>
                </a:gs>
                <a:gs pos="100000">
                  <a:srgbClr val="660033">
                    <a:tint val="23500"/>
                    <a:satMod val="160000"/>
                  </a:srgbClr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立方体 26">
              <a:extLst>
                <a:ext uri="{FF2B5EF4-FFF2-40B4-BE49-F238E27FC236}">
                  <a16:creationId xmlns:a16="http://schemas.microsoft.com/office/drawing/2014/main" id="{7C710148-2179-B149-664A-C9EFBDFDD821}"/>
                </a:ext>
              </a:extLst>
            </p:cNvPr>
            <p:cNvSpPr/>
            <p:nvPr/>
          </p:nvSpPr>
          <p:spPr>
            <a:xfrm>
              <a:off x="3325606" y="2943039"/>
              <a:ext cx="185449" cy="173622"/>
            </a:xfrm>
            <a:prstGeom prst="cube">
              <a:avLst/>
            </a:prstGeom>
            <a:gradFill flip="none" rotWithShape="1">
              <a:gsLst>
                <a:gs pos="0">
                  <a:srgbClr val="A266A3">
                    <a:tint val="66000"/>
                    <a:satMod val="160000"/>
                  </a:srgbClr>
                </a:gs>
                <a:gs pos="50000">
                  <a:srgbClr val="A266A3">
                    <a:tint val="44500"/>
                    <a:satMod val="160000"/>
                  </a:srgbClr>
                </a:gs>
                <a:gs pos="100000">
                  <a:srgbClr val="A266A3">
                    <a:tint val="23500"/>
                    <a:satMod val="160000"/>
                  </a:srgbClr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立方体 27">
              <a:extLst>
                <a:ext uri="{FF2B5EF4-FFF2-40B4-BE49-F238E27FC236}">
                  <a16:creationId xmlns:a16="http://schemas.microsoft.com/office/drawing/2014/main" id="{668915AD-C40E-81E5-43E8-B146D1A4F981}"/>
                </a:ext>
              </a:extLst>
            </p:cNvPr>
            <p:cNvSpPr/>
            <p:nvPr/>
          </p:nvSpPr>
          <p:spPr>
            <a:xfrm>
              <a:off x="3324786" y="1986789"/>
              <a:ext cx="185449" cy="173622"/>
            </a:xfrm>
            <a:prstGeom prst="cube">
              <a:avLst/>
            </a:prstGeom>
            <a:gradFill flip="none" rotWithShape="1">
              <a:gsLst>
                <a:gs pos="0">
                  <a:srgbClr val="9900FF">
                    <a:tint val="66000"/>
                    <a:satMod val="160000"/>
                  </a:srgbClr>
                </a:gs>
                <a:gs pos="50000">
                  <a:srgbClr val="9900FF">
                    <a:tint val="44500"/>
                    <a:satMod val="160000"/>
                  </a:srgbClr>
                </a:gs>
                <a:gs pos="100000">
                  <a:srgbClr val="9900FF">
                    <a:tint val="23500"/>
                    <a:satMod val="160000"/>
                  </a:srgbClr>
                </a:gs>
              </a:gsLst>
              <a:lin ang="54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右大括号 28">
              <a:extLst>
                <a:ext uri="{FF2B5EF4-FFF2-40B4-BE49-F238E27FC236}">
                  <a16:creationId xmlns:a16="http://schemas.microsoft.com/office/drawing/2014/main" id="{EA7F05AD-E12E-5E90-6B2C-1A2B8E52DC46}"/>
                </a:ext>
              </a:extLst>
            </p:cNvPr>
            <p:cNvSpPr/>
            <p:nvPr/>
          </p:nvSpPr>
          <p:spPr>
            <a:xfrm>
              <a:off x="3543472" y="2715175"/>
              <a:ext cx="76833" cy="363398"/>
            </a:xfrm>
            <a:prstGeom prst="rightBrace">
              <a:avLst>
                <a:gd name="adj1" fmla="val 8333"/>
                <a:gd name="adj2" fmla="val 49503"/>
              </a:avLst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C177D2D4-43A6-DEC0-F483-8E498B542D00}"/>
                </a:ext>
              </a:extLst>
            </p:cNvPr>
            <p:cNvSpPr/>
            <p:nvPr/>
          </p:nvSpPr>
          <p:spPr>
            <a:xfrm>
              <a:off x="3337075" y="2370789"/>
              <a:ext cx="561393" cy="147021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SoftMax</a:t>
              </a:r>
              <a:endParaRPr lang="zh-CN" alt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流程图: 汇总连接 30">
              <a:extLst>
                <a:ext uri="{FF2B5EF4-FFF2-40B4-BE49-F238E27FC236}">
                  <a16:creationId xmlns:a16="http://schemas.microsoft.com/office/drawing/2014/main" id="{7B1EFB81-67FF-7BFC-6BA4-59789A7BA6F9}"/>
                </a:ext>
              </a:extLst>
            </p:cNvPr>
            <p:cNvSpPr/>
            <p:nvPr/>
          </p:nvSpPr>
          <p:spPr>
            <a:xfrm>
              <a:off x="3172893" y="2370790"/>
              <a:ext cx="151893" cy="147021"/>
            </a:xfrm>
            <a:prstGeom prst="flowChartSummingJunction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449B1B72-045C-9FBA-0D22-E440BD3A8748}"/>
                </a:ext>
              </a:extLst>
            </p:cNvPr>
            <p:cNvGrpSpPr/>
            <p:nvPr/>
          </p:nvGrpSpPr>
          <p:grpSpPr>
            <a:xfrm>
              <a:off x="3649465" y="2583453"/>
              <a:ext cx="77482" cy="313421"/>
              <a:chOff x="3739881" y="2918457"/>
              <a:chExt cx="98694" cy="317736"/>
            </a:xfrm>
          </p:grpSpPr>
          <p:cxnSp>
            <p:nvCxnSpPr>
              <p:cNvPr id="75" name="直接连接符 74">
                <a:extLst>
                  <a:ext uri="{FF2B5EF4-FFF2-40B4-BE49-F238E27FC236}">
                    <a16:creationId xmlns:a16="http://schemas.microsoft.com/office/drawing/2014/main" id="{22C0A564-55CB-F82B-A634-AFFC0BCC02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39881" y="3236193"/>
                <a:ext cx="98694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箭头连接符 75">
                <a:extLst>
                  <a:ext uri="{FF2B5EF4-FFF2-40B4-BE49-F238E27FC236}">
                    <a16:creationId xmlns:a16="http://schemas.microsoft.com/office/drawing/2014/main" id="{0525D2AB-0DB7-72DD-F06B-BA65B731D6AE}"/>
                  </a:ext>
                </a:extLst>
              </p:cNvPr>
              <p:cNvCxnSpPr/>
              <p:nvPr/>
            </p:nvCxnSpPr>
            <p:spPr>
              <a:xfrm flipV="1">
                <a:off x="3838575" y="2918457"/>
                <a:ext cx="0" cy="31773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FEC1F536-792E-7D6A-CAA8-5D9E447769B3}"/>
                </a:ext>
              </a:extLst>
            </p:cNvPr>
            <p:cNvGrpSpPr/>
            <p:nvPr/>
          </p:nvGrpSpPr>
          <p:grpSpPr>
            <a:xfrm>
              <a:off x="3538117" y="2065686"/>
              <a:ext cx="192848" cy="241321"/>
              <a:chOff x="3486906" y="2053914"/>
              <a:chExt cx="245645" cy="317736"/>
            </a:xfrm>
          </p:grpSpPr>
          <p:cxnSp>
            <p:nvCxnSpPr>
              <p:cNvPr id="73" name="直接连接符 72">
                <a:extLst>
                  <a:ext uri="{FF2B5EF4-FFF2-40B4-BE49-F238E27FC236}">
                    <a16:creationId xmlns:a16="http://schemas.microsoft.com/office/drawing/2014/main" id="{1A524C70-90C7-740C-4FEA-E2D4643B16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86906" y="2056911"/>
                <a:ext cx="245645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箭头连接符 73">
                <a:extLst>
                  <a:ext uri="{FF2B5EF4-FFF2-40B4-BE49-F238E27FC236}">
                    <a16:creationId xmlns:a16="http://schemas.microsoft.com/office/drawing/2014/main" id="{C9D0C61A-E0B7-81D0-0806-26D2BC4A33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32551" y="2053914"/>
                <a:ext cx="0" cy="31773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34" name="对象 33">
                  <a:extLst>
                    <a:ext uri="{FF2B5EF4-FFF2-40B4-BE49-F238E27FC236}">
                      <a16:creationId xmlns:a16="http://schemas.microsoft.com/office/drawing/2014/main" id="{94238776-E1EE-68A8-2FB4-455E3E2EA1D8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54210556"/>
                    </p:ext>
                  </p:extLst>
                </p:nvPr>
              </p:nvGraphicFramePr>
              <p:xfrm>
                <a:off x="1683792" y="1452626"/>
                <a:ext cx="271125" cy="286729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10" imgW="220358" imgH="232848" progId="Equation.DSMT4">
                        <p:embed/>
                      </p:oleObj>
                    </mc:Choice>
                    <mc:Fallback>
                      <p:oleObj name="Equation" r:id="rId10" imgW="220358" imgH="232848" progId="Equation.DSMT4">
                        <p:embed/>
                        <p:pic>
                          <p:nvPicPr>
                            <p:cNvPr id="322" name="对象 321">
                              <a:extLst>
                                <a:ext uri="{FF2B5EF4-FFF2-40B4-BE49-F238E27FC236}">
                                  <a16:creationId xmlns:a16="http://schemas.microsoft.com/office/drawing/2014/main" id="{E4DE609A-A689-DD89-B686-737A0E61C039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1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683792" y="1452626"/>
                              <a:ext cx="271125" cy="286729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322" name="对象 321">
                  <a:extLst>
                    <a:ext uri="{FF2B5EF4-FFF2-40B4-BE49-F238E27FC236}">
                      <a16:creationId xmlns:a16="http://schemas.microsoft.com/office/drawing/2014/main" id="{E4DE609A-A689-DD89-B686-737A0E61C039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69913735"/>
                    </p:ext>
                  </p:extLst>
                </p:nvPr>
              </p:nvGraphicFramePr>
              <p:xfrm>
                <a:off x="1683792" y="1452626"/>
                <a:ext cx="271125" cy="286729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12" imgW="220358" imgH="232848" progId="Equation.DSMT4">
                        <p:embed/>
                      </p:oleObj>
                    </mc:Choice>
                    <mc:Fallback>
                      <p:oleObj name="Equation" r:id="rId12" imgW="220358" imgH="232848" progId="Equation.DSMT4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1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683792" y="1452626"/>
                              <a:ext cx="271125" cy="286729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35" name="对象 34">
                  <a:extLst>
                    <a:ext uri="{FF2B5EF4-FFF2-40B4-BE49-F238E27FC236}">
                      <a16:creationId xmlns:a16="http://schemas.microsoft.com/office/drawing/2014/main" id="{98137859-17FE-F01F-FAF5-0040EAE65089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197915020"/>
                    </p:ext>
                  </p:extLst>
                </p:nvPr>
              </p:nvGraphicFramePr>
              <p:xfrm>
                <a:off x="1674791" y="2377807"/>
                <a:ext cx="248750" cy="23744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14" imgW="244650" imgH="232848" progId="Equation.DSMT4">
                        <p:embed/>
                      </p:oleObj>
                    </mc:Choice>
                    <mc:Fallback>
                      <p:oleObj name="Equation" r:id="rId14" imgW="244650" imgH="232848" progId="Equation.DSMT4">
                        <p:embed/>
                        <p:pic>
                          <p:nvPicPr>
                            <p:cNvPr id="323" name="对象 322">
                              <a:extLst>
                                <a:ext uri="{FF2B5EF4-FFF2-40B4-BE49-F238E27FC236}">
                                  <a16:creationId xmlns:a16="http://schemas.microsoft.com/office/drawing/2014/main" id="{6A6CDE17-6DEA-3397-EC5B-E7004EE60ED3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674791" y="2377807"/>
                              <a:ext cx="248750" cy="23744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323" name="对象 322">
                  <a:extLst>
                    <a:ext uri="{FF2B5EF4-FFF2-40B4-BE49-F238E27FC236}">
                      <a16:creationId xmlns:a16="http://schemas.microsoft.com/office/drawing/2014/main" id="{6A6CDE17-6DEA-3397-EC5B-E7004EE60ED3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774710550"/>
                    </p:ext>
                  </p:extLst>
                </p:nvPr>
              </p:nvGraphicFramePr>
              <p:xfrm>
                <a:off x="1674791" y="2377807"/>
                <a:ext cx="248750" cy="23744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16" imgW="244650" imgH="232848" progId="Equation.DSMT4">
                        <p:embed/>
                      </p:oleObj>
                    </mc:Choice>
                    <mc:Fallback>
                      <p:oleObj name="Equation" r:id="rId16" imgW="244650" imgH="232848" progId="Equation.DSMT4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1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674791" y="2377807"/>
                              <a:ext cx="248750" cy="23744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36" name="对象 35">
                  <a:extLst>
                    <a:ext uri="{FF2B5EF4-FFF2-40B4-BE49-F238E27FC236}">
                      <a16:creationId xmlns:a16="http://schemas.microsoft.com/office/drawing/2014/main" id="{630C8FE2-8D82-FA68-5310-E0D0DD369E38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585174117"/>
                    </p:ext>
                  </p:extLst>
                </p:nvPr>
              </p:nvGraphicFramePr>
              <p:xfrm>
                <a:off x="2770619" y="2197922"/>
                <a:ext cx="222443" cy="20978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18" imgW="195720" imgH="183845" progId="Equation.DSMT4">
                        <p:embed/>
                      </p:oleObj>
                    </mc:Choice>
                    <mc:Fallback>
                      <p:oleObj name="Equation" r:id="rId18" imgW="195720" imgH="183845" progId="Equation.DSMT4">
                        <p:embed/>
                        <p:pic>
                          <p:nvPicPr>
                            <p:cNvPr id="324" name="对象 323">
                              <a:extLst>
                                <a:ext uri="{FF2B5EF4-FFF2-40B4-BE49-F238E27FC236}">
                                  <a16:creationId xmlns:a16="http://schemas.microsoft.com/office/drawing/2014/main" id="{186D84E7-5626-42E6-C323-C7A46E333959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770619" y="2197922"/>
                              <a:ext cx="222443" cy="20978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324" name="对象 323">
                  <a:extLst>
                    <a:ext uri="{FF2B5EF4-FFF2-40B4-BE49-F238E27FC236}">
                      <a16:creationId xmlns:a16="http://schemas.microsoft.com/office/drawing/2014/main" id="{186D84E7-5626-42E6-C323-C7A46E333959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110402920"/>
                    </p:ext>
                  </p:extLst>
                </p:nvPr>
              </p:nvGraphicFramePr>
              <p:xfrm>
                <a:off x="2770619" y="2197922"/>
                <a:ext cx="222443" cy="20978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20" imgW="195720" imgH="183845" progId="Equation.DSMT4">
                        <p:embed/>
                      </p:oleObj>
                    </mc:Choice>
                    <mc:Fallback>
                      <p:oleObj name="Equation" r:id="rId20" imgW="195720" imgH="183845" progId="Equation.DSMT4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21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770619" y="2197922"/>
                              <a:ext cx="222443" cy="20978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37" name="对象 36">
                  <a:extLst>
                    <a:ext uri="{FF2B5EF4-FFF2-40B4-BE49-F238E27FC236}">
                      <a16:creationId xmlns:a16="http://schemas.microsoft.com/office/drawing/2014/main" id="{F7699F46-1473-3093-6346-C317E70B67F3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580125632"/>
                    </p:ext>
                  </p:extLst>
                </p:nvPr>
              </p:nvGraphicFramePr>
              <p:xfrm>
                <a:off x="2760117" y="3108730"/>
                <a:ext cx="192014" cy="206237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22" imgW="171081" imgH="183845" progId="Equation.DSMT4">
                        <p:embed/>
                      </p:oleObj>
                    </mc:Choice>
                    <mc:Fallback>
                      <p:oleObj name="Equation" r:id="rId22" imgW="171081" imgH="183845" progId="Equation.DSMT4">
                        <p:embed/>
                        <p:pic>
                          <p:nvPicPr>
                            <p:cNvPr id="325" name="对象 324">
                              <a:extLst>
                                <a:ext uri="{FF2B5EF4-FFF2-40B4-BE49-F238E27FC236}">
                                  <a16:creationId xmlns:a16="http://schemas.microsoft.com/office/drawing/2014/main" id="{175A3C79-32EC-371F-6576-F5B9CE4F39C1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2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760117" y="3108730"/>
                              <a:ext cx="192014" cy="206237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325" name="对象 324">
                  <a:extLst>
                    <a:ext uri="{FF2B5EF4-FFF2-40B4-BE49-F238E27FC236}">
                      <a16:creationId xmlns:a16="http://schemas.microsoft.com/office/drawing/2014/main" id="{175A3C79-32EC-371F-6576-F5B9CE4F39C1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555068185"/>
                    </p:ext>
                  </p:extLst>
                </p:nvPr>
              </p:nvGraphicFramePr>
              <p:xfrm>
                <a:off x="2760117" y="3108730"/>
                <a:ext cx="192014" cy="206237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24" imgW="171081" imgH="183845" progId="Equation.DSMT4">
                        <p:embed/>
                      </p:oleObj>
                    </mc:Choice>
                    <mc:Fallback>
                      <p:oleObj name="Equation" r:id="rId24" imgW="171081" imgH="183845" progId="Equation.DSMT4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2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760117" y="3108730"/>
                              <a:ext cx="192014" cy="206237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FBFF6B23-C0A8-6197-B311-C7FA0EF839E3}"/>
                </a:ext>
              </a:extLst>
            </p:cNvPr>
            <p:cNvGrpSpPr/>
            <p:nvPr/>
          </p:nvGrpSpPr>
          <p:grpSpPr>
            <a:xfrm>
              <a:off x="3917203" y="2038055"/>
              <a:ext cx="745738" cy="784243"/>
              <a:chOff x="4013200" y="2014520"/>
              <a:chExt cx="745738" cy="784243"/>
            </a:xfrm>
          </p:grpSpPr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5417562A-E4E6-1DB4-D647-ED8FBBA62D46}"/>
                  </a:ext>
                </a:extLst>
              </p:cNvPr>
              <p:cNvSpPr/>
              <p:nvPr/>
            </p:nvSpPr>
            <p:spPr>
              <a:xfrm>
                <a:off x="4140257" y="2165098"/>
                <a:ext cx="612357" cy="62488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61" name="对象 60">
                    <a:extLst>
                      <a:ext uri="{FF2B5EF4-FFF2-40B4-BE49-F238E27FC236}">
                        <a16:creationId xmlns:a16="http://schemas.microsoft.com/office/drawing/2014/main" id="{4A6B50F9-899B-08E6-F587-F78888EAE1E3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971669968"/>
                      </p:ext>
                    </p:extLst>
                  </p:nvPr>
                </p:nvGraphicFramePr>
                <p:xfrm>
                  <a:off x="4013200" y="2144713"/>
                  <a:ext cx="136525" cy="65405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26" imgW="190440" imgH="914400" progId="Equation.DSMT4">
                          <p:embed/>
                        </p:oleObj>
                      </mc:Choice>
                      <mc:Fallback>
                        <p:oleObj name="Equation" r:id="rId26" imgW="190440" imgH="914400" progId="Equation.DSMT4">
                          <p:embed/>
                          <p:pic>
                            <p:nvPicPr>
                              <p:cNvPr id="327" name="对象 326">
                                <a:extLst>
                                  <a:ext uri="{FF2B5EF4-FFF2-40B4-BE49-F238E27FC236}">
                                    <a16:creationId xmlns:a16="http://schemas.microsoft.com/office/drawing/2014/main" id="{6171C160-E5E5-D807-E9D9-C0FB7A750A90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27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4013200" y="2144713"/>
                                <a:ext cx="136525" cy="65405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327" name="对象 326">
                    <a:extLst>
                      <a:ext uri="{FF2B5EF4-FFF2-40B4-BE49-F238E27FC236}">
                        <a16:creationId xmlns:a16="http://schemas.microsoft.com/office/drawing/2014/main" id="{6171C160-E5E5-D807-E9D9-C0FB7A750A90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648300576"/>
                      </p:ext>
                    </p:extLst>
                  </p:nvPr>
                </p:nvGraphicFramePr>
                <p:xfrm>
                  <a:off x="4013200" y="2144713"/>
                  <a:ext cx="136525" cy="65405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28" imgW="190440" imgH="914400" progId="Equation.DSMT4">
                          <p:embed/>
                        </p:oleObj>
                      </mc:Choice>
                      <mc:Fallback>
                        <p:oleObj name="Equation" r:id="rId28" imgW="190440" imgH="914400" progId="Equation.DSMT4">
                          <p:embed/>
                          <p:pic>
                            <p:nvPicPr>
                              <p:cNvPr id="0" name=""/>
                              <p:cNvPicPr/>
                              <p:nvPr/>
                            </p:nvPicPr>
                            <p:blipFill>
                              <a:blip r:embed="rId29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4013200" y="2144713"/>
                                <a:ext cx="136525" cy="65405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62" name="对象 61">
                    <a:extLst>
                      <a:ext uri="{FF2B5EF4-FFF2-40B4-BE49-F238E27FC236}">
                        <a16:creationId xmlns:a16="http://schemas.microsoft.com/office/drawing/2014/main" id="{5B8AD1AA-5513-40EA-ED24-618E7AF0C9AF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55373049"/>
                      </p:ext>
                    </p:extLst>
                  </p:nvPr>
                </p:nvGraphicFramePr>
                <p:xfrm>
                  <a:off x="4162038" y="2014520"/>
                  <a:ext cx="596900" cy="15021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30" imgW="672840" imgH="228600" progId="Equation.DSMT4">
                          <p:embed/>
                        </p:oleObj>
                      </mc:Choice>
                      <mc:Fallback>
                        <p:oleObj name="Equation" r:id="rId30" imgW="672840" imgH="228600" progId="Equation.DSMT4">
                          <p:embed/>
                          <p:pic>
                            <p:nvPicPr>
                              <p:cNvPr id="331" name="对象 330">
                                <a:extLst>
                                  <a:ext uri="{FF2B5EF4-FFF2-40B4-BE49-F238E27FC236}">
                                    <a16:creationId xmlns:a16="http://schemas.microsoft.com/office/drawing/2014/main" id="{52444D96-92B8-D9EB-2F67-A9F31BB321D8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31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4162038" y="2014520"/>
                                <a:ext cx="596900" cy="150215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331" name="对象 330">
                    <a:extLst>
                      <a:ext uri="{FF2B5EF4-FFF2-40B4-BE49-F238E27FC236}">
                        <a16:creationId xmlns:a16="http://schemas.microsoft.com/office/drawing/2014/main" id="{52444D96-92B8-D9EB-2F67-A9F31BB321D8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45486560"/>
                      </p:ext>
                    </p:extLst>
                  </p:nvPr>
                </p:nvGraphicFramePr>
                <p:xfrm>
                  <a:off x="4162038" y="2014520"/>
                  <a:ext cx="596900" cy="15021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32" imgW="672840" imgH="228600" progId="Equation.DSMT4">
                          <p:embed/>
                        </p:oleObj>
                      </mc:Choice>
                      <mc:Fallback>
                        <p:oleObj name="Equation" r:id="rId32" imgW="672840" imgH="228600" progId="Equation.DSMT4">
                          <p:embed/>
                          <p:pic>
                            <p:nvPicPr>
                              <p:cNvPr id="0" name=""/>
                              <p:cNvPicPr/>
                              <p:nvPr/>
                            </p:nvPicPr>
                            <p:blipFill>
                              <a:blip r:embed="rId33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4162038" y="2014520"/>
                                <a:ext cx="596900" cy="150215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3FFBF6DB-7E48-E9C5-F28F-514AFB8426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92600" y="2160411"/>
                <a:ext cx="0" cy="638352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>
                <a:extLst>
                  <a:ext uri="{FF2B5EF4-FFF2-40B4-BE49-F238E27FC236}">
                    <a16:creationId xmlns:a16="http://schemas.microsoft.com/office/drawing/2014/main" id="{586917B6-5E7D-997C-5B7E-8687A2B472EB}"/>
                  </a:ext>
                </a:extLst>
              </p:cNvPr>
              <p:cNvCxnSpPr>
                <a:cxnSpLocks/>
                <a:endCxn id="60" idx="2"/>
              </p:cNvCxnSpPr>
              <p:nvPr/>
            </p:nvCxnSpPr>
            <p:spPr>
              <a:xfrm>
                <a:off x="4446435" y="2160411"/>
                <a:ext cx="1" cy="629569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>
                <a:extLst>
                  <a:ext uri="{FF2B5EF4-FFF2-40B4-BE49-F238E27FC236}">
                    <a16:creationId xmlns:a16="http://schemas.microsoft.com/office/drawing/2014/main" id="{D6B880AD-10B3-7D88-B9D1-C3D629EFEB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03750" y="2162189"/>
                <a:ext cx="0" cy="62515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>
                <a:extLst>
                  <a:ext uri="{FF2B5EF4-FFF2-40B4-BE49-F238E27FC236}">
                    <a16:creationId xmlns:a16="http://schemas.microsoft.com/office/drawing/2014/main" id="{A2B371E1-8046-5A67-0E9D-A735E653E1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40255" y="2335680"/>
                <a:ext cx="612357" cy="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>
                <a:extLst>
                  <a:ext uri="{FF2B5EF4-FFF2-40B4-BE49-F238E27FC236}">
                    <a16:creationId xmlns:a16="http://schemas.microsoft.com/office/drawing/2014/main" id="{A6C490E7-464C-5689-49D9-1D6B9D681B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40256" y="2496528"/>
                <a:ext cx="612357" cy="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>
                <a:extLst>
                  <a:ext uri="{FF2B5EF4-FFF2-40B4-BE49-F238E27FC236}">
                    <a16:creationId xmlns:a16="http://schemas.microsoft.com/office/drawing/2014/main" id="{0462A3EA-4845-AA44-0101-AE4E481529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40256" y="2648712"/>
                <a:ext cx="612357" cy="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36C101DD-1602-1313-ED12-6BC7CE9619AF}"/>
                  </a:ext>
                </a:extLst>
              </p:cNvPr>
              <p:cNvSpPr/>
              <p:nvPr/>
            </p:nvSpPr>
            <p:spPr>
              <a:xfrm>
                <a:off x="4149015" y="2169319"/>
                <a:ext cx="137246" cy="161544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1BC5ED78-D212-8A9C-99A8-0124CDD7760A}"/>
                  </a:ext>
                </a:extLst>
              </p:cNvPr>
              <p:cNvSpPr/>
              <p:nvPr/>
            </p:nvSpPr>
            <p:spPr>
              <a:xfrm>
                <a:off x="4300537" y="2344344"/>
                <a:ext cx="138135" cy="14406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28B3C232-1E53-AA29-B2FB-8CC36B887AC4}"/>
                  </a:ext>
                </a:extLst>
              </p:cNvPr>
              <p:cNvSpPr/>
              <p:nvPr/>
            </p:nvSpPr>
            <p:spPr>
              <a:xfrm>
                <a:off x="4454198" y="2506262"/>
                <a:ext cx="143996" cy="13454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756FF4BB-2DFC-8AD5-485B-F0B72E673E26}"/>
                  </a:ext>
                </a:extLst>
              </p:cNvPr>
              <p:cNvSpPr/>
              <p:nvPr/>
            </p:nvSpPr>
            <p:spPr>
              <a:xfrm>
                <a:off x="4612481" y="2657474"/>
                <a:ext cx="138113" cy="13097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9" name="流程图: 汇总连接 38">
              <a:extLst>
                <a:ext uri="{FF2B5EF4-FFF2-40B4-BE49-F238E27FC236}">
                  <a16:creationId xmlns:a16="http://schemas.microsoft.com/office/drawing/2014/main" id="{72573690-34C5-BB96-E561-F7721C3901A6}"/>
                </a:ext>
              </a:extLst>
            </p:cNvPr>
            <p:cNvSpPr/>
            <p:nvPr/>
          </p:nvSpPr>
          <p:spPr>
            <a:xfrm>
              <a:off x="3967425" y="2933164"/>
              <a:ext cx="76833" cy="86811"/>
            </a:xfrm>
            <a:prstGeom prst="flowChartSummingJunction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E8F6AFFF-96EB-061F-4FED-EFC18ADBD4DE}"/>
                </a:ext>
              </a:extLst>
            </p:cNvPr>
            <p:cNvGrpSpPr/>
            <p:nvPr/>
          </p:nvGrpSpPr>
          <p:grpSpPr>
            <a:xfrm>
              <a:off x="4698101" y="2134288"/>
              <a:ext cx="1070213" cy="734329"/>
              <a:chOff x="4689265" y="2113300"/>
              <a:chExt cx="1070213" cy="734329"/>
            </a:xfrm>
          </p:grpSpPr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08B81C6A-3118-9AB6-EB23-831CCEF72630}"/>
                  </a:ext>
                </a:extLst>
              </p:cNvPr>
              <p:cNvGrpSpPr/>
              <p:nvPr/>
            </p:nvGrpSpPr>
            <p:grpSpPr>
              <a:xfrm>
                <a:off x="4689265" y="2674007"/>
                <a:ext cx="616169" cy="173622"/>
                <a:chOff x="4000500" y="1905000"/>
                <a:chExt cx="784860" cy="228600"/>
              </a:xfrm>
            </p:grpSpPr>
            <p:sp>
              <p:nvSpPr>
                <p:cNvPr id="56" name="立方体 55">
                  <a:extLst>
                    <a:ext uri="{FF2B5EF4-FFF2-40B4-BE49-F238E27FC236}">
                      <a16:creationId xmlns:a16="http://schemas.microsoft.com/office/drawing/2014/main" id="{641D62E7-4113-9B74-12CE-04E33FAABE29}"/>
                    </a:ext>
                  </a:extLst>
                </p:cNvPr>
                <p:cNvSpPr/>
                <p:nvPr/>
              </p:nvSpPr>
              <p:spPr>
                <a:xfrm>
                  <a:off x="4000500" y="1905000"/>
                  <a:ext cx="236220" cy="228600"/>
                </a:xfrm>
                <a:prstGeom prst="cub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/>
                </a:p>
              </p:txBody>
            </p:sp>
            <p:sp>
              <p:nvSpPr>
                <p:cNvPr id="57" name="立方体 56">
                  <a:extLst>
                    <a:ext uri="{FF2B5EF4-FFF2-40B4-BE49-F238E27FC236}">
                      <a16:creationId xmlns:a16="http://schemas.microsoft.com/office/drawing/2014/main" id="{B70F5A1D-B6E2-122C-DB01-6AB57110831D}"/>
                    </a:ext>
                  </a:extLst>
                </p:cNvPr>
                <p:cNvSpPr/>
                <p:nvPr/>
              </p:nvSpPr>
              <p:spPr>
                <a:xfrm>
                  <a:off x="4183380" y="1905000"/>
                  <a:ext cx="236220" cy="228600"/>
                </a:xfrm>
                <a:prstGeom prst="cube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/>
                </a:p>
              </p:txBody>
            </p:sp>
            <p:sp>
              <p:nvSpPr>
                <p:cNvPr id="58" name="立方体 57">
                  <a:extLst>
                    <a:ext uri="{FF2B5EF4-FFF2-40B4-BE49-F238E27FC236}">
                      <a16:creationId xmlns:a16="http://schemas.microsoft.com/office/drawing/2014/main" id="{76C0FAA5-6421-26B0-9BFA-5A2138EDE860}"/>
                    </a:ext>
                  </a:extLst>
                </p:cNvPr>
                <p:cNvSpPr/>
                <p:nvPr/>
              </p:nvSpPr>
              <p:spPr>
                <a:xfrm>
                  <a:off x="4366260" y="1905000"/>
                  <a:ext cx="236220" cy="228600"/>
                </a:xfrm>
                <a:prstGeom prst="cube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/>
                </a:p>
              </p:txBody>
            </p:sp>
            <p:sp>
              <p:nvSpPr>
                <p:cNvPr id="59" name="立方体 58">
                  <a:extLst>
                    <a:ext uri="{FF2B5EF4-FFF2-40B4-BE49-F238E27FC236}">
                      <a16:creationId xmlns:a16="http://schemas.microsoft.com/office/drawing/2014/main" id="{350D2366-A264-2C03-21F1-DC8DB0DD2E51}"/>
                    </a:ext>
                  </a:extLst>
                </p:cNvPr>
                <p:cNvSpPr/>
                <p:nvPr/>
              </p:nvSpPr>
              <p:spPr>
                <a:xfrm>
                  <a:off x="4549140" y="1905000"/>
                  <a:ext cx="236220" cy="228600"/>
                </a:xfrm>
                <a:prstGeom prst="cube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E52DDE9F-2202-8A79-2239-82CB0F524588}"/>
                  </a:ext>
                </a:extLst>
              </p:cNvPr>
              <p:cNvGrpSpPr/>
              <p:nvPr/>
            </p:nvGrpSpPr>
            <p:grpSpPr>
              <a:xfrm>
                <a:off x="5432209" y="2664340"/>
                <a:ext cx="327269" cy="173622"/>
                <a:chOff x="7121037" y="2168215"/>
                <a:chExt cx="416866" cy="228600"/>
              </a:xfrm>
            </p:grpSpPr>
            <p:sp>
              <p:nvSpPr>
                <p:cNvPr id="54" name="立方体 53">
                  <a:extLst>
                    <a:ext uri="{FF2B5EF4-FFF2-40B4-BE49-F238E27FC236}">
                      <a16:creationId xmlns:a16="http://schemas.microsoft.com/office/drawing/2014/main" id="{D975751A-5CAB-CE3E-F4DD-AA6203E27024}"/>
                    </a:ext>
                  </a:extLst>
                </p:cNvPr>
                <p:cNvSpPr/>
                <p:nvPr/>
              </p:nvSpPr>
              <p:spPr>
                <a:xfrm>
                  <a:off x="7121037" y="2168215"/>
                  <a:ext cx="236220" cy="228600"/>
                </a:xfrm>
                <a:prstGeom prst="cub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/>
                </a:p>
              </p:txBody>
            </p:sp>
            <p:sp>
              <p:nvSpPr>
                <p:cNvPr id="55" name="立方体 54">
                  <a:extLst>
                    <a:ext uri="{FF2B5EF4-FFF2-40B4-BE49-F238E27FC236}">
                      <a16:creationId xmlns:a16="http://schemas.microsoft.com/office/drawing/2014/main" id="{803CA68A-EEE9-F1D0-3ABE-736762F97592}"/>
                    </a:ext>
                  </a:extLst>
                </p:cNvPr>
                <p:cNvSpPr/>
                <p:nvPr/>
              </p:nvSpPr>
              <p:spPr>
                <a:xfrm>
                  <a:off x="7301683" y="2168215"/>
                  <a:ext cx="236220" cy="228600"/>
                </a:xfrm>
                <a:prstGeom prst="cube">
                  <a:avLst/>
                </a:prstGeom>
                <a:solidFill>
                  <a:schemeClr val="accent5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/>
                </a:p>
              </p:txBody>
            </p:sp>
          </p:grpSp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8A22681C-FEA9-E385-5B83-BB1E2408E210}"/>
                  </a:ext>
                </a:extLst>
              </p:cNvPr>
              <p:cNvGrpSpPr/>
              <p:nvPr/>
            </p:nvGrpSpPr>
            <p:grpSpPr>
              <a:xfrm>
                <a:off x="4689265" y="2129191"/>
                <a:ext cx="616169" cy="173622"/>
                <a:chOff x="4000500" y="1905000"/>
                <a:chExt cx="784860" cy="228600"/>
              </a:xfrm>
            </p:grpSpPr>
            <p:sp>
              <p:nvSpPr>
                <p:cNvPr id="50" name="立方体 49">
                  <a:extLst>
                    <a:ext uri="{FF2B5EF4-FFF2-40B4-BE49-F238E27FC236}">
                      <a16:creationId xmlns:a16="http://schemas.microsoft.com/office/drawing/2014/main" id="{A846CB9C-6AA6-D580-5B25-F74B71B7B833}"/>
                    </a:ext>
                  </a:extLst>
                </p:cNvPr>
                <p:cNvSpPr/>
                <p:nvPr/>
              </p:nvSpPr>
              <p:spPr>
                <a:xfrm>
                  <a:off x="4000500" y="1905000"/>
                  <a:ext cx="236220" cy="228600"/>
                </a:xfrm>
                <a:prstGeom prst="cub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1" name="立方体 50">
                  <a:extLst>
                    <a:ext uri="{FF2B5EF4-FFF2-40B4-BE49-F238E27FC236}">
                      <a16:creationId xmlns:a16="http://schemas.microsoft.com/office/drawing/2014/main" id="{3173ACAC-A68D-02F3-31F8-1260A7ED33E3}"/>
                    </a:ext>
                  </a:extLst>
                </p:cNvPr>
                <p:cNvSpPr/>
                <p:nvPr/>
              </p:nvSpPr>
              <p:spPr>
                <a:xfrm>
                  <a:off x="4183380" y="1905000"/>
                  <a:ext cx="236220" cy="228600"/>
                </a:xfrm>
                <a:prstGeom prst="cub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2" name="立方体 51">
                  <a:extLst>
                    <a:ext uri="{FF2B5EF4-FFF2-40B4-BE49-F238E27FC236}">
                      <a16:creationId xmlns:a16="http://schemas.microsoft.com/office/drawing/2014/main" id="{367A4171-7CE3-D9D3-421F-492AD6FABB17}"/>
                    </a:ext>
                  </a:extLst>
                </p:cNvPr>
                <p:cNvSpPr/>
                <p:nvPr/>
              </p:nvSpPr>
              <p:spPr>
                <a:xfrm>
                  <a:off x="4366260" y="1905000"/>
                  <a:ext cx="236220" cy="228600"/>
                </a:xfrm>
                <a:prstGeom prst="cub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3" name="立方体 52">
                  <a:extLst>
                    <a:ext uri="{FF2B5EF4-FFF2-40B4-BE49-F238E27FC236}">
                      <a16:creationId xmlns:a16="http://schemas.microsoft.com/office/drawing/2014/main" id="{DD53D3A3-C31C-7B86-9DD4-F9E80DF50DD9}"/>
                    </a:ext>
                  </a:extLst>
                </p:cNvPr>
                <p:cNvSpPr/>
                <p:nvPr/>
              </p:nvSpPr>
              <p:spPr>
                <a:xfrm>
                  <a:off x="4549140" y="1905000"/>
                  <a:ext cx="236220" cy="228600"/>
                </a:xfrm>
                <a:prstGeom prst="cub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45" name="组合 44">
                <a:extLst>
                  <a:ext uri="{FF2B5EF4-FFF2-40B4-BE49-F238E27FC236}">
                    <a16:creationId xmlns:a16="http://schemas.microsoft.com/office/drawing/2014/main" id="{78F774D5-150D-019F-CC9A-D4010135A259}"/>
                  </a:ext>
                </a:extLst>
              </p:cNvPr>
              <p:cNvGrpSpPr/>
              <p:nvPr/>
            </p:nvGrpSpPr>
            <p:grpSpPr>
              <a:xfrm>
                <a:off x="5432209" y="2113300"/>
                <a:ext cx="327269" cy="173622"/>
                <a:chOff x="7121037" y="2168215"/>
                <a:chExt cx="416866" cy="228600"/>
              </a:xfrm>
            </p:grpSpPr>
            <p:sp>
              <p:nvSpPr>
                <p:cNvPr id="48" name="立方体 47">
                  <a:extLst>
                    <a:ext uri="{FF2B5EF4-FFF2-40B4-BE49-F238E27FC236}">
                      <a16:creationId xmlns:a16="http://schemas.microsoft.com/office/drawing/2014/main" id="{957A3784-E03D-74EE-5A8A-C2ABEC10E141}"/>
                    </a:ext>
                  </a:extLst>
                </p:cNvPr>
                <p:cNvSpPr/>
                <p:nvPr/>
              </p:nvSpPr>
              <p:spPr>
                <a:xfrm>
                  <a:off x="7121037" y="2168215"/>
                  <a:ext cx="236220" cy="228600"/>
                </a:xfrm>
                <a:prstGeom prst="cub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9" name="立方体 48">
                  <a:extLst>
                    <a:ext uri="{FF2B5EF4-FFF2-40B4-BE49-F238E27FC236}">
                      <a16:creationId xmlns:a16="http://schemas.microsoft.com/office/drawing/2014/main" id="{D3A64834-3355-168E-03C7-9DC49A1EFFB0}"/>
                    </a:ext>
                  </a:extLst>
                </p:cNvPr>
                <p:cNvSpPr/>
                <p:nvPr/>
              </p:nvSpPr>
              <p:spPr>
                <a:xfrm>
                  <a:off x="7301683" y="2168215"/>
                  <a:ext cx="236220" cy="228600"/>
                </a:xfrm>
                <a:prstGeom prst="cub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46" name="流程图: 汇总连接 45">
                <a:extLst>
                  <a:ext uri="{FF2B5EF4-FFF2-40B4-BE49-F238E27FC236}">
                    <a16:creationId xmlns:a16="http://schemas.microsoft.com/office/drawing/2014/main" id="{6319441C-3554-6A7D-1F32-6FB7BE78E198}"/>
                  </a:ext>
                </a:extLst>
              </p:cNvPr>
              <p:cNvSpPr/>
              <p:nvPr/>
            </p:nvSpPr>
            <p:spPr>
              <a:xfrm>
                <a:off x="5330405" y="2164616"/>
                <a:ext cx="76833" cy="86811"/>
              </a:xfrm>
              <a:prstGeom prst="flowChartSummingJunction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流程图: 汇总连接 46">
                <a:extLst>
                  <a:ext uri="{FF2B5EF4-FFF2-40B4-BE49-F238E27FC236}">
                    <a16:creationId xmlns:a16="http://schemas.microsoft.com/office/drawing/2014/main" id="{A718C2A3-E6D1-62A7-BDEF-784842386772}"/>
                  </a:ext>
                </a:extLst>
              </p:cNvPr>
              <p:cNvSpPr/>
              <p:nvPr/>
            </p:nvSpPr>
            <p:spPr>
              <a:xfrm>
                <a:off x="5337927" y="2700528"/>
                <a:ext cx="76833" cy="86811"/>
              </a:xfrm>
              <a:prstGeom prst="flowChartSummingJunction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3A53838B-75A3-6C50-F0B0-B55176E021BB}"/>
                </a:ext>
              </a:extLst>
            </p:cNvPr>
            <p:cNvSpPr txBox="1"/>
            <p:nvPr/>
          </p:nvSpPr>
          <p:spPr>
            <a:xfrm>
              <a:off x="3983801" y="2866640"/>
              <a:ext cx="9316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Addition</a:t>
              </a:r>
              <a:endParaRPr lang="zh-CN" alt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5" name="文本框 114">
            <a:extLst>
              <a:ext uri="{FF2B5EF4-FFF2-40B4-BE49-F238E27FC236}">
                <a16:creationId xmlns:a16="http://schemas.microsoft.com/office/drawing/2014/main" id="{1069FA20-3205-80BA-F281-D6372A05419A}"/>
              </a:ext>
            </a:extLst>
          </p:cNvPr>
          <p:cNvSpPr txBox="1"/>
          <p:nvPr/>
        </p:nvSpPr>
        <p:spPr>
          <a:xfrm>
            <a:off x="1076132" y="5190781"/>
            <a:ext cx="108423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可见光图和红外图利用 </a:t>
            </a:r>
            <a:r>
              <a:rPr lang="en-US" altLang="zh-CN" b="1" dirty="0"/>
              <a:t>CLIP (</a:t>
            </a:r>
            <a:r>
              <a:rPr lang="en-US" altLang="zh-CN" b="1" dirty="0" err="1"/>
              <a:t>ViT</a:t>
            </a:r>
            <a:r>
              <a:rPr lang="en-US" altLang="zh-CN" b="1" dirty="0"/>
              <a:t>)</a:t>
            </a:r>
            <a:r>
              <a:rPr lang="zh-CN" altLang="en-US" dirty="0"/>
              <a:t> 提取 </a:t>
            </a:r>
            <a:r>
              <a:rPr lang="en-US" altLang="zh-CN" dirty="0"/>
              <a:t>token </a:t>
            </a:r>
            <a:r>
              <a:rPr lang="zh-CN" altLang="en-US" dirty="0"/>
              <a:t>特征，通过 </a:t>
            </a:r>
            <a:r>
              <a:rPr lang="en-US" altLang="zh-CN" b="1" dirty="0"/>
              <a:t>token </a:t>
            </a:r>
            <a:r>
              <a:rPr lang="zh-CN" altLang="en-US" b="1" dirty="0"/>
              <a:t>级 </a:t>
            </a:r>
            <a:r>
              <a:rPr lang="en-US" altLang="zh-CN" b="1" dirty="0"/>
              <a:t>cross-attention</a:t>
            </a:r>
            <a:r>
              <a:rPr lang="zh-CN" altLang="en-US" dirty="0"/>
              <a:t> 实现跨模态语义对齐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ABB7732-FA75-87D6-1F11-0F6B9AC462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1907354"/>
              </p:ext>
            </p:extLst>
          </p:nvPr>
        </p:nvGraphicFramePr>
        <p:xfrm>
          <a:off x="6223111" y="1853737"/>
          <a:ext cx="5645553" cy="2495317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881851">
                  <a:extLst>
                    <a:ext uri="{9D8B030D-6E8A-4147-A177-3AD203B41FA5}">
                      <a16:colId xmlns:a16="http://schemas.microsoft.com/office/drawing/2014/main" val="3118717936"/>
                    </a:ext>
                  </a:extLst>
                </a:gridCol>
                <a:gridCol w="1881851">
                  <a:extLst>
                    <a:ext uri="{9D8B030D-6E8A-4147-A177-3AD203B41FA5}">
                      <a16:colId xmlns:a16="http://schemas.microsoft.com/office/drawing/2014/main" val="4075639740"/>
                    </a:ext>
                  </a:extLst>
                </a:gridCol>
                <a:gridCol w="1881851">
                  <a:extLst>
                    <a:ext uri="{9D8B030D-6E8A-4147-A177-3AD203B41FA5}">
                      <a16:colId xmlns:a16="http://schemas.microsoft.com/office/drawing/2014/main" val="1380623605"/>
                    </a:ext>
                  </a:extLst>
                </a:gridCol>
              </a:tblGrid>
              <a:tr h="3236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/>
                        <a:t>特性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 err="1"/>
                        <a:t>ViT</a:t>
                      </a:r>
                      <a:r>
                        <a:rPr lang="en-US" sz="1050" b="1" dirty="0"/>
                        <a:t>-B/16</a:t>
                      </a:r>
                      <a:endParaRPr lang="en-US" sz="105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ResNet-50</a:t>
                      </a:r>
                      <a:endParaRPr lang="en-US" sz="105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7433715"/>
                  </a:ext>
                </a:extLst>
              </a:tr>
              <a:tr h="233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 dirty="0"/>
                        <a:t>类型</a:t>
                      </a:r>
                      <a:endParaRPr lang="zh-CN" altLang="en-US" sz="105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Transformer</a:t>
                      </a:r>
                    </a:p>
                    <a:p>
                      <a:pPr>
                        <a:buNone/>
                      </a:pPr>
                      <a:r>
                        <a:rPr lang="zh-CN" altLang="en-US" sz="1050" dirty="0"/>
                        <a:t>强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CNN</a:t>
                      </a:r>
                    </a:p>
                    <a:p>
                      <a:pPr>
                        <a:buNone/>
                      </a:pPr>
                      <a:r>
                        <a:rPr lang="zh-CN" altLang="en-US" sz="1050" dirty="0"/>
                        <a:t>较弱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42880226"/>
                  </a:ext>
                </a:extLst>
              </a:tr>
              <a:tr h="233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/>
                        <a:t>全局感受野</a:t>
                      </a:r>
                      <a:endParaRPr lang="zh-CN" altLang="en-US" sz="105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3522464"/>
                  </a:ext>
                </a:extLst>
              </a:tr>
              <a:tr h="233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/>
                        <a:t>局部特征捕捉</a:t>
                      </a:r>
                      <a:endParaRPr lang="zh-CN" alt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/>
                        <a:t>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/>
                        <a:t>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392098"/>
                  </a:ext>
                </a:extLst>
              </a:tr>
              <a:tr h="233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/>
                        <a:t>跨模态对齐能力</a:t>
                      </a:r>
                      <a:endParaRPr lang="zh-CN" alt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/>
                        <a:t>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/>
                        <a:t>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2286915"/>
                  </a:ext>
                </a:extLst>
              </a:tr>
              <a:tr h="233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/>
                        <a:t>零样本能力</a:t>
                      </a:r>
                      <a:endParaRPr lang="zh-CN" alt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/>
                        <a:t>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/>
                        <a:t>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4032883"/>
                  </a:ext>
                </a:extLst>
              </a:tr>
              <a:tr h="233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/>
                        <a:t>训练效率</a:t>
                      </a:r>
                      <a:endParaRPr lang="zh-CN" alt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/>
                        <a:t>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/>
                        <a:t>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3792973"/>
                  </a:ext>
                </a:extLst>
              </a:tr>
              <a:tr h="2755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/>
                        <a:t>优点</a:t>
                      </a:r>
                      <a:endParaRPr lang="zh-CN" alt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/>
                        <a:t>全局语义表达强，零样本能力好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/>
                        <a:t>局部纹理敏感，计算高效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610516"/>
                  </a:ext>
                </a:extLst>
              </a:tr>
              <a:tr h="233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/>
                        <a:t>缺点</a:t>
                      </a:r>
                      <a:endParaRPr lang="zh-CN" alt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/>
                        <a:t>计算量大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/>
                        <a:t>对全局语义建模不足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50476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03685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4ACEC54-4288-419B-AFF4-99D88F436CC6}"/>
              </a:ext>
            </a:extLst>
          </p:cNvPr>
          <p:cNvGrpSpPr/>
          <p:nvPr/>
        </p:nvGrpSpPr>
        <p:grpSpPr>
          <a:xfrm>
            <a:off x="322730" y="339134"/>
            <a:ext cx="9964269" cy="860611"/>
            <a:chOff x="322730" y="339134"/>
            <a:chExt cx="9964269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F51150BD-3218-43E2-A6AA-D6CE31182203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CCE29793-70FB-48A1-91C2-8F59114A18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8F3D2081-2A04-4B6F-9667-81F32EA3736F}"/>
                </a:ext>
              </a:extLst>
            </p:cNvPr>
            <p:cNvSpPr txBox="1"/>
            <p:nvPr/>
          </p:nvSpPr>
          <p:spPr>
            <a:xfrm>
              <a:off x="1129552" y="384720"/>
              <a:ext cx="915744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zh-CN" altLang="en-US" sz="4400" dirty="0">
                  <a:solidFill>
                    <a:srgbClr val="4472C4">
                      <a:lumMod val="75000"/>
                    </a:srgbClr>
                  </a:solidFill>
                </a:rPr>
                <a:t>低光场景的纹理修复与细节增强</a:t>
              </a: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BC0CBFC0-708F-25BF-9A00-B4D3E40BBF9E}"/>
              </a:ext>
            </a:extLst>
          </p:cNvPr>
          <p:cNvSpPr txBox="1"/>
          <p:nvPr/>
        </p:nvSpPr>
        <p:spPr>
          <a:xfrm>
            <a:off x="1129551" y="1288348"/>
            <a:ext cx="43991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频域增强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9BA50FF6-FBE2-D69E-9C2F-687E9B1699AD}"/>
              </a:ext>
            </a:extLst>
          </p:cNvPr>
          <p:cNvGrpSpPr/>
          <p:nvPr/>
        </p:nvGrpSpPr>
        <p:grpSpPr>
          <a:xfrm>
            <a:off x="2703392" y="1923602"/>
            <a:ext cx="6480415" cy="2834690"/>
            <a:chOff x="409575" y="2673350"/>
            <a:chExt cx="3698875" cy="1799568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D6B3CBAC-D67B-08C2-145B-1D55BD25C0B5}"/>
                </a:ext>
              </a:extLst>
            </p:cNvPr>
            <p:cNvSpPr/>
            <p:nvPr/>
          </p:nvSpPr>
          <p:spPr>
            <a:xfrm>
              <a:off x="409575" y="2673350"/>
              <a:ext cx="3698875" cy="178117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立方体 11">
              <a:extLst>
                <a:ext uri="{FF2B5EF4-FFF2-40B4-BE49-F238E27FC236}">
                  <a16:creationId xmlns:a16="http://schemas.microsoft.com/office/drawing/2014/main" id="{330EC507-5F34-293E-A6B7-B9EAC3F78DC6}"/>
                </a:ext>
              </a:extLst>
            </p:cNvPr>
            <p:cNvSpPr/>
            <p:nvPr/>
          </p:nvSpPr>
          <p:spPr>
            <a:xfrm>
              <a:off x="1033568" y="3315884"/>
              <a:ext cx="315563" cy="830094"/>
            </a:xfrm>
            <a:prstGeom prst="cube">
              <a:avLst>
                <a:gd name="adj" fmla="val 81070"/>
              </a:avLst>
            </a:prstGeom>
            <a:gradFill flip="none" rotWithShape="1">
              <a:gsLst>
                <a:gs pos="0">
                  <a:srgbClr val="FFFF00">
                    <a:tint val="66000"/>
                    <a:satMod val="160000"/>
                  </a:srgbClr>
                </a:gs>
                <a:gs pos="50000">
                  <a:srgbClr val="FFFF00">
                    <a:tint val="44500"/>
                    <a:satMod val="160000"/>
                  </a:srgbClr>
                </a:gs>
                <a:gs pos="100000">
                  <a:srgbClr val="FFFF00">
                    <a:tint val="23500"/>
                    <a:satMod val="160000"/>
                  </a:srgbClr>
                </a:gs>
              </a:gsLst>
              <a:lin ang="54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C736AD6B-1756-82C7-C618-B25AB5E140FD}"/>
                </a:ext>
              </a:extLst>
            </p:cNvPr>
            <p:cNvSpPr/>
            <p:nvPr/>
          </p:nvSpPr>
          <p:spPr>
            <a:xfrm>
              <a:off x="1512252" y="3406685"/>
              <a:ext cx="240848" cy="667694"/>
            </a:xfrm>
            <a:prstGeom prst="rect">
              <a:avLst/>
            </a:prstGeom>
            <a:gradFill flip="none" rotWithShape="1">
              <a:gsLst>
                <a:gs pos="0">
                  <a:srgbClr val="0F5DF9">
                    <a:tint val="66000"/>
                    <a:satMod val="160000"/>
                  </a:srgbClr>
                </a:gs>
                <a:gs pos="50000">
                  <a:srgbClr val="0F5DF9">
                    <a:tint val="44500"/>
                    <a:satMod val="160000"/>
                  </a:srgbClr>
                </a:gs>
                <a:gs pos="100000">
                  <a:srgbClr val="0F5DF9">
                    <a:tint val="23500"/>
                    <a:satMod val="160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2D FFT + Shift</a:t>
              </a:r>
              <a:endParaRPr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DA7A45D0-AC3E-A0D5-9094-E08801AFF7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2077584" y="3171531"/>
              <a:ext cx="479512" cy="500690"/>
            </a:xfrm>
            <a:prstGeom prst="rect">
              <a:avLst/>
            </a:prstGeom>
          </p:spPr>
        </p:pic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44DC5929-4D2B-C135-3DF6-A940BCE46DD6}"/>
                </a:ext>
              </a:extLst>
            </p:cNvPr>
            <p:cNvSpPr txBox="1"/>
            <p:nvPr/>
          </p:nvSpPr>
          <p:spPr>
            <a:xfrm>
              <a:off x="1954593" y="2968219"/>
              <a:ext cx="972210" cy="18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HP-Mask</a:t>
              </a:r>
              <a:endPara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E84DB05C-10B0-13DF-49DA-F45F28659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68680" y="3915337"/>
              <a:ext cx="490541" cy="500689"/>
            </a:xfrm>
            <a:prstGeom prst="rect">
              <a:avLst/>
            </a:prstGeom>
          </p:spPr>
        </p:pic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5C705789-5AB9-84F7-C374-58253AE73F47}"/>
                </a:ext>
              </a:extLst>
            </p:cNvPr>
            <p:cNvSpPr txBox="1"/>
            <p:nvPr/>
          </p:nvSpPr>
          <p:spPr>
            <a:xfrm>
              <a:off x="1988557" y="3708592"/>
              <a:ext cx="972210" cy="18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BP-Mask</a:t>
              </a:r>
              <a:endPara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27370457-5A43-5DFC-AE2D-4D94F5A22F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4866" y="3006109"/>
              <a:ext cx="376939" cy="379013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FD371463-5D79-9F4E-E64A-78FA4863F37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0978" y="3414792"/>
              <a:ext cx="312055" cy="615751"/>
            </a:xfrm>
            <a:prstGeom prst="rect">
              <a:avLst/>
            </a:prstGeom>
          </p:spPr>
        </p:pic>
        <p:sp>
          <p:nvSpPr>
            <p:cNvPr id="20" name="箭头: 右 19">
              <a:extLst>
                <a:ext uri="{FF2B5EF4-FFF2-40B4-BE49-F238E27FC236}">
                  <a16:creationId xmlns:a16="http://schemas.microsoft.com/office/drawing/2014/main" id="{1B48E992-06F6-C32C-585F-890B1F73BCC1}"/>
                </a:ext>
              </a:extLst>
            </p:cNvPr>
            <p:cNvSpPr/>
            <p:nvPr/>
          </p:nvSpPr>
          <p:spPr>
            <a:xfrm>
              <a:off x="795149" y="3699809"/>
              <a:ext cx="228668" cy="115633"/>
            </a:xfrm>
            <a:prstGeom prst="rightArrow">
              <a:avLst/>
            </a:prstGeom>
            <a:gradFill flip="none" rotWithShape="1">
              <a:gsLst>
                <a:gs pos="0">
                  <a:schemeClr val="accent6">
                    <a:lumMod val="60000"/>
                    <a:lumOff val="40000"/>
                    <a:tint val="66000"/>
                    <a:satMod val="160000"/>
                  </a:schemeClr>
                </a:gs>
                <a:gs pos="50000">
                  <a:schemeClr val="accent6">
                    <a:lumMod val="60000"/>
                    <a:lumOff val="40000"/>
                    <a:tint val="44500"/>
                    <a:satMod val="160000"/>
                  </a:schemeClr>
                </a:gs>
                <a:gs pos="100000">
                  <a:schemeClr val="accent6">
                    <a:lumMod val="60000"/>
                    <a:lumOff val="40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 w="38100">
              <a:noFill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D94A1C4B-8739-2D63-D50D-02223D58B53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729496" y="3076699"/>
              <a:ext cx="354027" cy="616845"/>
            </a:xfrm>
            <a:prstGeom prst="rect">
              <a:avLst/>
            </a:prstGeom>
          </p:spPr>
        </p:pic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793C748A-5145-5616-6866-A52A479A14F3}"/>
                </a:ext>
              </a:extLst>
            </p:cNvPr>
            <p:cNvSpPr txBox="1"/>
            <p:nvPr/>
          </p:nvSpPr>
          <p:spPr>
            <a:xfrm>
              <a:off x="1586774" y="4095942"/>
              <a:ext cx="33803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OR</a:t>
              </a:r>
              <a:endParaRPr lang="zh-CN" alt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B93A6F04-452B-417B-7B6C-DEEF76DCCB08}"/>
                </a:ext>
              </a:extLst>
            </p:cNvPr>
            <p:cNvGrpSpPr/>
            <p:nvPr/>
          </p:nvGrpSpPr>
          <p:grpSpPr>
            <a:xfrm>
              <a:off x="1856973" y="4134341"/>
              <a:ext cx="177582" cy="143245"/>
              <a:chOff x="1891112" y="3991484"/>
              <a:chExt cx="177582" cy="143245"/>
            </a:xfrm>
          </p:grpSpPr>
          <p:sp>
            <p:nvSpPr>
              <p:cNvPr id="52" name="箭头: V 形 51">
                <a:extLst>
                  <a:ext uri="{FF2B5EF4-FFF2-40B4-BE49-F238E27FC236}">
                    <a16:creationId xmlns:a16="http://schemas.microsoft.com/office/drawing/2014/main" id="{289B711D-0E10-60AD-E05C-D98FF70C0BAA}"/>
                  </a:ext>
                </a:extLst>
              </p:cNvPr>
              <p:cNvSpPr/>
              <p:nvPr/>
            </p:nvSpPr>
            <p:spPr>
              <a:xfrm>
                <a:off x="1891112" y="3991484"/>
                <a:ext cx="94478" cy="143245"/>
              </a:xfrm>
              <a:prstGeom prst="chevron">
                <a:avLst/>
              </a:prstGeom>
              <a:solidFill>
                <a:srgbClr val="4E13F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箭头: V 形 52">
                <a:extLst>
                  <a:ext uri="{FF2B5EF4-FFF2-40B4-BE49-F238E27FC236}">
                    <a16:creationId xmlns:a16="http://schemas.microsoft.com/office/drawing/2014/main" id="{A0FCEDCA-FA2E-C10F-99B7-CE0596BE1966}"/>
                  </a:ext>
                </a:extLst>
              </p:cNvPr>
              <p:cNvSpPr/>
              <p:nvPr/>
            </p:nvSpPr>
            <p:spPr>
              <a:xfrm>
                <a:off x="1974216" y="3991484"/>
                <a:ext cx="94478" cy="143245"/>
              </a:xfrm>
              <a:prstGeom prst="chevron">
                <a:avLst/>
              </a:prstGeom>
              <a:solidFill>
                <a:srgbClr val="4E13F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8CDA2C19-DA8F-613B-899F-45C4383B6C24}"/>
                </a:ext>
              </a:extLst>
            </p:cNvPr>
            <p:cNvSpPr/>
            <p:nvPr/>
          </p:nvSpPr>
          <p:spPr>
            <a:xfrm>
              <a:off x="3137332" y="3076699"/>
              <a:ext cx="194841" cy="616845"/>
            </a:xfrm>
            <a:prstGeom prst="rect">
              <a:avLst/>
            </a:prstGeom>
            <a:gradFill flip="none" rotWithShape="1">
              <a:gsLst>
                <a:gs pos="0">
                  <a:srgbClr val="0F5DF9">
                    <a:tint val="66000"/>
                    <a:satMod val="160000"/>
                  </a:srgbClr>
                </a:gs>
                <a:gs pos="50000">
                  <a:srgbClr val="0F5DF9">
                    <a:tint val="44500"/>
                    <a:satMod val="160000"/>
                  </a:srgbClr>
                </a:gs>
                <a:gs pos="100000">
                  <a:srgbClr val="0F5DF9">
                    <a:tint val="23500"/>
                    <a:satMod val="160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IFFT</a:t>
              </a:r>
              <a:endParaRPr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5" name="连接符: 肘形 24">
              <a:extLst>
                <a:ext uri="{FF2B5EF4-FFF2-40B4-BE49-F238E27FC236}">
                  <a16:creationId xmlns:a16="http://schemas.microsoft.com/office/drawing/2014/main" id="{69721FB2-B143-C875-3280-20AD461104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61065" y="3360429"/>
              <a:ext cx="380860" cy="658717"/>
            </a:xfrm>
            <a:prstGeom prst="bentConnector4">
              <a:avLst>
                <a:gd name="adj1" fmla="val -43023"/>
                <a:gd name="adj2" fmla="val 59313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1D5D3A64-7B9E-6E76-4DAF-E3D8E6172263}"/>
                </a:ext>
              </a:extLst>
            </p:cNvPr>
            <p:cNvGrpSpPr/>
            <p:nvPr/>
          </p:nvGrpSpPr>
          <p:grpSpPr>
            <a:xfrm>
              <a:off x="3149800" y="4246298"/>
              <a:ext cx="275278" cy="66569"/>
              <a:chOff x="3912394" y="4264819"/>
              <a:chExt cx="384048" cy="93445"/>
            </a:xfrm>
          </p:grpSpPr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5B7021EF-F17B-CA03-66AE-FDC44312FEF7}"/>
                  </a:ext>
                </a:extLst>
              </p:cNvPr>
              <p:cNvSpPr/>
              <p:nvPr/>
            </p:nvSpPr>
            <p:spPr>
              <a:xfrm>
                <a:off x="3912394" y="4264819"/>
                <a:ext cx="96012" cy="93445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C47C0880-AC04-B78B-70CB-4D8EE3571BF4}"/>
                  </a:ext>
                </a:extLst>
              </p:cNvPr>
              <p:cNvSpPr/>
              <p:nvPr/>
            </p:nvSpPr>
            <p:spPr>
              <a:xfrm>
                <a:off x="4008406" y="4264819"/>
                <a:ext cx="96012" cy="9344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67080E60-C330-396D-543A-E52B0D1EEEAB}"/>
                  </a:ext>
                </a:extLst>
              </p:cNvPr>
              <p:cNvSpPr/>
              <p:nvPr/>
            </p:nvSpPr>
            <p:spPr>
              <a:xfrm>
                <a:off x="4104418" y="4264819"/>
                <a:ext cx="96012" cy="9344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6A9E3233-C8BB-087E-B38B-0B0A0FA8BE2B}"/>
                  </a:ext>
                </a:extLst>
              </p:cNvPr>
              <p:cNvSpPr/>
              <p:nvPr/>
            </p:nvSpPr>
            <p:spPr>
              <a:xfrm>
                <a:off x="4200430" y="4264819"/>
                <a:ext cx="96012" cy="93445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61A891C3-F137-FF41-9719-0ACE3C662D94}"/>
                </a:ext>
              </a:extLst>
            </p:cNvPr>
            <p:cNvGrpSpPr/>
            <p:nvPr/>
          </p:nvGrpSpPr>
          <p:grpSpPr>
            <a:xfrm>
              <a:off x="2823128" y="4030333"/>
              <a:ext cx="275278" cy="66569"/>
              <a:chOff x="3963900" y="3728879"/>
              <a:chExt cx="384048" cy="93445"/>
            </a:xfrm>
            <a:solidFill>
              <a:schemeClr val="accent4">
                <a:lumMod val="20000"/>
                <a:lumOff val="80000"/>
              </a:schemeClr>
            </a:solidFill>
          </p:grpSpPr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188F8308-BE29-1DE3-FDF4-8F5977B0DA09}"/>
                  </a:ext>
                </a:extLst>
              </p:cNvPr>
              <p:cNvSpPr/>
              <p:nvPr/>
            </p:nvSpPr>
            <p:spPr>
              <a:xfrm>
                <a:off x="3963900" y="3728879"/>
                <a:ext cx="96012" cy="9344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A7CE13F1-F7A2-F9F3-75FC-030FBA67C6FB}"/>
                  </a:ext>
                </a:extLst>
              </p:cNvPr>
              <p:cNvSpPr/>
              <p:nvPr/>
            </p:nvSpPr>
            <p:spPr>
              <a:xfrm>
                <a:off x="4059912" y="3728879"/>
                <a:ext cx="96012" cy="93445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D6300CC9-4E84-5667-775B-6BECFE7CB510}"/>
                  </a:ext>
                </a:extLst>
              </p:cNvPr>
              <p:cNvSpPr/>
              <p:nvPr/>
            </p:nvSpPr>
            <p:spPr>
              <a:xfrm>
                <a:off x="4155924" y="3728879"/>
                <a:ext cx="96012" cy="93445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94A99B6E-38C2-3FDF-8788-C50B1CA171C9}"/>
                  </a:ext>
                </a:extLst>
              </p:cNvPr>
              <p:cNvSpPr/>
              <p:nvPr/>
            </p:nvSpPr>
            <p:spPr>
              <a:xfrm>
                <a:off x="4251936" y="3728879"/>
                <a:ext cx="96012" cy="9344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3AC74F06-3538-A8B9-275D-B56276650B12}"/>
                </a:ext>
              </a:extLst>
            </p:cNvPr>
            <p:cNvCxnSpPr>
              <a:cxnSpLocks/>
            </p:cNvCxnSpPr>
            <p:nvPr/>
          </p:nvCxnSpPr>
          <p:spPr>
            <a:xfrm>
              <a:off x="2857538" y="4103450"/>
              <a:ext cx="0" cy="1244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A3093E7E-D1F7-FEDC-596F-2A327F869F70}"/>
                </a:ext>
              </a:extLst>
            </p:cNvPr>
            <p:cNvSpPr/>
            <p:nvPr/>
          </p:nvSpPr>
          <p:spPr>
            <a:xfrm>
              <a:off x="2678605" y="4229297"/>
              <a:ext cx="313000" cy="100572"/>
            </a:xfrm>
            <a:prstGeom prst="rect">
              <a:avLst/>
            </a:prstGeom>
            <a:gradFill flip="none" rotWithShape="1">
              <a:gsLst>
                <a:gs pos="0">
                  <a:srgbClr val="9900FF">
                    <a:shade val="30000"/>
                    <a:satMod val="115000"/>
                  </a:srgbClr>
                </a:gs>
                <a:gs pos="50000">
                  <a:srgbClr val="9900FF">
                    <a:shade val="67500"/>
                    <a:satMod val="115000"/>
                  </a:srgbClr>
                </a:gs>
                <a:gs pos="100000">
                  <a:srgbClr val="9900FF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SE*</a:t>
              </a:r>
              <a:endParaRPr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076AB33C-60C5-AF94-4F23-16EF37F14804}"/>
                </a:ext>
              </a:extLst>
            </p:cNvPr>
            <p:cNvCxnSpPr>
              <a:cxnSpLocks/>
            </p:cNvCxnSpPr>
            <p:nvPr/>
          </p:nvCxnSpPr>
          <p:spPr>
            <a:xfrm>
              <a:off x="3004356" y="4279583"/>
              <a:ext cx="129178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流程图: 汇总连接 30">
              <a:extLst>
                <a:ext uri="{FF2B5EF4-FFF2-40B4-BE49-F238E27FC236}">
                  <a16:creationId xmlns:a16="http://schemas.microsoft.com/office/drawing/2014/main" id="{D9B14B16-A8CA-15E4-4D5D-4DE60AF03FFF}"/>
                </a:ext>
              </a:extLst>
            </p:cNvPr>
            <p:cNvSpPr/>
            <p:nvPr/>
          </p:nvSpPr>
          <p:spPr>
            <a:xfrm>
              <a:off x="3433645" y="4029882"/>
              <a:ext cx="68819" cy="66569"/>
            </a:xfrm>
            <a:prstGeom prst="flowChartSummingJunction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C034638B-516A-3EFA-56FE-CD4B4E243A76}"/>
                </a:ext>
              </a:extLst>
            </p:cNvPr>
            <p:cNvCxnSpPr>
              <a:cxnSpLocks/>
            </p:cNvCxnSpPr>
            <p:nvPr/>
          </p:nvCxnSpPr>
          <p:spPr>
            <a:xfrm>
              <a:off x="3137332" y="4063167"/>
              <a:ext cx="26117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连接符: 肘形 32">
              <a:extLst>
                <a:ext uri="{FF2B5EF4-FFF2-40B4-BE49-F238E27FC236}">
                  <a16:creationId xmlns:a16="http://schemas.microsoft.com/office/drawing/2014/main" id="{EF68B1BA-9F42-67E2-E4CC-3DF139C01FC5}"/>
                </a:ext>
              </a:extLst>
            </p:cNvPr>
            <p:cNvCxnSpPr>
              <a:cxnSpLocks/>
              <a:stCxn id="51" idx="3"/>
            </p:cNvCxnSpPr>
            <p:nvPr/>
          </p:nvCxnSpPr>
          <p:spPr>
            <a:xfrm flipV="1">
              <a:off x="3425079" y="4110570"/>
              <a:ext cx="47005" cy="169013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1C93B168-9AF5-0CF4-DB49-5B540BE640AA}"/>
                </a:ext>
              </a:extLst>
            </p:cNvPr>
            <p:cNvCxnSpPr>
              <a:cxnSpLocks/>
            </p:cNvCxnSpPr>
            <p:nvPr/>
          </p:nvCxnSpPr>
          <p:spPr>
            <a:xfrm>
              <a:off x="3528943" y="4061764"/>
              <a:ext cx="13818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立方体 34">
              <a:extLst>
                <a:ext uri="{FF2B5EF4-FFF2-40B4-BE49-F238E27FC236}">
                  <a16:creationId xmlns:a16="http://schemas.microsoft.com/office/drawing/2014/main" id="{76B753CC-17C4-EF4E-09E6-E27E23837D84}"/>
                </a:ext>
              </a:extLst>
            </p:cNvPr>
            <p:cNvSpPr/>
            <p:nvPr/>
          </p:nvSpPr>
          <p:spPr>
            <a:xfrm>
              <a:off x="3670862" y="3474431"/>
              <a:ext cx="315563" cy="830094"/>
            </a:xfrm>
            <a:prstGeom prst="cube">
              <a:avLst>
                <a:gd name="adj" fmla="val 81070"/>
              </a:avLst>
            </a:prstGeom>
            <a:gradFill flip="none" rotWithShape="1">
              <a:gsLst>
                <a:gs pos="0">
                  <a:srgbClr val="FA570E">
                    <a:tint val="66000"/>
                    <a:satMod val="160000"/>
                  </a:srgbClr>
                </a:gs>
                <a:gs pos="50000">
                  <a:srgbClr val="FA570E">
                    <a:tint val="44500"/>
                    <a:satMod val="160000"/>
                  </a:srgbClr>
                </a:gs>
                <a:gs pos="100000">
                  <a:srgbClr val="FA570E">
                    <a:tint val="23500"/>
                    <a:satMod val="160000"/>
                  </a:srgbClr>
                </a:gs>
              </a:gsLst>
              <a:lin ang="54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箭头: 右 35">
              <a:extLst>
                <a:ext uri="{FF2B5EF4-FFF2-40B4-BE49-F238E27FC236}">
                  <a16:creationId xmlns:a16="http://schemas.microsoft.com/office/drawing/2014/main" id="{C3D750B0-A763-466F-0A65-E78841095EE9}"/>
                </a:ext>
              </a:extLst>
            </p:cNvPr>
            <p:cNvSpPr/>
            <p:nvPr/>
          </p:nvSpPr>
          <p:spPr>
            <a:xfrm>
              <a:off x="1258884" y="3677874"/>
              <a:ext cx="253367" cy="115633"/>
            </a:xfrm>
            <a:prstGeom prst="rightArrow">
              <a:avLst/>
            </a:prstGeom>
            <a:gradFill flip="none" rotWithShape="1">
              <a:gsLst>
                <a:gs pos="0">
                  <a:schemeClr val="accent6">
                    <a:lumMod val="60000"/>
                    <a:lumOff val="40000"/>
                    <a:tint val="66000"/>
                    <a:satMod val="160000"/>
                  </a:schemeClr>
                </a:gs>
                <a:gs pos="50000">
                  <a:schemeClr val="accent6">
                    <a:lumMod val="60000"/>
                    <a:lumOff val="40000"/>
                    <a:tint val="44500"/>
                    <a:satMod val="160000"/>
                  </a:schemeClr>
                </a:gs>
                <a:gs pos="100000">
                  <a:schemeClr val="accent6">
                    <a:lumMod val="60000"/>
                    <a:lumOff val="40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 w="38100">
              <a:noFill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箭头: 右 36">
              <a:extLst>
                <a:ext uri="{FF2B5EF4-FFF2-40B4-BE49-F238E27FC236}">
                  <a16:creationId xmlns:a16="http://schemas.microsoft.com/office/drawing/2014/main" id="{6582D7A9-7AAF-CC05-4A5E-24A3F5904B87}"/>
                </a:ext>
              </a:extLst>
            </p:cNvPr>
            <p:cNvSpPr/>
            <p:nvPr/>
          </p:nvSpPr>
          <p:spPr>
            <a:xfrm rot="19425202">
              <a:off x="1785249" y="3536546"/>
              <a:ext cx="228668" cy="115633"/>
            </a:xfrm>
            <a:prstGeom prst="rightArrow">
              <a:avLst/>
            </a:prstGeom>
            <a:gradFill flip="none" rotWithShape="1">
              <a:gsLst>
                <a:gs pos="0">
                  <a:schemeClr val="accent6">
                    <a:lumMod val="60000"/>
                    <a:lumOff val="40000"/>
                    <a:tint val="66000"/>
                    <a:satMod val="160000"/>
                  </a:schemeClr>
                </a:gs>
                <a:gs pos="50000">
                  <a:schemeClr val="accent6">
                    <a:lumMod val="60000"/>
                    <a:lumOff val="40000"/>
                    <a:tint val="44500"/>
                    <a:satMod val="160000"/>
                  </a:schemeClr>
                </a:gs>
                <a:gs pos="100000">
                  <a:schemeClr val="accent6">
                    <a:lumMod val="60000"/>
                    <a:lumOff val="40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 w="38100">
              <a:noFill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箭头: 右 37">
              <a:extLst>
                <a:ext uri="{FF2B5EF4-FFF2-40B4-BE49-F238E27FC236}">
                  <a16:creationId xmlns:a16="http://schemas.microsoft.com/office/drawing/2014/main" id="{9C3A35D0-B3E6-BDB1-39BB-50416EBFB9C2}"/>
                </a:ext>
              </a:extLst>
            </p:cNvPr>
            <p:cNvSpPr/>
            <p:nvPr/>
          </p:nvSpPr>
          <p:spPr>
            <a:xfrm>
              <a:off x="2557096" y="3327304"/>
              <a:ext cx="148999" cy="115633"/>
            </a:xfrm>
            <a:prstGeom prst="rightArrow">
              <a:avLst/>
            </a:prstGeom>
            <a:gradFill flip="none" rotWithShape="1">
              <a:gsLst>
                <a:gs pos="0">
                  <a:schemeClr val="accent6">
                    <a:lumMod val="60000"/>
                    <a:lumOff val="40000"/>
                    <a:tint val="66000"/>
                    <a:satMod val="160000"/>
                  </a:schemeClr>
                </a:gs>
                <a:gs pos="50000">
                  <a:schemeClr val="accent6">
                    <a:lumMod val="60000"/>
                    <a:lumOff val="40000"/>
                    <a:tint val="44500"/>
                    <a:satMod val="160000"/>
                  </a:schemeClr>
                </a:gs>
                <a:gs pos="100000">
                  <a:schemeClr val="accent6">
                    <a:lumMod val="60000"/>
                    <a:lumOff val="40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 w="38100">
              <a:noFill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37A99463-93EE-1354-1A65-267A7D8449D0}"/>
                </a:ext>
              </a:extLst>
            </p:cNvPr>
            <p:cNvSpPr txBox="1"/>
            <p:nvPr/>
          </p:nvSpPr>
          <p:spPr>
            <a:xfrm>
              <a:off x="470672" y="4251599"/>
              <a:ext cx="1563883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SE* = GAP + FC + </a:t>
              </a:r>
              <a:r>
                <a:rPr lang="en-US" altLang="zh-CN" sz="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+ FC + Sigmoid</a:t>
              </a:r>
              <a:endParaRPr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0" name="对象 39">
              <a:extLst>
                <a:ext uri="{FF2B5EF4-FFF2-40B4-BE49-F238E27FC236}">
                  <a16:creationId xmlns:a16="http://schemas.microsoft.com/office/drawing/2014/main" id="{139CA80D-70FE-ED0C-666A-C3E43F81FF2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39512538"/>
                </p:ext>
              </p:extLst>
            </p:nvPr>
          </p:nvGraphicFramePr>
          <p:xfrm>
            <a:off x="3795149" y="4165681"/>
            <a:ext cx="244475" cy="2206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244650" imgH="220684" progId="Equation.DSMT4">
                    <p:embed/>
                  </p:oleObj>
                </mc:Choice>
                <mc:Fallback>
                  <p:oleObj name="Equation" r:id="rId7" imgW="244650" imgH="220684" progId="Equation.DSMT4">
                    <p:embed/>
                    <p:pic>
                      <p:nvPicPr>
                        <p:cNvPr id="202" name="对象 201">
                          <a:extLst>
                            <a:ext uri="{FF2B5EF4-FFF2-40B4-BE49-F238E27FC236}">
                              <a16:creationId xmlns:a16="http://schemas.microsoft.com/office/drawing/2014/main" id="{3B94EEEA-A2BF-0A5E-DC1C-187FAABD4FD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795149" y="4165681"/>
                          <a:ext cx="244475" cy="22066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" name="流程图: 汇总连接 40">
              <a:extLst>
                <a:ext uri="{FF2B5EF4-FFF2-40B4-BE49-F238E27FC236}">
                  <a16:creationId xmlns:a16="http://schemas.microsoft.com/office/drawing/2014/main" id="{C31E7CEE-FED9-564D-059D-ABF61D841F7D}"/>
                </a:ext>
              </a:extLst>
            </p:cNvPr>
            <p:cNvSpPr/>
            <p:nvPr/>
          </p:nvSpPr>
          <p:spPr>
            <a:xfrm>
              <a:off x="3460124" y="4343932"/>
              <a:ext cx="68819" cy="66569"/>
            </a:xfrm>
            <a:prstGeom prst="flowChartSummingJunction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6956F33C-0247-8F65-DCAC-42A4776710DB}"/>
                </a:ext>
              </a:extLst>
            </p:cNvPr>
            <p:cNvSpPr txBox="1"/>
            <p:nvPr/>
          </p:nvSpPr>
          <p:spPr>
            <a:xfrm>
              <a:off x="3482014" y="4288252"/>
              <a:ext cx="62626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Gat</a:t>
              </a:r>
              <a:endParaRPr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817D3E34-A939-6142-E3AA-F3CA9F9AC1D8}"/>
                </a:ext>
              </a:extLst>
            </p:cNvPr>
            <p:cNvSpPr txBox="1"/>
            <p:nvPr/>
          </p:nvSpPr>
          <p:spPr>
            <a:xfrm>
              <a:off x="909483" y="2706000"/>
              <a:ext cx="267488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Frequency-Guided Shallow Enhancement</a:t>
              </a:r>
              <a:endParaRPr lang="zh-CN" alt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Rectangle 1">
            <a:extLst>
              <a:ext uri="{FF2B5EF4-FFF2-40B4-BE49-F238E27FC236}">
                <a16:creationId xmlns:a16="http://schemas.microsoft.com/office/drawing/2014/main" id="{5B73882B-D9A0-BBE0-2554-922F9BE53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9551" y="5298435"/>
            <a:ext cx="1042068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频域增强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：将特征转换到频域，仅调整振幅以增强中高频纹理，抑制噪声，同时保留相位保持结构。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通道自适应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：SE-like 机制动态控制各通道的增强强度。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9880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A2CA0-DB42-201F-CA09-8C880D756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CEF4791-186F-61C1-850F-CDA70E5ED10B}"/>
              </a:ext>
            </a:extLst>
          </p:cNvPr>
          <p:cNvGrpSpPr/>
          <p:nvPr/>
        </p:nvGrpSpPr>
        <p:grpSpPr>
          <a:xfrm>
            <a:off x="322730" y="339134"/>
            <a:ext cx="9557869" cy="860611"/>
            <a:chOff x="322730" y="339134"/>
            <a:chExt cx="9557869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74E519D8-15E9-9640-F86A-65ADF86DDDC9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492686D3-D823-5FB2-22F8-BE557F6184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038C92A6-D3A1-8CE6-59E3-524CE9C51A67}"/>
                </a:ext>
              </a:extLst>
            </p:cNvPr>
            <p:cNvSpPr txBox="1"/>
            <p:nvPr/>
          </p:nvSpPr>
          <p:spPr>
            <a:xfrm>
              <a:off x="1129552" y="384720"/>
              <a:ext cx="875104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zh-CN" altLang="en-US" sz="4400" dirty="0">
                  <a:solidFill>
                    <a:srgbClr val="4472C4">
                      <a:lumMod val="75000"/>
                    </a:srgbClr>
                  </a:solidFill>
                </a:rPr>
                <a:t>低光场景的纹理修复与细节增强</a:t>
              </a:r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D815D128-FD4D-F7A7-B737-3121EFD3DFFC}"/>
              </a:ext>
            </a:extLst>
          </p:cNvPr>
          <p:cNvSpPr/>
          <p:nvPr/>
        </p:nvSpPr>
        <p:spPr>
          <a:xfrm>
            <a:off x="2976282" y="3594846"/>
            <a:ext cx="2456330" cy="2868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C0E51AA-29D2-7263-D0E7-40AA4C5BF75D}"/>
              </a:ext>
            </a:extLst>
          </p:cNvPr>
          <p:cNvSpPr txBox="1"/>
          <p:nvPr/>
        </p:nvSpPr>
        <p:spPr>
          <a:xfrm>
            <a:off x="1129551" y="1288348"/>
            <a:ext cx="43991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实验验证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4EE3136-69D9-02DD-797C-DD02B25DAF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29551" y="2458351"/>
            <a:ext cx="5534181" cy="299418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6F78FC8-7F18-1296-9433-3FD5249571F2}"/>
              </a:ext>
            </a:extLst>
          </p:cNvPr>
          <p:cNvSpPr txBox="1"/>
          <p:nvPr/>
        </p:nvSpPr>
        <p:spPr>
          <a:xfrm>
            <a:off x="6754908" y="3698207"/>
            <a:ext cx="610446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注意力可视化结果： </a:t>
            </a:r>
            <a:r>
              <a:rPr lang="en-US" altLang="zh-CN" dirty="0"/>
              <a:t>(a) </a:t>
            </a:r>
            <a:r>
              <a:rPr lang="zh-CN" altLang="en-US" dirty="0"/>
              <a:t>基线的结果</a:t>
            </a:r>
            <a:endParaRPr lang="en-US" altLang="zh-CN" dirty="0"/>
          </a:p>
          <a:p>
            <a:r>
              <a:rPr lang="en-US" altLang="zh-CN" dirty="0"/>
              <a:t>                                  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                              (b) </a:t>
            </a:r>
            <a:r>
              <a:rPr lang="zh-CN" altLang="en-US" dirty="0"/>
              <a:t>我们的方法的结果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4A03319D-AE24-6DBB-BC82-8D2F2666116E}"/>
              </a:ext>
            </a:extLst>
          </p:cNvPr>
          <p:cNvSpPr/>
          <p:nvPr/>
        </p:nvSpPr>
        <p:spPr>
          <a:xfrm>
            <a:off x="4884689" y="3994585"/>
            <a:ext cx="620386" cy="472360"/>
          </a:xfrm>
          <a:prstGeom prst="ellipse">
            <a:avLst/>
          </a:prstGeom>
          <a:noFill/>
          <a:ln w="57150">
            <a:solidFill>
              <a:srgbClr val="FF33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8F3D8C61-A18E-24D3-1CC2-A6BB7E45FFF2}"/>
              </a:ext>
            </a:extLst>
          </p:cNvPr>
          <p:cNvCxnSpPr>
            <a:cxnSpLocks/>
          </p:cNvCxnSpPr>
          <p:nvPr/>
        </p:nvCxnSpPr>
        <p:spPr>
          <a:xfrm flipH="1">
            <a:off x="5334000" y="2968235"/>
            <a:ext cx="2040467" cy="99197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椭圆 14">
            <a:extLst>
              <a:ext uri="{FF2B5EF4-FFF2-40B4-BE49-F238E27FC236}">
                <a16:creationId xmlns:a16="http://schemas.microsoft.com/office/drawing/2014/main" id="{6E9DAB9F-C1C7-86A0-CB9C-687B9A9E6ABA}"/>
              </a:ext>
            </a:extLst>
          </p:cNvPr>
          <p:cNvSpPr/>
          <p:nvPr/>
        </p:nvSpPr>
        <p:spPr>
          <a:xfrm>
            <a:off x="7509934" y="2583514"/>
            <a:ext cx="1981200" cy="769441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背景学习</a:t>
            </a:r>
          </a:p>
        </p:txBody>
      </p:sp>
    </p:spTree>
    <p:extLst>
      <p:ext uri="{BB962C8B-B14F-4D97-AF65-F5344CB8AC3E}">
        <p14:creationId xmlns:p14="http://schemas.microsoft.com/office/powerpoint/2010/main" val="8016310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4D872-2400-5EBB-4148-B706DA393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6ACCD42-E9C0-99F9-47D0-B6791F4E89DA}"/>
              </a:ext>
            </a:extLst>
          </p:cNvPr>
          <p:cNvGrpSpPr/>
          <p:nvPr/>
        </p:nvGrpSpPr>
        <p:grpSpPr>
          <a:xfrm>
            <a:off x="322730" y="339134"/>
            <a:ext cx="9557869" cy="860611"/>
            <a:chOff x="322730" y="339134"/>
            <a:chExt cx="9557869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84EB8561-E2E7-DF56-CB26-61BEEDBC073F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3EABFAA5-458E-7657-7466-7C153B630C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EBA3F879-A12C-8BCC-6811-06ED04E6508C}"/>
                </a:ext>
              </a:extLst>
            </p:cNvPr>
            <p:cNvSpPr txBox="1"/>
            <p:nvPr/>
          </p:nvSpPr>
          <p:spPr>
            <a:xfrm>
              <a:off x="1129552" y="384720"/>
              <a:ext cx="875104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zh-CN" altLang="en-US" sz="4400" dirty="0">
                  <a:solidFill>
                    <a:srgbClr val="4472C4">
                      <a:lumMod val="75000"/>
                    </a:srgbClr>
                  </a:solidFill>
                </a:rPr>
                <a:t>低光场景的纹理修复与细节增强</a:t>
              </a:r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7537BEB3-D1D4-6A36-2274-34B38A837300}"/>
              </a:ext>
            </a:extLst>
          </p:cNvPr>
          <p:cNvSpPr/>
          <p:nvPr/>
        </p:nvSpPr>
        <p:spPr>
          <a:xfrm>
            <a:off x="2976282" y="3594846"/>
            <a:ext cx="2456330" cy="2868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06B4BEF-42F5-D0F6-7AC3-BDAE429D2896}"/>
              </a:ext>
            </a:extLst>
          </p:cNvPr>
          <p:cNvSpPr txBox="1"/>
          <p:nvPr/>
        </p:nvSpPr>
        <p:spPr>
          <a:xfrm>
            <a:off x="1129551" y="1288348"/>
            <a:ext cx="43991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实验验证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7F4EAFC-9D83-DD16-5F04-C353A27449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31415" y="2300099"/>
            <a:ext cx="9529169" cy="32695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9609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262DF-7A2A-F4B3-52D9-33C384D1C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92D86B8B-88B0-2ED4-5E0D-1C26842051D6}"/>
              </a:ext>
            </a:extLst>
          </p:cNvPr>
          <p:cNvGrpSpPr/>
          <p:nvPr/>
        </p:nvGrpSpPr>
        <p:grpSpPr>
          <a:xfrm>
            <a:off x="322730" y="339134"/>
            <a:ext cx="9557869" cy="860611"/>
            <a:chOff x="322730" y="339134"/>
            <a:chExt cx="9557869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FE4C65EE-C181-1DB1-BD24-273F9B4EEE58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4F102CA5-8335-7E88-81DF-19C6DF67D9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0CA5922E-5697-ACD1-CA55-7E8773F56627}"/>
                </a:ext>
              </a:extLst>
            </p:cNvPr>
            <p:cNvSpPr txBox="1"/>
            <p:nvPr/>
          </p:nvSpPr>
          <p:spPr>
            <a:xfrm>
              <a:off x="1129552" y="384720"/>
              <a:ext cx="875104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zh-CN" altLang="en-US" sz="4400" dirty="0">
                  <a:solidFill>
                    <a:srgbClr val="4472C4">
                      <a:lumMod val="75000"/>
                    </a:srgbClr>
                  </a:solidFill>
                </a:rPr>
                <a:t>低光场景的纹理修复与细节增强</a:t>
              </a:r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2A582BC2-CA66-3C6A-2957-36914D4E2889}"/>
              </a:ext>
            </a:extLst>
          </p:cNvPr>
          <p:cNvSpPr/>
          <p:nvPr/>
        </p:nvSpPr>
        <p:spPr>
          <a:xfrm>
            <a:off x="2976282" y="3594846"/>
            <a:ext cx="2456330" cy="2868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2A09DA3-A0BA-E8ED-9024-7C0B48B66D8E}"/>
              </a:ext>
            </a:extLst>
          </p:cNvPr>
          <p:cNvSpPr txBox="1"/>
          <p:nvPr/>
        </p:nvSpPr>
        <p:spPr>
          <a:xfrm>
            <a:off x="1129551" y="1288348"/>
            <a:ext cx="43991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实验验证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F8E30DC-8007-9070-DE90-585B6A1B85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83147" y="2124217"/>
            <a:ext cx="8751047" cy="344543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椭圆 7">
            <a:extLst>
              <a:ext uri="{FF2B5EF4-FFF2-40B4-BE49-F238E27FC236}">
                <a16:creationId xmlns:a16="http://schemas.microsoft.com/office/drawing/2014/main" id="{32858D6B-169A-48A4-CD1D-7A666B839602}"/>
              </a:ext>
            </a:extLst>
          </p:cNvPr>
          <p:cNvSpPr/>
          <p:nvPr/>
        </p:nvSpPr>
        <p:spPr>
          <a:xfrm>
            <a:off x="7289222" y="2555250"/>
            <a:ext cx="620386" cy="1610349"/>
          </a:xfrm>
          <a:prstGeom prst="ellipse">
            <a:avLst/>
          </a:prstGeom>
          <a:noFill/>
          <a:ln w="57150">
            <a:solidFill>
              <a:srgbClr val="FF33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5E2C8FBC-D968-7115-0879-192E0A0634E6}"/>
              </a:ext>
            </a:extLst>
          </p:cNvPr>
          <p:cNvCxnSpPr>
            <a:cxnSpLocks/>
          </p:cNvCxnSpPr>
          <p:nvPr/>
        </p:nvCxnSpPr>
        <p:spPr>
          <a:xfrm flipH="1">
            <a:off x="7687733" y="1938867"/>
            <a:ext cx="541867" cy="61638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>
            <a:extLst>
              <a:ext uri="{FF2B5EF4-FFF2-40B4-BE49-F238E27FC236}">
                <a16:creationId xmlns:a16="http://schemas.microsoft.com/office/drawing/2014/main" id="{84F31B47-04D5-2ED7-38D8-5DC9F2B72785}"/>
              </a:ext>
            </a:extLst>
          </p:cNvPr>
          <p:cNvSpPr/>
          <p:nvPr/>
        </p:nvSpPr>
        <p:spPr>
          <a:xfrm>
            <a:off x="8229600" y="1354776"/>
            <a:ext cx="1735666" cy="769441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严重低光</a:t>
            </a:r>
          </a:p>
        </p:txBody>
      </p:sp>
    </p:spTree>
    <p:extLst>
      <p:ext uri="{BB962C8B-B14F-4D97-AF65-F5344CB8AC3E}">
        <p14:creationId xmlns:p14="http://schemas.microsoft.com/office/powerpoint/2010/main" val="8704581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67A0897-E532-47F5-BE88-2556CF82445D}"/>
              </a:ext>
            </a:extLst>
          </p:cNvPr>
          <p:cNvSpPr txBox="1"/>
          <p:nvPr/>
        </p:nvSpPr>
        <p:spPr>
          <a:xfrm>
            <a:off x="2858610" y="1731146"/>
            <a:ext cx="62853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>
                <a:solidFill>
                  <a:schemeClr val="accent1">
                    <a:lumMod val="75000"/>
                  </a:schemeClr>
                </a:solidFill>
              </a:rPr>
              <a:t>中期总结</a:t>
            </a:r>
          </a:p>
        </p:txBody>
      </p:sp>
    </p:spTree>
    <p:extLst>
      <p:ext uri="{BB962C8B-B14F-4D97-AF65-F5344CB8AC3E}">
        <p14:creationId xmlns:p14="http://schemas.microsoft.com/office/powerpoint/2010/main" val="28334520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0E499-34DE-37F1-0E22-ACDC9FDCC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509D19C-20A2-CF70-9845-64B62366AEF5}"/>
              </a:ext>
            </a:extLst>
          </p:cNvPr>
          <p:cNvGrpSpPr/>
          <p:nvPr/>
        </p:nvGrpSpPr>
        <p:grpSpPr>
          <a:xfrm>
            <a:off x="322730" y="339134"/>
            <a:ext cx="3442447" cy="860611"/>
            <a:chOff x="322730" y="339134"/>
            <a:chExt cx="3442447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78622F2F-54A0-7BB4-9D3C-9F945A7AB963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C9A08F5A-0735-49DC-1DC7-30FAAEA081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51565B93-9070-7FED-D72C-F00B44B4E6BF}"/>
                </a:ext>
              </a:extLst>
            </p:cNvPr>
            <p:cNvSpPr txBox="1"/>
            <p:nvPr/>
          </p:nvSpPr>
          <p:spPr>
            <a:xfrm>
              <a:off x="1129553" y="384720"/>
              <a:ext cx="2635624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dirty="0">
                  <a:solidFill>
                    <a:schemeClr val="accent1">
                      <a:lumMod val="75000"/>
                    </a:schemeClr>
                  </a:solidFill>
                </a:rPr>
                <a:t>中期总结</a:t>
              </a:r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DB6D56D8-EF5B-A373-840E-DDFA8FF4489A}"/>
              </a:ext>
            </a:extLst>
          </p:cNvPr>
          <p:cNvSpPr/>
          <p:nvPr/>
        </p:nvSpPr>
        <p:spPr>
          <a:xfrm>
            <a:off x="2976282" y="3594846"/>
            <a:ext cx="2456330" cy="2868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2F74DDD-611C-2D1E-141D-CE3FDE052349}"/>
              </a:ext>
            </a:extLst>
          </p:cNvPr>
          <p:cNvSpPr txBox="1"/>
          <p:nvPr/>
        </p:nvSpPr>
        <p:spPr>
          <a:xfrm>
            <a:off x="1700990" y="1791742"/>
            <a:ext cx="8790020" cy="3912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59982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思想政治上，积极的向党组织靠拢，拥护中国共产党的领导。认真学习马克斯列宁主义、毛泽东思想、邓小平理论、科学发展观、习近平新时代中国特色社会主义思想。在校期间主动加强了对政治理论知识的学习，积极完成了每期的青年大学习，切实地提高了自己的思想认识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59982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在组织纪律方面，严格遵守学校相关规章制度，不做违纪违规违法的事。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667816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B9531-E24E-CAB8-37BA-0F445DD96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2846DD0-3C8F-63F5-C43E-0545CE6EAA4C}"/>
              </a:ext>
            </a:extLst>
          </p:cNvPr>
          <p:cNvGrpSpPr/>
          <p:nvPr/>
        </p:nvGrpSpPr>
        <p:grpSpPr>
          <a:xfrm>
            <a:off x="322730" y="339134"/>
            <a:ext cx="3442447" cy="860611"/>
            <a:chOff x="322730" y="339134"/>
            <a:chExt cx="3442447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B8AF8EC1-9330-2D2A-E5D8-1F1A9E297FF8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8ACA5BFC-90D4-DC47-F60A-554591077C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B702F00-BCFC-D25E-3683-4F407FB913B7}"/>
                </a:ext>
              </a:extLst>
            </p:cNvPr>
            <p:cNvSpPr txBox="1"/>
            <p:nvPr/>
          </p:nvSpPr>
          <p:spPr>
            <a:xfrm>
              <a:off x="1129553" y="384720"/>
              <a:ext cx="2635624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dirty="0">
                  <a:solidFill>
                    <a:schemeClr val="accent1">
                      <a:lumMod val="75000"/>
                    </a:schemeClr>
                  </a:solidFill>
                </a:rPr>
                <a:t>中期总结</a:t>
              </a:r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188D0CD9-F98B-59F7-D7E0-574DC86E1224}"/>
              </a:ext>
            </a:extLst>
          </p:cNvPr>
          <p:cNvSpPr/>
          <p:nvPr/>
        </p:nvSpPr>
        <p:spPr>
          <a:xfrm>
            <a:off x="2976282" y="3594846"/>
            <a:ext cx="2456330" cy="2868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6" name="表格 9">
            <a:extLst>
              <a:ext uri="{FF2B5EF4-FFF2-40B4-BE49-F238E27FC236}">
                <a16:creationId xmlns:a16="http://schemas.microsoft.com/office/drawing/2014/main" id="{C33AC947-404C-A6AC-A3D1-4444E0DDF5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725802"/>
              </p:ext>
            </p:extLst>
          </p:nvPr>
        </p:nvGraphicFramePr>
        <p:xfrm>
          <a:off x="1426935" y="1728473"/>
          <a:ext cx="9612000" cy="416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3304">
                  <a:extLst>
                    <a:ext uri="{9D8B030D-6E8A-4147-A177-3AD203B41FA5}">
                      <a16:colId xmlns:a16="http://schemas.microsoft.com/office/drawing/2014/main" val="668580942"/>
                    </a:ext>
                  </a:extLst>
                </a:gridCol>
                <a:gridCol w="2516232">
                  <a:extLst>
                    <a:ext uri="{9D8B030D-6E8A-4147-A177-3AD203B41FA5}">
                      <a16:colId xmlns:a16="http://schemas.microsoft.com/office/drawing/2014/main" val="3446936119"/>
                    </a:ext>
                  </a:extLst>
                </a:gridCol>
                <a:gridCol w="2516232">
                  <a:extLst>
                    <a:ext uri="{9D8B030D-6E8A-4147-A177-3AD203B41FA5}">
                      <a16:colId xmlns:a16="http://schemas.microsoft.com/office/drawing/2014/main" val="1430247082"/>
                    </a:ext>
                  </a:extLst>
                </a:gridCol>
                <a:gridCol w="2516232">
                  <a:extLst>
                    <a:ext uri="{9D8B030D-6E8A-4147-A177-3AD203B41FA5}">
                      <a16:colId xmlns:a16="http://schemas.microsoft.com/office/drawing/2014/main" val="129526656"/>
                    </a:ext>
                  </a:extLst>
                </a:gridCol>
              </a:tblGrid>
              <a:tr h="43150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baseline="0" dirty="0"/>
                        <a:t>课程名称</a:t>
                      </a:r>
                      <a:endParaRPr lang="zh-CN" altLang="en-US" sz="13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baseline="0" dirty="0"/>
                        <a:t>成绩</a:t>
                      </a:r>
                      <a:endParaRPr lang="zh-CN" altLang="en-US" sz="13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baseline="0" dirty="0"/>
                        <a:t>课程名称</a:t>
                      </a:r>
                      <a:endParaRPr lang="zh-CN" altLang="en-US" sz="13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baseline="0" dirty="0"/>
                        <a:t>成绩</a:t>
                      </a:r>
                      <a:endParaRPr lang="zh-CN" altLang="en-US" sz="13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8690533"/>
                  </a:ext>
                </a:extLst>
              </a:tr>
              <a:tr h="507947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人工智能</a:t>
                      </a:r>
                      <a:endParaRPr lang="zh-CN" altLang="en-US" sz="15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智能计算系统</a:t>
                      </a:r>
                      <a:endParaRPr lang="zh-CN" altLang="en-US" sz="1500" b="0" u="none" strike="noStrike" kern="1200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89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49562199"/>
                  </a:ext>
                </a:extLst>
              </a:tr>
              <a:tr h="43150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MicrosoftYaHei"/>
                        </a:rPr>
                        <a:t>机器学习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矩阵论</a:t>
                      </a:r>
                      <a:endParaRPr lang="zh-CN" altLang="en-US" sz="1500" b="0" u="none" strike="noStrike" kern="1200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81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62230976"/>
                  </a:ext>
                </a:extLst>
              </a:tr>
              <a:tr h="43150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MicrosoftYaHei"/>
                        </a:rPr>
                        <a:t>论文写作指导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MicrosoftYaHei"/>
                        </a:rPr>
                        <a:t>工程伦理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83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34448919"/>
                  </a:ext>
                </a:extLst>
              </a:tr>
              <a:tr h="43150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MicrosoftYaHei"/>
                        </a:rPr>
                        <a:t>中国特色社会主义理论与实践研究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MicrosoftYaHei"/>
                        </a:rPr>
                        <a:t>英语（专硕）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98132019"/>
                  </a:ext>
                </a:extLst>
              </a:tr>
              <a:tr h="43150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MicrosoftYaHei"/>
                        </a:rPr>
                        <a:t>自然辩证法概论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MicrosoftYaHei"/>
                        </a:rPr>
                        <a:t>人工智能实践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94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850670"/>
                  </a:ext>
                </a:extLst>
              </a:tr>
              <a:tr h="43150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MicrosoftYaHei"/>
                        </a:rPr>
                        <a:t>数字图像处理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MicrosoftYaHei"/>
                        </a:rPr>
                        <a:t>最优化理论及算法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73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29708560"/>
                  </a:ext>
                </a:extLst>
              </a:tr>
              <a:tr h="43150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MicrosoftYaHei"/>
                        </a:rPr>
                        <a:t>计算机视觉技术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5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5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68564653"/>
                  </a:ext>
                </a:extLst>
              </a:tr>
              <a:tr h="431507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zh-CN" altLang="en-US" sz="1900" b="0" u="none" strike="noStrike" baseline="0" dirty="0">
                          <a:solidFill>
                            <a:srgbClr val="000000"/>
                          </a:solidFill>
                          <a:effectLst/>
                        </a:rPr>
                        <a:t>平均成绩</a:t>
                      </a:r>
                      <a:endParaRPr lang="zh-CN" altLang="en-US" sz="1900" b="0" i="0" u="none" strike="noStrike" baseline="0" dirty="0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altLang="zh-CN" sz="14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 gridSpan="2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82.15</a:t>
                      </a: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altLang="zh-CN" sz="14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59110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89522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F8FE1-92C1-F1AB-7600-A3822349F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5EC8F0E-09B0-593F-6701-DA854EFE65FD}"/>
              </a:ext>
            </a:extLst>
          </p:cNvPr>
          <p:cNvGrpSpPr/>
          <p:nvPr/>
        </p:nvGrpSpPr>
        <p:grpSpPr>
          <a:xfrm>
            <a:off x="322730" y="339134"/>
            <a:ext cx="3442447" cy="860611"/>
            <a:chOff x="322730" y="339134"/>
            <a:chExt cx="3442447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C5321E4C-A197-94DD-B19B-E621BDED114B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13DD0D7E-08DA-4121-888E-4564F2D980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5599873A-D2D8-603B-95EC-AE548D92CF17}"/>
                </a:ext>
              </a:extLst>
            </p:cNvPr>
            <p:cNvSpPr txBox="1"/>
            <p:nvPr/>
          </p:nvSpPr>
          <p:spPr>
            <a:xfrm>
              <a:off x="1129553" y="384720"/>
              <a:ext cx="2635624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dirty="0">
                  <a:solidFill>
                    <a:schemeClr val="accent1">
                      <a:lumMod val="75000"/>
                    </a:schemeClr>
                  </a:solidFill>
                </a:rPr>
                <a:t>中期总结</a:t>
              </a:r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78FECC75-E78A-F2AE-C7A0-01258829F87A}"/>
              </a:ext>
            </a:extLst>
          </p:cNvPr>
          <p:cNvSpPr/>
          <p:nvPr/>
        </p:nvSpPr>
        <p:spPr>
          <a:xfrm>
            <a:off x="2976282" y="3594846"/>
            <a:ext cx="2456330" cy="2868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487EBEB-87DF-BE56-AB36-6AF79A6E9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4403686"/>
              </p:ext>
            </p:extLst>
          </p:nvPr>
        </p:nvGraphicFramePr>
        <p:xfrm>
          <a:off x="1532238" y="1219679"/>
          <a:ext cx="9331674" cy="4708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0558">
                  <a:extLst>
                    <a:ext uri="{9D8B030D-6E8A-4147-A177-3AD203B41FA5}">
                      <a16:colId xmlns:a16="http://schemas.microsoft.com/office/drawing/2014/main" val="1565809166"/>
                    </a:ext>
                  </a:extLst>
                </a:gridCol>
                <a:gridCol w="3110558">
                  <a:extLst>
                    <a:ext uri="{9D8B030D-6E8A-4147-A177-3AD203B41FA5}">
                      <a16:colId xmlns:a16="http://schemas.microsoft.com/office/drawing/2014/main" val="1926985813"/>
                    </a:ext>
                  </a:extLst>
                </a:gridCol>
                <a:gridCol w="3110558">
                  <a:extLst>
                    <a:ext uri="{9D8B030D-6E8A-4147-A177-3AD203B41FA5}">
                      <a16:colId xmlns:a16="http://schemas.microsoft.com/office/drawing/2014/main" val="3025337812"/>
                    </a:ext>
                  </a:extLst>
                </a:gridCol>
              </a:tblGrid>
              <a:tr h="90795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时间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名称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奖项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6955706"/>
                  </a:ext>
                </a:extLst>
              </a:tr>
              <a:tr h="907957"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CN" sz="1800" dirty="0"/>
                        <a:t>2024</a:t>
                      </a:r>
                      <a:r>
                        <a:rPr lang="zh-CN" altLang="en-US" sz="1800" dirty="0"/>
                        <a:t>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zh-CN" altLang="en-US" sz="1800" dirty="0"/>
                        <a:t>“华为杯”第六届中国研究生人工智能创新大赛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zh-CN" altLang="en-US" sz="1800" dirty="0"/>
                        <a:t>国家级三等奖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6265018"/>
                  </a:ext>
                </a:extLst>
              </a:tr>
              <a:tr h="907957"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1800" dirty="0"/>
                        <a:t>2025</a:t>
                      </a:r>
                      <a:r>
                        <a:rPr lang="zh-CN" altLang="en-US" sz="1800" dirty="0"/>
                        <a:t>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zh-CN" altLang="en-US" sz="1800" dirty="0"/>
                        <a:t>第二十届中国研究生电子设计竞赛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zh-CN" altLang="en-US" sz="1800" dirty="0"/>
                        <a:t>西南赛区二等奖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502631"/>
                  </a:ext>
                </a:extLst>
              </a:tr>
              <a:tr h="992402"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1800" dirty="0"/>
                        <a:t>2025</a:t>
                      </a:r>
                      <a:r>
                        <a:rPr lang="zh-CN" altLang="en-US" sz="1800" dirty="0"/>
                        <a:t>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Texture-Recovery Driven Low-Light Cross-Modal Person Re-Identification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1800" dirty="0"/>
                        <a:t>CCDC</a:t>
                      </a:r>
                      <a:r>
                        <a:rPr lang="zh-CN" altLang="en-US" sz="1800" dirty="0"/>
                        <a:t>在投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8991915"/>
                  </a:ext>
                </a:extLst>
              </a:tr>
              <a:tr h="992402"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1800" dirty="0"/>
                        <a:t>2024</a:t>
                      </a:r>
                      <a:r>
                        <a:rPr lang="zh-CN" altLang="en-US" sz="1800" dirty="0"/>
                        <a:t>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zh-CN" altLang="en-US" sz="1800" dirty="0"/>
                        <a:t>一种级联驱动式多目标跟踪方法及系统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zh-CN" altLang="en-US" sz="1800" dirty="0"/>
                        <a:t>发明专利受理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64506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59015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52"/>
          <p:cNvSpPr txBox="1"/>
          <p:nvPr/>
        </p:nvSpPr>
        <p:spPr>
          <a:xfrm>
            <a:off x="1482351" y="2705725"/>
            <a:ext cx="9227298" cy="14465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8800">
                <a:solidFill>
                  <a:srgbClr val="228BFE"/>
                </a:solidFill>
                <a:latin typeface="优设标题黑" panose="00000500000000000000" pitchFamily="2" charset="-122"/>
                <a:ea typeface="优设标题黑" panose="00000500000000000000" pitchFamily="2" charset="-122"/>
                <a:cs typeface="+mn-ea"/>
              </a:defRPr>
            </a:lvl1pPr>
            <a:lvl2pPr marL="685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/>
            </a:lvl2pPr>
            <a:lvl3pPr marL="1143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4pPr>
            <a:lvl5pPr marL="20574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5pPr>
          </a:lstStyle>
          <a:p>
            <a:r>
              <a:rPr lang="zh-CN" altLang="en-US" dirty="0">
                <a:solidFill>
                  <a:schemeClr val="tx1"/>
                </a:solidFill>
                <a:sym typeface="+mn-lt"/>
              </a:rPr>
              <a:t>感谢各位老师观看</a:t>
            </a:r>
            <a:endParaRPr lang="en-US" altLang="zh-CN" dirty="0">
              <a:solidFill>
                <a:schemeClr val="tx1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6302996"/>
      </p:ext>
    </p:extLst>
  </p:cSld>
  <p:clrMapOvr>
    <a:masterClrMapping/>
  </p:clrMapOvr>
</p:sld>
</file>

<file path=ppt/theme/theme1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7756</TotalTime>
  <Words>1972</Words>
  <Application>Microsoft Office PowerPoint</Application>
  <PresentationFormat>宽屏</PresentationFormat>
  <Paragraphs>387</Paragraphs>
  <Slides>30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3" baseType="lpstr">
      <vt:lpstr>Inter</vt:lpstr>
      <vt:lpstr>MicrosoftYaHei</vt:lpstr>
      <vt:lpstr>等线</vt:lpstr>
      <vt:lpstr>等线 Light</vt:lpstr>
      <vt:lpstr>黑体</vt:lpstr>
      <vt:lpstr>宋体</vt:lpstr>
      <vt:lpstr>微软雅黑</vt:lpstr>
      <vt:lpstr>Arial</vt:lpstr>
      <vt:lpstr>Cambria Math</vt:lpstr>
      <vt:lpstr>Times New Roman</vt:lpstr>
      <vt:lpstr>3_自定义设计方案</vt:lpstr>
      <vt:lpstr>自定义设计方案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柯宇</dc:creator>
  <cp:lastModifiedBy>lic lic</cp:lastModifiedBy>
  <cp:revision>137</cp:revision>
  <dcterms:created xsi:type="dcterms:W3CDTF">2023-05-25T06:49:02Z</dcterms:created>
  <dcterms:modified xsi:type="dcterms:W3CDTF">2026-01-05T05:41:22Z</dcterms:modified>
</cp:coreProperties>
</file>