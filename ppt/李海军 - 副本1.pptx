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57_8F4296FB.xml" ContentType="application/vnd.ms-powerpoint.comments+xml"/>
  <Override PartName="/ppt/comments/modernComment_15B_3B49EB03.xml" ContentType="application/vnd.ms-powerpoint.comments+xml"/>
  <Override PartName="/ppt/comments/modernComment_16E_241D3F86.xml" ContentType="application/vnd.ms-powerpoint.comments+xml"/>
  <Override PartName="/ppt/comments/modernComment_15D_152A7AF.xml" ContentType="application/vnd.ms-powerpoint.comments+xml"/>
  <Override PartName="/ppt/comments/modernComment_173_AFEF2746.xml" ContentType="application/vnd.ms-powerpoint.comments+xml"/>
  <Override PartName="/ppt/comments/modernComment_15E_B2E76BCE.xml" ContentType="application/vnd.ms-powerpoint.comments+xml"/>
  <Override PartName="/ppt/comments/modernComment_16F_C8DFA700.xml" ContentType="application/vnd.ms-powerpoint.comments+xml"/>
  <Override PartName="/ppt/comments/modernComment_162_E0A823F1.xml" ContentType="application/vnd.ms-powerpoint.comments+xml"/>
  <Override PartName="/ppt/comments/modernComment_163_114ADAB1.xml" ContentType="application/vnd.ms-powerpoint.comments+xml"/>
  <Override PartName="/ppt/comments/modernComment_164_58E4984D.xml" ContentType="application/vnd.ms-powerpoint.comments+xml"/>
  <Override PartName="/ppt/comments/modernComment_165_A7AC0885.xml" ContentType="application/vnd.ms-powerpoint.comments+xml"/>
  <Override PartName="/ppt/comments/modernComment_166_65A80FA9.xml" ContentType="application/vnd.ms-powerpoint.comments+xml"/>
  <Override PartName="/ppt/comments/modernComment_167_74C54F8.xml" ContentType="application/vnd.ms-powerpoint.comments+xml"/>
  <Override PartName="/ppt/comments/modernComment_168_94FAE51E.xml" ContentType="application/vnd.ms-powerpoint.comments+xml"/>
  <Override PartName="/ppt/comments/modernComment_15C_E74AA72C.xml" ContentType="application/vnd.ms-powerpoint.comments+xml"/>
  <Override PartName="/ppt/comments/modernComment_169_48EC7035.xml" ContentType="application/vnd.ms-powerpoint.comments+xml"/>
  <Override PartName="/ppt/comments/modernComment_16A_336B0502.xml" ContentType="application/vnd.ms-powerpoint.comments+xml"/>
  <Override PartName="/ppt/comments/modernComment_16B_8E980894.xml" ContentType="application/vnd.ms-powerpoint.comments+xml"/>
  <Override PartName="/ppt/comments/modernComment_16C_FCB4C244.xml" ContentType="application/vnd.ms-powerpoint.comments+xml"/>
  <Override PartName="/ppt/comments/modernComment_16D_E06BC4B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07" r:id="rId3"/>
    <p:sldId id="337" r:id="rId4"/>
    <p:sldId id="339" r:id="rId5"/>
    <p:sldId id="343" r:id="rId6"/>
    <p:sldId id="335" r:id="rId7"/>
    <p:sldId id="347" r:id="rId8"/>
    <p:sldId id="341" r:id="rId9"/>
    <p:sldId id="366" r:id="rId10"/>
    <p:sldId id="349" r:id="rId11"/>
    <p:sldId id="371" r:id="rId12"/>
    <p:sldId id="350" r:id="rId13"/>
    <p:sldId id="367" r:id="rId14"/>
    <p:sldId id="368" r:id="rId15"/>
    <p:sldId id="372" r:id="rId16"/>
    <p:sldId id="373" r:id="rId17"/>
    <p:sldId id="331" r:id="rId18"/>
    <p:sldId id="333" r:id="rId19"/>
    <p:sldId id="370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48" r:id="rId28"/>
    <p:sldId id="361" r:id="rId29"/>
    <p:sldId id="362" r:id="rId30"/>
    <p:sldId id="363" r:id="rId31"/>
    <p:sldId id="364" r:id="rId32"/>
    <p:sldId id="365" r:id="rId33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B1E45B-21A3-B35F-D196-1C84AFFB7FE8}" name="lic lic" initials="ll" userId="9738c7baaa470de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B2D9"/>
    <a:srgbClr val="3DAAB6"/>
    <a:srgbClr val="82CBC3"/>
    <a:srgbClr val="3E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60" d="100"/>
          <a:sy n="160" d="100"/>
        </p:scale>
        <p:origin x="264" y="132"/>
      </p:cViewPr>
      <p:guideLst>
        <p:guide orient="horz" pos="178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5B_3B49EB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6CF067-C158-48CE-A5F5-2CACE4ACA918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C_E74AA7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E71777-47F2-45FE-B337-BA9D98AA3340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D_152A7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7FF146-A727-4FE4-945D-CD015089EA98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E_B2E76B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F31BB0-6706-4D98-975B-13F3805723AC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A_336B05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6F757A-E3B6-4E6A-A71A-8A2164A6E8FB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B_8E9808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46EE96-0A62-4687-82E5-760C99F072DA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C_FCB4C2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FADDF1-FC19-4048-91DF-403C23F12B8F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D_E06BC4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3D7391-B07B-4075-81DF-0873253A5FF5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E_241D3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5D8831-BF8D-4C1D-9092-1EF79F8EE895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F_C8DFA7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943C02-DF3B-4ECE-879C-191ABC166944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7_8F4296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80C329-E082-48AC-9DF3-2E42F29DDA75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2_E0A823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85BF94-62A0-4850-BB09-95A9EC8340C8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3_114ADA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529634-0566-4425-9297-11BCF107AA52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4_58E498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45B70E7-A969-4802-8A5C-1A8240360773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5_A7AC08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C53DA5-5802-40BB-9E11-41068C2EEB86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6_65A80F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7C9221-00EA-4325-B792-F80969E91335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7_74C54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5921D7-741C-4DFB-A143-58B168C60CDF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8_94FAE51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E79EFC-E656-44C5-864D-8D6EDB8D33F0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9_48EC70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DD3C087-D9EC-4C73-A811-A0158C1A29FE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73_AFEF27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16FEC0-9B7C-4499-A7E5-1E7F42E33360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F994-49C7-4BDA-9350-501D68E41408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7_8F4296FB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microsoft.com/office/2018/10/relationships/comments" Target="../comments/modernComment_15B_3B49EB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16E_241D3F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8/10/relationships/comments" Target="../comments/modernComment_15D_152A7AF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microsoft.com/office/2018/10/relationships/comments" Target="../comments/modernComment_173_AFEF27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microsoft.com/office/2018/10/relationships/comments" Target="../comments/modernComment_15E_B2E76BCE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microsoft.com/office/2018/10/relationships/comments" Target="../comments/modernComment_16F_C8DFA7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2_E0A823F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3_114ADAB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4_58E4984D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5_A7AC088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6_65A80FA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7_74C54F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8_94FAE51E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8/10/relationships/comments" Target="../comments/modernComment_15C_E74AA72C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9_48EC703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A_336B050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B_8E98089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C_FCB4C24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D_E06BC4B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5" t="13778"/>
          <a:stretch>
            <a:fillRect/>
          </a:stretch>
        </p:blipFill>
        <p:spPr>
          <a:xfrm>
            <a:off x="8033993" y="2042160"/>
            <a:ext cx="4158006" cy="4815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25" b="11669"/>
          <a:stretch>
            <a:fillRect/>
          </a:stretch>
        </p:blipFill>
        <p:spPr>
          <a:xfrm>
            <a:off x="107317" y="0"/>
            <a:ext cx="4663438" cy="5533376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860226" y="2808017"/>
            <a:ext cx="4807895" cy="1953877"/>
            <a:chOff x="8059" y="7291"/>
            <a:chExt cx="4641" cy="835"/>
          </a:xfrm>
        </p:grpSpPr>
        <p:sp>
          <p:nvSpPr>
            <p:cNvPr id="78" name="文本框 77"/>
            <p:cNvSpPr txBox="1"/>
            <p:nvPr/>
          </p:nvSpPr>
          <p:spPr>
            <a:xfrm>
              <a:off x="8059" y="7291"/>
              <a:ext cx="3461" cy="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报告人：李海军</a:t>
              </a:r>
              <a:endPara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198" y="7571"/>
              <a:ext cx="3496" cy="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指导教师：王小刚</a:t>
              </a:r>
              <a:r>
                <a:rPr lang="en-US" altLang="zh-CN" sz="2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468" y="7902"/>
              <a:ext cx="4232" cy="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报告时间：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2026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年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1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月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4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日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460188" y="851092"/>
            <a:ext cx="108174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5CB2D9"/>
                </a:solidFill>
              </a:rPr>
              <a:t>基于局部梯度能量的 </a:t>
            </a:r>
            <a:r>
              <a:rPr lang="en-US" altLang="zh-CN" sz="4800" b="1" dirty="0">
                <a:solidFill>
                  <a:srgbClr val="5CB2D9"/>
                </a:solidFill>
              </a:rPr>
              <a:t>SLAM </a:t>
            </a:r>
            <a:r>
              <a:rPr lang="zh-CN" altLang="en-US" sz="4800" b="1" dirty="0">
                <a:solidFill>
                  <a:srgbClr val="5CB2D9"/>
                </a:solidFill>
              </a:rPr>
              <a:t>特征改进及其在动态场景中的应用</a:t>
            </a:r>
            <a:endParaRPr lang="zh-CN" altLang="en-US" sz="4800" dirty="0">
              <a:solidFill>
                <a:srgbClr val="5CB2D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F884-AA55-FDB2-26A6-23FEDDEC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6610AE-958A-9670-999D-C8E44E8397BE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39CC7EE-9DD5-9AC8-47DB-47365436B827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B7464-C0F6-80D4-77D7-F1E837740227}"/>
              </a:ext>
            </a:extLst>
          </p:cNvPr>
          <p:cNvSpPr/>
          <p:nvPr/>
        </p:nvSpPr>
        <p:spPr>
          <a:xfrm>
            <a:off x="1981200" y="1633728"/>
            <a:ext cx="9144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 dirty="0"/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90EFC2-DC1E-FDAF-EC26-5970A0342017}"/>
              </a:ext>
            </a:extLst>
          </p:cNvPr>
          <p:cNvSpPr/>
          <p:nvPr/>
        </p:nvSpPr>
        <p:spPr>
          <a:xfrm>
            <a:off x="2987040" y="16337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研究</a:t>
            </a:r>
            <a:r>
              <a:rPr sz="2400" dirty="0" err="1"/>
              <a:t>背景及意义</a:t>
            </a:r>
            <a:endParaRPr sz="24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7494DA-E25A-7780-6AE6-6323EA2B27D1}"/>
              </a:ext>
            </a:extLst>
          </p:cNvPr>
          <p:cNvSpPr/>
          <p:nvPr/>
        </p:nvSpPr>
        <p:spPr>
          <a:xfrm>
            <a:off x="1981200" y="25481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05382364-0ABA-2B77-C30E-E15159A43FF7}"/>
              </a:ext>
            </a:extLst>
          </p:cNvPr>
          <p:cNvSpPr/>
          <p:nvPr/>
        </p:nvSpPr>
        <p:spPr>
          <a:xfrm>
            <a:off x="2987040" y="25481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sz="2400" dirty="0"/>
              <a:t>SLAM</a:t>
            </a:r>
            <a:r>
              <a:rPr lang="zh-CN" altLang="en-US" sz="2400" dirty="0"/>
              <a:t>与语义分割结合</a:t>
            </a:r>
            <a:endParaRPr sz="24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D97CF32-5795-4C14-9B82-24E07FBC2705}"/>
              </a:ext>
            </a:extLst>
          </p:cNvPr>
          <p:cNvSpPr/>
          <p:nvPr/>
        </p:nvSpPr>
        <p:spPr>
          <a:xfrm>
            <a:off x="1981200" y="34625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/>
              <a:t>3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1971D246-E5AE-D0FB-674E-A45B5200F1ED}"/>
              </a:ext>
            </a:extLst>
          </p:cNvPr>
          <p:cNvSpPr/>
          <p:nvPr/>
        </p:nvSpPr>
        <p:spPr>
          <a:xfrm>
            <a:off x="2987040" y="34625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方案设计</a:t>
            </a:r>
            <a:endParaRPr sz="24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259B31B9-D670-C36F-6B0D-4DB8F4E4F975}"/>
              </a:ext>
            </a:extLst>
          </p:cNvPr>
          <p:cNvSpPr/>
          <p:nvPr/>
        </p:nvSpPr>
        <p:spPr>
          <a:xfrm>
            <a:off x="1981200" y="43769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 dirty="0"/>
              <a:t>4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1934B8CB-C398-60EF-DB78-B01C507F7626}"/>
              </a:ext>
            </a:extLst>
          </p:cNvPr>
          <p:cNvSpPr/>
          <p:nvPr/>
        </p:nvSpPr>
        <p:spPr>
          <a:xfrm>
            <a:off x="2987040" y="43769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总结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8066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D496F-3014-E1A5-709C-CF675DF68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0CB849-A1BA-F6A3-DFD7-D9F9C169F495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5D0FD3B-2489-9007-A8AE-ED0FDCAF3C57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</a:rPr>
              <a:t>  </a:t>
            </a:r>
            <a:r>
              <a:rPr lang="zh-CN" altLang="en-US" sz="2400" b="1" dirty="0">
                <a:solidFill>
                  <a:srgbClr val="0070C0"/>
                </a:solidFill>
              </a:rPr>
              <a:t>研究背景及意义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CF7119-E65F-DCDE-6228-7122C0116CEB}"/>
              </a:ext>
            </a:extLst>
          </p:cNvPr>
          <p:cNvSpPr txBox="1"/>
          <p:nvPr/>
        </p:nvSpPr>
        <p:spPr>
          <a:xfrm>
            <a:off x="455640" y="1386542"/>
            <a:ext cx="11664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b="1" dirty="0"/>
              <a:t>同步定位与建图（</a:t>
            </a:r>
            <a:r>
              <a:rPr lang="en-US" altLang="zh-CN" b="1" dirty="0"/>
              <a:t>Simultaneous Localization and Mapping</a:t>
            </a:r>
            <a:r>
              <a:rPr lang="zh-CN" altLang="en-US" b="1" dirty="0"/>
              <a:t>）是移动机器人、无人驾驶与增强现实等领域的核心基础技术。</a:t>
            </a:r>
            <a:endParaRPr lang="en-US" altLang="zh-CN" b="1" dirty="0"/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F0A9DE-6484-2FA2-1915-8A95C26EE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20" y="2122065"/>
            <a:ext cx="3571665" cy="23811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6D3A8F-0454-E6C9-2B2B-887D05B1328E}"/>
              </a:ext>
            </a:extLst>
          </p:cNvPr>
          <p:cNvSpPr txBox="1"/>
          <p:nvPr/>
        </p:nvSpPr>
        <p:spPr>
          <a:xfrm>
            <a:off x="868634" y="4659081"/>
            <a:ext cx="418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机器人在未知环境作业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661861-2CCE-FA19-9EC5-33C3534A77D9}"/>
              </a:ext>
            </a:extLst>
          </p:cNvPr>
          <p:cNvSpPr txBox="1"/>
          <p:nvPr/>
        </p:nvSpPr>
        <p:spPr>
          <a:xfrm>
            <a:off x="6587076" y="4690659"/>
            <a:ext cx="496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虚拟内容能够稳定、准确地叠加到真实世界中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F0BD66-7D94-356A-96DB-375CE6ACF9DE}"/>
              </a:ext>
            </a:extLst>
          </p:cNvPr>
          <p:cNvSpPr txBox="1"/>
          <p:nvPr/>
        </p:nvSpPr>
        <p:spPr>
          <a:xfrm>
            <a:off x="1495124" y="5794188"/>
            <a:ext cx="10183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没有视觉 </a:t>
            </a:r>
            <a:r>
              <a:rPr lang="en-US" altLang="zh-CN" dirty="0"/>
              <a:t>SLAM → </a:t>
            </a:r>
            <a:r>
              <a:rPr lang="zh-CN" altLang="en-US" dirty="0"/>
              <a:t> 无法实现定位与建图→ 无法实现其它功能。</a:t>
            </a:r>
          </a:p>
        </p:txBody>
      </p:sp>
      <p:pic>
        <p:nvPicPr>
          <p:cNvPr id="10" name="图片 9" descr="图片包含 户外, 人, 男人, 站&#10;&#10;AI 生成的内容可能不正确。">
            <a:extLst>
              <a:ext uri="{FF2B5EF4-FFF2-40B4-BE49-F238E27FC236}">
                <a16:creationId xmlns:a16="http://schemas.microsoft.com/office/drawing/2014/main" id="{D62D4ADF-71AC-57FC-81B2-D3BEF980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564" y="1988271"/>
            <a:ext cx="4083199" cy="267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9DC8-71D8-0C0D-6E95-D931A149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2A836A4-C86C-ABBF-10B8-FCCED124956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6CB039B-7940-9649-E5CE-643E122D6A55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800" b="1" dirty="0">
                <a:solidFill>
                  <a:srgbClr val="0070C0"/>
                </a:solidFill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</a:rPr>
              <a:t>研究背景及意义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9F8CDB-F325-71BA-6A4E-92FF75047602}"/>
              </a:ext>
            </a:extLst>
          </p:cNvPr>
          <p:cNvSpPr txBox="1"/>
          <p:nvPr/>
        </p:nvSpPr>
        <p:spPr>
          <a:xfrm>
            <a:off x="455639" y="1386541"/>
            <a:ext cx="115630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传统视觉</a:t>
            </a:r>
            <a:r>
              <a:rPr lang="en-US" altLang="zh-CN" dirty="0"/>
              <a:t>SLAM</a:t>
            </a:r>
            <a:r>
              <a:rPr lang="zh-CN" altLang="en-US" dirty="0"/>
              <a:t>方法主要分为两大类：特征点法和直接法</a:t>
            </a:r>
            <a:endParaRPr lang="en-US" altLang="zh-CN" dirty="0"/>
          </a:p>
          <a:p>
            <a:r>
              <a:rPr lang="zh-CN" altLang="en-US" dirty="0"/>
              <a:t>这些方法通常建立在静态环境假设的基础上，即假设场景中的大多数特征是静止的，</a:t>
            </a:r>
            <a:endParaRPr lang="en-US" altLang="zh-CN" dirty="0"/>
          </a:p>
          <a:p>
            <a:r>
              <a:rPr lang="zh-CN" altLang="en-US" dirty="0"/>
              <a:t>从而依赖于特征点或像素强度（亮度）在不同帧图像间的时间一致性来估计相机位姿和构建地图。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r>
              <a:rPr lang="zh-CN" altLang="en-US" dirty="0"/>
              <a:t>如果室内环境中存在动态物体行人，这些一致性会被破坏，导致跟踪失败或位姿估计误差增大。</a:t>
            </a:r>
            <a:endParaRPr lang="zh-CN" altLang="en-US" dirty="0"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742305-8B54-D45E-B72E-BA8874183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14" y="2502661"/>
            <a:ext cx="2647578" cy="26797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4103DD-0321-C0AC-32ED-B97E9525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602" y="2533528"/>
            <a:ext cx="3427911" cy="261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5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0F831-01D4-8911-2D8E-968BA335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AA81EAF-4FAA-2C6A-9052-4ECB7BD8FD8F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841C2E0-0493-1C54-28A5-0BBA060D43C7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0070C0"/>
                </a:solidFill>
              </a:rPr>
              <a:t>SLAM </a:t>
            </a:r>
            <a:r>
              <a:rPr lang="zh-CN" altLang="en-US" sz="2800" b="1" dirty="0">
                <a:solidFill>
                  <a:srgbClr val="0070C0"/>
                </a:solidFill>
              </a:rPr>
              <a:t>与语义分割的结合方式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19B1FC-4564-BD6C-E3FC-4183CDDC9413}"/>
              </a:ext>
            </a:extLst>
          </p:cNvPr>
          <p:cNvSpPr txBox="1"/>
          <p:nvPr/>
        </p:nvSpPr>
        <p:spPr>
          <a:xfrm>
            <a:off x="626434" y="1741545"/>
            <a:ext cx="1751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传统建图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CB912F-BB56-0B50-E0CF-138D871CF12B}"/>
              </a:ext>
            </a:extLst>
          </p:cNvPr>
          <p:cNvSpPr txBox="1"/>
          <p:nvPr/>
        </p:nvSpPr>
        <p:spPr>
          <a:xfrm>
            <a:off x="368017" y="3110493"/>
            <a:ext cx="442595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输入图像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特征提取与匹配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位姿估计与地图构建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C86ECF-25C2-EA99-0FED-7CDF9CD920C4}"/>
              </a:ext>
            </a:extLst>
          </p:cNvPr>
          <p:cNvSpPr txBox="1"/>
          <p:nvPr/>
        </p:nvSpPr>
        <p:spPr>
          <a:xfrm>
            <a:off x="5846540" y="2265810"/>
            <a:ext cx="51023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输入图像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语义分割（像素级分类）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动态区域剔除 </a:t>
            </a:r>
            <a:r>
              <a:rPr lang="en-US" altLang="zh-CN" sz="2800" b="1" dirty="0"/>
              <a:t>/ </a:t>
            </a:r>
            <a:r>
              <a:rPr lang="zh-CN" altLang="en-US" sz="2800" b="1" dirty="0"/>
              <a:t>语义约束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特征提取与匹配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位姿估计与地图构建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6B34C5-4DC3-740C-1FC4-973223F81A62}"/>
              </a:ext>
            </a:extLst>
          </p:cNvPr>
          <p:cNvSpPr txBox="1"/>
          <p:nvPr/>
        </p:nvSpPr>
        <p:spPr>
          <a:xfrm>
            <a:off x="6239435" y="1691342"/>
            <a:ext cx="2694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语义分割模块引入</a:t>
            </a:r>
          </a:p>
        </p:txBody>
      </p:sp>
    </p:spTree>
    <p:extLst>
      <p:ext uri="{BB962C8B-B14F-4D97-AF65-F5344CB8AC3E}">
        <p14:creationId xmlns:p14="http://schemas.microsoft.com/office/powerpoint/2010/main" val="240350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89B4-2C63-15A1-DC55-45F77F80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90A2F06-2BE6-D599-C34E-7F638E60AA39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55E409D-E2BA-C04E-059D-875047137E1F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特征点提取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6012B6-D867-65D8-826E-D6476288AA14}"/>
              </a:ext>
            </a:extLst>
          </p:cNvPr>
          <p:cNvSpPr txBox="1"/>
          <p:nvPr/>
        </p:nvSpPr>
        <p:spPr>
          <a:xfrm>
            <a:off x="238664" y="1293960"/>
            <a:ext cx="89570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FAST </a:t>
            </a:r>
            <a:r>
              <a:rPr lang="zh-CN" altLang="en-US" b="1" dirty="0"/>
              <a:t>角点</a:t>
            </a:r>
            <a:endParaRPr lang="en-US" altLang="zh-CN" b="1" dirty="0"/>
          </a:p>
          <a:p>
            <a:r>
              <a:rPr lang="zh-CN" altLang="en-US" dirty="0"/>
              <a:t>以当前像素为中心，检查半径为 </a:t>
            </a:r>
            <a:r>
              <a:rPr lang="en-US" altLang="zh-CN" dirty="0"/>
              <a:t>3 </a:t>
            </a:r>
            <a:r>
              <a:rPr lang="zh-CN" altLang="en-US" dirty="0"/>
              <a:t>像素的圆形邻域（共 </a:t>
            </a:r>
            <a:r>
              <a:rPr lang="en-US" altLang="zh-CN" dirty="0"/>
              <a:t>16 </a:t>
            </a:r>
            <a:r>
              <a:rPr lang="zh-CN" altLang="en-US" dirty="0"/>
              <a:t>个像素点）</a:t>
            </a:r>
          </a:p>
          <a:p>
            <a:r>
              <a:rPr lang="zh-CN" altLang="en-US" dirty="0"/>
              <a:t>若圆上存在连续 </a:t>
            </a:r>
            <a:r>
              <a:rPr lang="en-US" altLang="zh-CN" dirty="0"/>
              <a:t>N </a:t>
            </a:r>
            <a:r>
              <a:rPr lang="zh-CN" altLang="en-US" dirty="0"/>
              <a:t>个像素点（通常 </a:t>
            </a:r>
            <a:r>
              <a:rPr lang="en-US" altLang="zh-CN" dirty="0"/>
              <a:t>N = 9 </a:t>
            </a:r>
            <a:r>
              <a:rPr lang="zh-CN" altLang="en-US" dirty="0"/>
              <a:t>或 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且其灰度值均明显高于或低于中心像素</a:t>
            </a:r>
          </a:p>
          <a:p>
            <a:r>
              <a:rPr lang="zh-CN" altLang="en-US" dirty="0"/>
              <a:t>则该像素被判定为 </a:t>
            </a:r>
            <a:r>
              <a:rPr lang="en-US" altLang="zh-CN" dirty="0"/>
              <a:t>FAST </a:t>
            </a:r>
            <a:r>
              <a:rPr lang="zh-CN" altLang="en-US" dirty="0"/>
              <a:t>角点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FAST </a:t>
            </a:r>
            <a:r>
              <a:rPr lang="zh-CN" altLang="en-US" b="1" dirty="0"/>
              <a:t>的特点</a:t>
            </a:r>
          </a:p>
          <a:p>
            <a:r>
              <a:rPr lang="zh-CN" altLang="en-US" dirty="0"/>
              <a:t>计算速度快，适合实时系统</a:t>
            </a:r>
          </a:p>
          <a:p>
            <a:r>
              <a:rPr lang="zh-CN" altLang="en-US" dirty="0"/>
              <a:t>仅基于灰度比较，无需复杂计算</a:t>
            </a:r>
          </a:p>
          <a:p>
            <a:r>
              <a:rPr lang="zh-CN" altLang="en-US" dirty="0"/>
              <a:t>本身不具备尺度与旋转不变性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0A94E3-E8DD-E7B3-9604-6DECBFE21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424" y="4488433"/>
            <a:ext cx="6181069" cy="1986772"/>
          </a:xfrm>
          <a:prstGeom prst="rect">
            <a:avLst/>
          </a:prstGeom>
        </p:spPr>
      </p:pic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B13D262F-0AF5-8EE0-E792-40C1A794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418" y="1593722"/>
            <a:ext cx="4383139" cy="198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7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A55D-E153-E05E-456E-37654A3B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17C8A8B-ACD0-8856-7AA9-08A1A6C7BF50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B9ACAE5-0B31-7C74-6D27-235B7ADB38BC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C8DD27-DF61-069D-DE46-A46D02EF44EE}"/>
              </a:ext>
            </a:extLst>
          </p:cNvPr>
          <p:cNvSpPr txBox="1"/>
          <p:nvPr/>
        </p:nvSpPr>
        <p:spPr>
          <a:xfrm>
            <a:off x="238663" y="1293961"/>
            <a:ext cx="7639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FAST</a:t>
            </a:r>
            <a:r>
              <a:rPr lang="zh-CN" altLang="en-US" sz="2000" b="1" dirty="0"/>
              <a:t>特征点</a:t>
            </a:r>
            <a:endParaRPr lang="en-US" altLang="zh-CN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3554FC-EEDD-D6E4-6199-3923A0A37091}"/>
              </a:ext>
            </a:extLst>
          </p:cNvPr>
          <p:cNvSpPr txBox="1"/>
          <p:nvPr/>
        </p:nvSpPr>
        <p:spPr>
          <a:xfrm>
            <a:off x="5052390" y="59970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特征点提取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95A93C-3A73-5ECD-F858-94A080159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782" y="5053108"/>
            <a:ext cx="2091692" cy="17167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2BD72E8-D4E0-FF51-0559-79EB1952EFFE}"/>
              </a:ext>
            </a:extLst>
          </p:cNvPr>
          <p:cNvSpPr txBox="1"/>
          <p:nvPr/>
        </p:nvSpPr>
        <p:spPr>
          <a:xfrm>
            <a:off x="8143461" y="6070447"/>
            <a:ext cx="1961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</a:t>
            </a:r>
            <a:r>
              <a:rPr lang="zh-CN" altLang="en-US" b="1" dirty="0"/>
              <a:t>：像素中心点</a:t>
            </a:r>
            <a:endParaRPr lang="en-US" altLang="zh-CN" b="1" dirty="0"/>
          </a:p>
          <a:p>
            <a:r>
              <a:rPr lang="en-US" altLang="zh-CN" b="1" dirty="0"/>
              <a:t>N</a:t>
            </a:r>
            <a:r>
              <a:rPr lang="zh-CN" altLang="en-US" b="1" dirty="0"/>
              <a:t>：半径类的像素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CD5FB7D-0F9D-A3FE-5972-EED4BB3BF5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01" y="1694069"/>
            <a:ext cx="1917835" cy="25583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AE53B42-7640-B649-4CEB-17CE7D7612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93" y="4252431"/>
            <a:ext cx="1917834" cy="25583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1B812FE-AD04-E343-A7B1-E874963A033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615" y="4063953"/>
            <a:ext cx="2072926" cy="27633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173B0AC-E411-979F-14E4-A627E7E7704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616" y="1297052"/>
            <a:ext cx="2075582" cy="276690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E52C176-F1CB-0D16-A4E5-B84AFA0F74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93" y="4033551"/>
            <a:ext cx="2051216" cy="273628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BF076A8-5E7A-A487-023A-447701A3DDC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93" y="1327664"/>
            <a:ext cx="2051216" cy="273628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2689D8A-D1E6-AEDA-1D1D-ED4088E456B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587" y="1573779"/>
            <a:ext cx="2098180" cy="279893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D01BE5A-FC45-DDFE-348D-00488F972CD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407" y="1573780"/>
            <a:ext cx="2098180" cy="279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0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0E3B-5DFC-688E-846A-0BB92FF4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0B03CD7-8B53-9D68-12BB-B2DA9ADC2A1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08ED636-0151-35A5-31B7-52BB0EF86A66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特征点提取</a:t>
            </a:r>
          </a:p>
        </p:txBody>
      </p:sp>
      <p:pic>
        <p:nvPicPr>
          <p:cNvPr id="4" name="图片 3" descr="桌子上摆放着许多物品&#10;&#10;AI 生成的内容可能不正确。">
            <a:extLst>
              <a:ext uri="{FF2B5EF4-FFF2-40B4-BE49-F238E27FC236}">
                <a16:creationId xmlns:a16="http://schemas.microsoft.com/office/drawing/2014/main" id="{DF88F9AD-007C-0D2D-435D-BD8A2F12D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41" y="1227897"/>
            <a:ext cx="6508377" cy="2494583"/>
          </a:xfrm>
          <a:prstGeom prst="rect">
            <a:avLst/>
          </a:prstGeom>
        </p:spPr>
      </p:pic>
      <p:pic>
        <p:nvPicPr>
          <p:cNvPr id="7" name="图片 6" descr="图片包含 桌子, 游戏机, 床&#10;&#10;AI 生成的内容可能不正确。">
            <a:extLst>
              <a:ext uri="{FF2B5EF4-FFF2-40B4-BE49-F238E27FC236}">
                <a16:creationId xmlns:a16="http://schemas.microsoft.com/office/drawing/2014/main" id="{28DDAFAD-720D-2729-2FE4-3B8BAD24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223" y="3963129"/>
            <a:ext cx="6663545" cy="25842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AD347A-3A67-D5CA-B110-FDFCA28853A1}"/>
              </a:ext>
            </a:extLst>
          </p:cNvPr>
          <p:cNvSpPr txBox="1"/>
          <p:nvPr/>
        </p:nvSpPr>
        <p:spPr>
          <a:xfrm>
            <a:off x="167341" y="4068971"/>
            <a:ext cx="2808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暴力匹配</a:t>
            </a:r>
          </a:p>
        </p:txBody>
      </p:sp>
    </p:spTree>
    <p:extLst>
      <p:ext uri="{BB962C8B-B14F-4D97-AF65-F5344CB8AC3E}">
        <p14:creationId xmlns:p14="http://schemas.microsoft.com/office/powerpoint/2010/main" val="223683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B4126-BC2C-E84D-5A44-BE1BB682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9BB04C6-1BD3-F3AB-78FA-02F0D3D87663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B4E479D-6F57-85BA-B11F-E9FC0FDBBA6A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F7B7F0-FAB5-7A1C-E4D8-137251AEF55C}"/>
              </a:ext>
            </a:extLst>
          </p:cNvPr>
          <p:cNvSpPr txBox="1"/>
          <p:nvPr/>
        </p:nvSpPr>
        <p:spPr>
          <a:xfrm>
            <a:off x="5052390" y="599708"/>
            <a:ext cx="143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图像金字塔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063950-BE20-6505-E0CC-FCFA1050EE32}"/>
              </a:ext>
            </a:extLst>
          </p:cNvPr>
          <p:cNvSpPr txBox="1"/>
          <p:nvPr/>
        </p:nvSpPr>
        <p:spPr>
          <a:xfrm>
            <a:off x="304800" y="1310333"/>
            <a:ext cx="1150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通过构建图像金字塔，在多尺度图像上检测 </a:t>
            </a:r>
            <a:r>
              <a:rPr lang="en-US" altLang="zh-CN" b="1" dirty="0"/>
              <a:t>FAST </a:t>
            </a:r>
            <a:r>
              <a:rPr lang="zh-CN" altLang="en-US" b="1" dirty="0"/>
              <a:t>角点，从而弥补 </a:t>
            </a:r>
            <a:r>
              <a:rPr lang="en-US" altLang="zh-CN" b="1" dirty="0"/>
              <a:t>FAST </a:t>
            </a:r>
            <a:r>
              <a:rPr lang="zh-CN" altLang="en-US" b="1" dirty="0"/>
              <a:t>原始方法缺乏尺度不变性的缺点。</a:t>
            </a:r>
            <a:endParaRPr lang="zh-CN" altLang="en-US" dirty="0"/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C7888CD9-697C-256B-CA5C-A25151C95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589" y="2634202"/>
            <a:ext cx="3252204" cy="276722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7A132DF-B88A-89E4-E6B8-B703C1FF9AFC}"/>
              </a:ext>
            </a:extLst>
          </p:cNvPr>
          <p:cNvSpPr txBox="1"/>
          <p:nvPr/>
        </p:nvSpPr>
        <p:spPr>
          <a:xfrm>
            <a:off x="6835397" y="5341665"/>
            <a:ext cx="1882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层级：</a:t>
            </a:r>
            <a:r>
              <a:rPr lang="en-US" altLang="zh-CN" dirty="0"/>
              <a:t>8</a:t>
            </a:r>
            <a:r>
              <a:rPr lang="zh-CN" altLang="en-US" dirty="0"/>
              <a:t>层</a:t>
            </a:r>
            <a:endParaRPr lang="en-US" altLang="zh-CN" dirty="0"/>
          </a:p>
          <a:p>
            <a:r>
              <a:rPr lang="zh-CN" altLang="en-US" dirty="0"/>
              <a:t>缩放因子：</a:t>
            </a:r>
            <a:r>
              <a:rPr lang="en-US" altLang="zh-CN" dirty="0"/>
              <a:t>1.2</a:t>
            </a:r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AEED19-14A7-7122-5927-17618231C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307508"/>
              </p:ext>
            </p:extLst>
          </p:nvPr>
        </p:nvGraphicFramePr>
        <p:xfrm>
          <a:off x="164264" y="2547800"/>
          <a:ext cx="5826798" cy="320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266">
                  <a:extLst>
                    <a:ext uri="{9D8B030D-6E8A-4147-A177-3AD203B41FA5}">
                      <a16:colId xmlns:a16="http://schemas.microsoft.com/office/drawing/2014/main" val="3445189184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1245153523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3534178174"/>
                    </a:ext>
                  </a:extLst>
                </a:gridCol>
              </a:tblGrid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层级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尺寸（近似）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828483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640×480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729939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533×400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52216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444×333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730482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370×277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98848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309×231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14482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257×193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45648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214×161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635054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179×134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992112"/>
                  </a:ext>
                </a:extLst>
              </a:tr>
            </a:tbl>
          </a:graphicData>
        </a:graphic>
      </p:graphicFrame>
      <p:pic>
        <p:nvPicPr>
          <p:cNvPr id="3" name="图片 2" descr="图片包含 工程绘图&#10;&#10;AI 生成的内容可能不正确。">
            <a:extLst>
              <a:ext uri="{FF2B5EF4-FFF2-40B4-BE49-F238E27FC236}">
                <a16:creationId xmlns:a16="http://schemas.microsoft.com/office/drawing/2014/main" id="{A254CD06-EFD2-3694-842E-821FA9115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736" y="2903140"/>
            <a:ext cx="2196553" cy="14541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9916AE7-6338-76F4-2A4C-954FEC588CFF}"/>
              </a:ext>
            </a:extLst>
          </p:cNvPr>
          <p:cNvSpPr txBox="1"/>
          <p:nvPr/>
        </p:nvSpPr>
        <p:spPr>
          <a:xfrm>
            <a:off x="9341223" y="5064666"/>
            <a:ext cx="2196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从“世界坐标系”变换到“相机坐标系”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589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8712-F1F6-C7E2-F8B8-72897F0C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6DABCC7-F861-413F-A25A-57F8A5B43250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0ABD0E4-E45C-6846-411A-CC2E346F91FE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EE5350-DDF5-5BA9-9775-C36D08D3FCBB}"/>
              </a:ext>
            </a:extLst>
          </p:cNvPr>
          <p:cNvSpPr txBox="1"/>
          <p:nvPr/>
        </p:nvSpPr>
        <p:spPr>
          <a:xfrm>
            <a:off x="69914" y="5347789"/>
            <a:ext cx="2844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哪里纹理强，哪里角点就爆炸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925AC1-B777-06F9-5D42-00C675E1C43A}"/>
              </a:ext>
            </a:extLst>
          </p:cNvPr>
          <p:cNvSpPr txBox="1"/>
          <p:nvPr/>
        </p:nvSpPr>
        <p:spPr>
          <a:xfrm>
            <a:off x="4273137" y="72897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提取特征点并进行筛选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8E9488-7D97-5C50-C854-C96532415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06" y="1844910"/>
            <a:ext cx="2530418" cy="3373231"/>
          </a:xfrm>
          <a:prstGeom prst="rect">
            <a:avLst/>
          </a:prstGeom>
        </p:spPr>
      </p:pic>
      <p:pic>
        <p:nvPicPr>
          <p:cNvPr id="11" name="图片 10" descr="图片包含 网站&#10;&#10;AI 生成的内容可能不正确。">
            <a:extLst>
              <a:ext uri="{FF2B5EF4-FFF2-40B4-BE49-F238E27FC236}">
                <a16:creationId xmlns:a16="http://schemas.microsoft.com/office/drawing/2014/main" id="{51B9CA5D-C081-EB2B-8F7F-3EFA35F09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281" y="1709678"/>
            <a:ext cx="4910703" cy="2853226"/>
          </a:xfrm>
          <a:prstGeom prst="rect">
            <a:avLst/>
          </a:prstGeom>
        </p:spPr>
      </p:pic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4DDCC4CD-E691-5916-BFDD-D62017AE0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236" y="1735550"/>
            <a:ext cx="4582019" cy="282735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C331723-F7EA-B34F-E1D6-0259F4126874}"/>
              </a:ext>
            </a:extLst>
          </p:cNvPr>
          <p:cNvSpPr txBox="1"/>
          <p:nvPr/>
        </p:nvSpPr>
        <p:spPr>
          <a:xfrm>
            <a:off x="227106" y="1426253"/>
            <a:ext cx="211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FAST</a:t>
            </a:r>
            <a:r>
              <a:rPr lang="zh-CN" altLang="en-US" dirty="0"/>
              <a:t>特征点的缺陷</a:t>
            </a:r>
          </a:p>
        </p:txBody>
      </p:sp>
    </p:spTree>
    <p:extLst>
      <p:ext uri="{BB962C8B-B14F-4D97-AF65-F5344CB8AC3E}">
        <p14:creationId xmlns:p14="http://schemas.microsoft.com/office/powerpoint/2010/main" val="221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74CB-5902-9855-3FFB-86028068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03BFBB7-CCA1-D9FB-D94B-0821A0F6EA6C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F828644-E92C-838F-DC5B-57C776FD606B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187895-3D89-B318-C9DB-0B93CFED796A}"/>
              </a:ext>
            </a:extLst>
          </p:cNvPr>
          <p:cNvSpPr txBox="1"/>
          <p:nvPr/>
        </p:nvSpPr>
        <p:spPr>
          <a:xfrm>
            <a:off x="4273137" y="72897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提取特征点并进行筛选</a:t>
            </a:r>
          </a:p>
        </p:txBody>
      </p:sp>
      <p:pic>
        <p:nvPicPr>
          <p:cNvPr id="10" name="图片 9" descr="图表, 散点图&#10;&#10;AI 生成的内容可能不正确。">
            <a:extLst>
              <a:ext uri="{FF2B5EF4-FFF2-40B4-BE49-F238E27FC236}">
                <a16:creationId xmlns:a16="http://schemas.microsoft.com/office/drawing/2014/main" id="{58ED1AC3-EC04-EA9A-46F7-0DCFDBA52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" y="1583216"/>
            <a:ext cx="2905125" cy="1914525"/>
          </a:xfrm>
          <a:prstGeom prst="rect">
            <a:avLst/>
          </a:prstGeom>
        </p:spPr>
      </p:pic>
      <p:pic>
        <p:nvPicPr>
          <p:cNvPr id="15" name="图片 14" descr="图表, 散点图&#10;&#10;AI 生成的内容可能不正确。">
            <a:extLst>
              <a:ext uri="{FF2B5EF4-FFF2-40B4-BE49-F238E27FC236}">
                <a16:creationId xmlns:a16="http://schemas.microsoft.com/office/drawing/2014/main" id="{4A46B335-B70D-38F0-1271-BEA7ABFA9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656" y="1533525"/>
            <a:ext cx="2905125" cy="1895475"/>
          </a:xfrm>
          <a:prstGeom prst="rect">
            <a:avLst/>
          </a:prstGeom>
        </p:spPr>
      </p:pic>
      <p:pic>
        <p:nvPicPr>
          <p:cNvPr id="17" name="图片 16" descr="图表, 散点图&#10;&#10;AI 生成的内容可能不正确。">
            <a:extLst>
              <a:ext uri="{FF2B5EF4-FFF2-40B4-BE49-F238E27FC236}">
                <a16:creationId xmlns:a16="http://schemas.microsoft.com/office/drawing/2014/main" id="{F57DFC41-0739-2F2E-9565-7A8C65C97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116" y="1554640"/>
            <a:ext cx="2943225" cy="1971675"/>
          </a:xfrm>
          <a:prstGeom prst="rect">
            <a:avLst/>
          </a:prstGeom>
        </p:spPr>
      </p:pic>
      <p:pic>
        <p:nvPicPr>
          <p:cNvPr id="19" name="图片 18" descr="图表, 散点图&#10;&#10;AI 生成的内容可能不正确。">
            <a:extLst>
              <a:ext uri="{FF2B5EF4-FFF2-40B4-BE49-F238E27FC236}">
                <a16:creationId xmlns:a16="http://schemas.microsoft.com/office/drawing/2014/main" id="{4A8FD9E5-E2D6-F747-7245-75A4E5631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4287" y="4637582"/>
            <a:ext cx="2962275" cy="1943100"/>
          </a:xfrm>
          <a:prstGeom prst="rect">
            <a:avLst/>
          </a:prstGeom>
        </p:spPr>
      </p:pic>
      <p:pic>
        <p:nvPicPr>
          <p:cNvPr id="21" name="图片 20" descr="图表, 散点图&#10;&#10;AI 生成的内容可能不正确。">
            <a:extLst>
              <a:ext uri="{FF2B5EF4-FFF2-40B4-BE49-F238E27FC236}">
                <a16:creationId xmlns:a16="http://schemas.microsoft.com/office/drawing/2014/main" id="{5DD89924-1DD0-302A-B0AF-84BB22A14D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7821" y="4658706"/>
            <a:ext cx="3038475" cy="1971675"/>
          </a:xfrm>
          <a:prstGeom prst="rect">
            <a:avLst/>
          </a:prstGeom>
        </p:spPr>
      </p:pic>
      <p:sp>
        <p:nvSpPr>
          <p:cNvPr id="22" name="箭头: 右 21">
            <a:extLst>
              <a:ext uri="{FF2B5EF4-FFF2-40B4-BE49-F238E27FC236}">
                <a16:creationId xmlns:a16="http://schemas.microsoft.com/office/drawing/2014/main" id="{D0B77C70-93D9-E217-3CBA-AA26D5C9F82F}"/>
              </a:ext>
            </a:extLst>
          </p:cNvPr>
          <p:cNvSpPr/>
          <p:nvPr/>
        </p:nvSpPr>
        <p:spPr>
          <a:xfrm>
            <a:off x="2855792" y="2372264"/>
            <a:ext cx="1594048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DF147A1D-1B87-DEB9-6266-2844D24A12C5}"/>
              </a:ext>
            </a:extLst>
          </p:cNvPr>
          <p:cNvSpPr/>
          <p:nvPr/>
        </p:nvSpPr>
        <p:spPr>
          <a:xfrm>
            <a:off x="7298173" y="2313047"/>
            <a:ext cx="1940718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699FEA1-2053-136B-58CE-155F84AEDE09}"/>
              </a:ext>
            </a:extLst>
          </p:cNvPr>
          <p:cNvSpPr/>
          <p:nvPr/>
        </p:nvSpPr>
        <p:spPr>
          <a:xfrm>
            <a:off x="-2" y="5440917"/>
            <a:ext cx="2594288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E7BAF4E-B9F4-620D-F8E6-8A25405B3361}"/>
              </a:ext>
            </a:extLst>
          </p:cNvPr>
          <p:cNvSpPr/>
          <p:nvPr/>
        </p:nvSpPr>
        <p:spPr>
          <a:xfrm>
            <a:off x="5491408" y="5476329"/>
            <a:ext cx="3156413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46CB7F-EF89-2B0B-B5C0-A1B4C29B9F3A}"/>
              </a:ext>
            </a:extLst>
          </p:cNvPr>
          <p:cNvSpPr txBox="1"/>
          <p:nvPr/>
        </p:nvSpPr>
        <p:spPr>
          <a:xfrm>
            <a:off x="301925" y="3526315"/>
            <a:ext cx="2292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Step1.</a:t>
            </a:r>
            <a:r>
              <a:rPr lang="zh-CN" altLang="en-US" sz="1400" dirty="0"/>
              <a:t>只有一个</a:t>
            </a:r>
            <a:r>
              <a:rPr lang="en-US" altLang="zh-CN" sz="1400" dirty="0"/>
              <a:t>node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1E05CA-B19D-FDF0-17F3-B5C887AA0A16}"/>
              </a:ext>
            </a:extLst>
          </p:cNvPr>
          <p:cNvSpPr txBox="1"/>
          <p:nvPr/>
        </p:nvSpPr>
        <p:spPr>
          <a:xfrm>
            <a:off x="4449840" y="3452812"/>
            <a:ext cx="35899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Step2.</a:t>
            </a:r>
            <a:r>
              <a:rPr lang="zh-CN" altLang="en-US" sz="1400" dirty="0"/>
              <a:t>第一次分裂</a:t>
            </a:r>
            <a:endParaRPr lang="en-US" altLang="zh-CN" sz="1400" dirty="0"/>
          </a:p>
          <a:p>
            <a:r>
              <a:rPr lang="en-US" altLang="zh-CN" sz="1400" dirty="0"/>
              <a:t>1node</a:t>
            </a:r>
            <a:r>
              <a:rPr lang="zh-CN" altLang="en-US" sz="1400" dirty="0"/>
              <a:t>分裂为</a:t>
            </a:r>
            <a:r>
              <a:rPr lang="en-US" altLang="zh-CN" sz="1400" dirty="0"/>
              <a:t>4</a:t>
            </a:r>
            <a:r>
              <a:rPr lang="zh-CN" altLang="en-US" sz="1400" dirty="0"/>
              <a:t>个</a:t>
            </a:r>
            <a:r>
              <a:rPr lang="en-US" altLang="zh-CN" sz="1400" dirty="0"/>
              <a:t>node</a:t>
            </a:r>
          </a:p>
          <a:p>
            <a:r>
              <a:rPr lang="en-US" altLang="zh-CN" sz="1400" dirty="0"/>
              <a:t>Node</a:t>
            </a:r>
            <a:r>
              <a:rPr lang="zh-CN" altLang="en-US" sz="1400" dirty="0"/>
              <a:t>数量</a:t>
            </a:r>
            <a:r>
              <a:rPr lang="en-US" altLang="zh-CN" sz="1400" dirty="0"/>
              <a:t>4&lt;25</a:t>
            </a:r>
            <a:r>
              <a:rPr lang="zh-CN" altLang="en-US" sz="1400" dirty="0"/>
              <a:t>，还要接着分裂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35ABCB8-AFEA-284C-23C2-52C1ED88D5AA}"/>
              </a:ext>
            </a:extLst>
          </p:cNvPr>
          <p:cNvSpPr txBox="1"/>
          <p:nvPr/>
        </p:nvSpPr>
        <p:spPr>
          <a:xfrm>
            <a:off x="9177116" y="3428999"/>
            <a:ext cx="3523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Step3.</a:t>
            </a:r>
            <a:r>
              <a:rPr lang="zh-CN" altLang="en-US" sz="1400" dirty="0"/>
              <a:t>第二次分裂</a:t>
            </a:r>
            <a:endParaRPr lang="en-US" altLang="zh-CN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DE4E892-9D9E-E39C-C841-01527AC31B9C}"/>
              </a:ext>
            </a:extLst>
          </p:cNvPr>
          <p:cNvSpPr txBox="1"/>
          <p:nvPr/>
        </p:nvSpPr>
        <p:spPr>
          <a:xfrm>
            <a:off x="2594286" y="6461445"/>
            <a:ext cx="3523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Step4.</a:t>
            </a:r>
            <a:r>
              <a:rPr lang="zh-CN" altLang="en-US" sz="1400" dirty="0"/>
              <a:t>第三次分裂</a:t>
            </a:r>
            <a:endParaRPr lang="en-US" altLang="zh-CN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F2BA03-08CF-B247-DC5C-2AB7E14A2ADA}"/>
              </a:ext>
            </a:extLst>
          </p:cNvPr>
          <p:cNvSpPr txBox="1"/>
          <p:nvPr/>
        </p:nvSpPr>
        <p:spPr>
          <a:xfrm>
            <a:off x="8585544" y="6497617"/>
            <a:ext cx="3523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Step5.</a:t>
            </a:r>
            <a:r>
              <a:rPr lang="zh-CN" altLang="en-US" sz="1400" dirty="0"/>
              <a:t>第三次分裂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95168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E8D7-852C-87B7-04D0-8093ED64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9CF5F0E-A7E4-FF12-4B84-2CF5F1A78F0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AC29DD4-4C6A-5527-26F4-B7F09FF96BFD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F7C1E8-AA8F-F2F3-3C4D-FA33F9A9E030}"/>
              </a:ext>
            </a:extLst>
          </p:cNvPr>
          <p:cNvSpPr txBox="1"/>
          <p:nvPr/>
        </p:nvSpPr>
        <p:spPr>
          <a:xfrm>
            <a:off x="5052390" y="59970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计算特征点方向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0121E4-C689-DD0D-719A-FDB1D0F4166E}"/>
              </a:ext>
            </a:extLst>
          </p:cNvPr>
          <p:cNvSpPr txBox="1"/>
          <p:nvPr/>
        </p:nvSpPr>
        <p:spPr>
          <a:xfrm>
            <a:off x="276045" y="1362974"/>
            <a:ext cx="1099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   </a:t>
            </a:r>
            <a:r>
              <a:rPr lang="zh-CN" altLang="en-US" b="1" dirty="0"/>
              <a:t>给每一个 特征点分配一个主方向（</a:t>
            </a:r>
            <a:r>
              <a:rPr lang="en-US" altLang="zh-CN" b="1" dirty="0"/>
              <a:t>orientation</a:t>
            </a:r>
            <a:r>
              <a:rPr lang="zh-CN" altLang="en-US" b="1" dirty="0"/>
              <a:t>）</a:t>
            </a:r>
            <a:r>
              <a:rPr lang="zh-CN" altLang="en-US" dirty="0"/>
              <a:t>，从而让</a:t>
            </a:r>
            <a:r>
              <a:rPr lang="zh-CN" altLang="en-US" b="1" dirty="0"/>
              <a:t>特征点</a:t>
            </a:r>
            <a:r>
              <a:rPr lang="zh-CN" altLang="en-US" dirty="0"/>
              <a:t>描述子具备 </a:t>
            </a:r>
            <a:r>
              <a:rPr lang="zh-CN" altLang="en-US" b="1" dirty="0"/>
              <a:t>旋转不变性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BD65D4B-6C26-8413-AA13-889895DCDB7D}"/>
                  </a:ext>
                </a:extLst>
              </p:cNvPr>
              <p:cNvSpPr txBox="1"/>
              <p:nvPr/>
            </p:nvSpPr>
            <p:spPr>
              <a:xfrm>
                <a:off x="1362973" y="2087478"/>
                <a:ext cx="2123017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BD65D4B-6C26-8413-AA13-889895DCD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973" y="2087478"/>
                <a:ext cx="2123017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402678D-501D-8E27-0896-825B7DD88CB0}"/>
                  </a:ext>
                </a:extLst>
              </p:cNvPr>
              <p:cNvSpPr txBox="1"/>
              <p:nvPr/>
            </p:nvSpPr>
            <p:spPr>
              <a:xfrm>
                <a:off x="1362972" y="2758239"/>
                <a:ext cx="211339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01=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402678D-501D-8E27-0896-825B7DD88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972" y="2758239"/>
                <a:ext cx="2113399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4BB2C0-F56C-1191-BCF0-675AFED51C78}"/>
                  </a:ext>
                </a:extLst>
              </p:cNvPr>
              <p:cNvSpPr txBox="1"/>
              <p:nvPr/>
            </p:nvSpPr>
            <p:spPr>
              <a:xfrm>
                <a:off x="7298961" y="2500252"/>
                <a:ext cx="1086929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4BB2C0-F56C-1191-BCF0-675AFED51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961" y="2500252"/>
                <a:ext cx="1086929" cy="524824"/>
              </a:xfrm>
              <a:prstGeom prst="rect">
                <a:avLst/>
              </a:prstGeom>
              <a:blipFill>
                <a:blip r:embed="rId5"/>
                <a:stretch>
                  <a:fillRect l="-16760" t="-1163" b="-22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86F916-8AAF-5E77-C367-14BFE88A8826}"/>
                  </a:ext>
                </a:extLst>
              </p:cNvPr>
              <p:cNvSpPr txBox="1"/>
              <p:nvPr/>
            </p:nvSpPr>
            <p:spPr>
              <a:xfrm>
                <a:off x="7951694" y="2495827"/>
                <a:ext cx="842513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altLang="zh-CN" sz="2400" dirty="0"/>
                  <a:t>)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86F916-8AAF-5E77-C367-14BFE88A8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694" y="2495827"/>
                <a:ext cx="842513" cy="524824"/>
              </a:xfrm>
              <a:prstGeom prst="rect">
                <a:avLst/>
              </a:prstGeom>
              <a:blipFill>
                <a:blip r:embed="rId6"/>
                <a:stretch>
                  <a:fillRect t="-1149" b="-20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DA084DCB-CC70-D1FE-023C-CE47F4765473}"/>
              </a:ext>
            </a:extLst>
          </p:cNvPr>
          <p:cNvSpPr txBox="1"/>
          <p:nvPr/>
        </p:nvSpPr>
        <p:spPr>
          <a:xfrm>
            <a:off x="766096" y="4571696"/>
            <a:ext cx="5627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特征点周围是一堆“亮点”</a:t>
            </a:r>
            <a:endParaRPr lang="en-US" altLang="zh-CN" dirty="0"/>
          </a:p>
          <a:p>
            <a:r>
              <a:rPr lang="zh-CN" altLang="en-US" dirty="0"/>
              <a:t>亮点分布不均 → 质心偏向某个方向</a:t>
            </a:r>
            <a:endParaRPr lang="en-US" altLang="zh-CN" dirty="0"/>
          </a:p>
          <a:p>
            <a:r>
              <a:rPr lang="zh-CN" altLang="en-US" dirty="0"/>
              <a:t>从特征点指向质心的方向 </a:t>
            </a:r>
            <a:r>
              <a:rPr lang="en-US" altLang="zh-CN" dirty="0"/>
              <a:t>= </a:t>
            </a:r>
            <a:r>
              <a:rPr lang="zh-CN" altLang="en-US" dirty="0"/>
              <a:t>主方向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E5F00-0A15-8132-1C6D-4522737C605D}"/>
              </a:ext>
            </a:extLst>
          </p:cNvPr>
          <p:cNvSpPr txBox="1"/>
          <p:nvPr/>
        </p:nvSpPr>
        <p:spPr>
          <a:xfrm>
            <a:off x="6565868" y="4294697"/>
            <a:ext cx="491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如果图像旋转了：</a:t>
            </a:r>
            <a:endParaRPr lang="en-US" altLang="zh-CN" dirty="0"/>
          </a:p>
          <a:p>
            <a:r>
              <a:rPr lang="zh-CN" altLang="en-US" dirty="0"/>
              <a:t>质心方向也会一起旋转</a:t>
            </a:r>
            <a:endParaRPr lang="en-US" altLang="zh-CN" dirty="0"/>
          </a:p>
          <a:p>
            <a:r>
              <a:rPr lang="zh-CN" altLang="en-US" dirty="0"/>
              <a:t>描述子跟着旋转</a:t>
            </a:r>
            <a:endParaRPr lang="en-US" altLang="zh-CN" dirty="0"/>
          </a:p>
          <a:p>
            <a:r>
              <a:rPr lang="zh-CN" altLang="en-US" dirty="0"/>
              <a:t>匹配仍然成立</a:t>
            </a:r>
          </a:p>
        </p:txBody>
      </p:sp>
    </p:spTree>
    <p:extLst>
      <p:ext uri="{BB962C8B-B14F-4D97-AF65-F5344CB8AC3E}">
        <p14:creationId xmlns:p14="http://schemas.microsoft.com/office/powerpoint/2010/main" val="300151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5B8A-78BF-5280-AD7F-85DA69E1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1039AC9-9791-DA4F-97C5-7A64277FF5E5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6A24D74-A9AA-2A24-F580-70DDEEBB131D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ECA693-10C0-5D9C-EC0E-7215749E1051}"/>
              </a:ext>
            </a:extLst>
          </p:cNvPr>
          <p:cNvSpPr txBox="1"/>
          <p:nvPr/>
        </p:nvSpPr>
        <p:spPr>
          <a:xfrm>
            <a:off x="5052390" y="59970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特征点描述子</a:t>
            </a:r>
          </a:p>
        </p:txBody>
      </p:sp>
      <p:pic>
        <p:nvPicPr>
          <p:cNvPr id="3" name="图片 2" descr="一棵树&#10;&#10;AI 生成的内容可能不正确。">
            <a:extLst>
              <a:ext uri="{FF2B5EF4-FFF2-40B4-BE49-F238E27FC236}">
                <a16:creationId xmlns:a16="http://schemas.microsoft.com/office/drawing/2014/main" id="{F57F62F9-3D49-1A79-37AD-91A85E468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964" y="1372355"/>
            <a:ext cx="1205182" cy="1167224"/>
          </a:xfrm>
          <a:prstGeom prst="rect">
            <a:avLst/>
          </a:prstGeom>
        </p:spPr>
      </p:pic>
      <p:pic>
        <p:nvPicPr>
          <p:cNvPr id="10" name="图片 9" descr="图片包含 游戏机, 塔&#10;&#10;AI 生成的内容可能不正确。">
            <a:extLst>
              <a:ext uri="{FF2B5EF4-FFF2-40B4-BE49-F238E27FC236}">
                <a16:creationId xmlns:a16="http://schemas.microsoft.com/office/drawing/2014/main" id="{A686AC03-4760-E50B-2842-064B79659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300" y="1415657"/>
            <a:ext cx="1119529" cy="1124044"/>
          </a:xfrm>
          <a:prstGeom prst="rect">
            <a:avLst/>
          </a:prstGeom>
        </p:spPr>
      </p:pic>
      <p:pic>
        <p:nvPicPr>
          <p:cNvPr id="12" name="图片 11" descr="图片包含 游戏机&#10;&#10;AI 生成的内容可能不正确。">
            <a:extLst>
              <a:ext uri="{FF2B5EF4-FFF2-40B4-BE49-F238E27FC236}">
                <a16:creationId xmlns:a16="http://schemas.microsoft.com/office/drawing/2014/main" id="{7E686982-5F89-E577-5539-E1FD5C5C2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917516" y="1422334"/>
            <a:ext cx="1124044" cy="1124044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1BC4C629-29C7-68CA-A3E7-D1E65805D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688152"/>
            <a:ext cx="2774830" cy="2694066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69C1B5B9-3633-24C4-A2FC-C02E85641A16}"/>
              </a:ext>
            </a:extLst>
          </p:cNvPr>
          <p:cNvSpPr/>
          <p:nvPr/>
        </p:nvSpPr>
        <p:spPr>
          <a:xfrm>
            <a:off x="2978555" y="4887692"/>
            <a:ext cx="3209365" cy="239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 descr="图片包含 图示&#10;&#10;AI 生成的内容可能不正确。">
            <a:extLst>
              <a:ext uri="{FF2B5EF4-FFF2-40B4-BE49-F238E27FC236}">
                <a16:creationId xmlns:a16="http://schemas.microsoft.com/office/drawing/2014/main" id="{6BDBFE81-E035-D0A8-0F67-1B93450B71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8109" y="3724801"/>
            <a:ext cx="2875336" cy="280389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E3D1351-2B44-D5DB-7E4F-5584C47738BB}"/>
              </a:ext>
            </a:extLst>
          </p:cNvPr>
          <p:cNvSpPr txBox="1"/>
          <p:nvPr/>
        </p:nvSpPr>
        <p:spPr>
          <a:xfrm>
            <a:off x="304800" y="2829023"/>
            <a:ext cx="990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用一个短小、稳定、可快速比较的“指纹”，来判断两个特征点是不是来自同一个真实世界点。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010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CBD4F-F92E-3FEF-DD3C-57E24812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A545168-AA36-91C3-0210-2E6C19E1462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432041D-8D28-0407-CC8A-B67562C48672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SLAM</a:t>
            </a:r>
            <a:r>
              <a:rPr lang="zh-CN" altLang="en-US" sz="2400" dirty="0"/>
              <a:t>与语义分割结合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D4D67B-0B98-98CF-7772-418DBB5EB1D7}"/>
              </a:ext>
            </a:extLst>
          </p:cNvPr>
          <p:cNvSpPr txBox="1"/>
          <p:nvPr/>
        </p:nvSpPr>
        <p:spPr>
          <a:xfrm>
            <a:off x="240486" y="3901799"/>
            <a:ext cx="11224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特征在静态环境下表现很好，但在室内场景中，行人动态目标会严重影响 </a:t>
            </a:r>
            <a:r>
              <a:rPr lang="en-US" altLang="zh-CN" dirty="0"/>
              <a:t>SLAM </a:t>
            </a:r>
            <a:r>
              <a:rPr lang="zh-CN" altLang="en-US" dirty="0"/>
              <a:t>的稳定性</a:t>
            </a:r>
            <a:endParaRPr lang="en-US" altLang="zh-CN" dirty="0"/>
          </a:p>
          <a:p>
            <a:r>
              <a:rPr lang="zh-CN" altLang="en-US" dirty="0"/>
              <a:t>缺点：每一帧增加加了太多的特征点，影响后续的匹配和跟踪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17F18E-86C4-49C6-E242-E3AC0B38A87E}"/>
              </a:ext>
            </a:extLst>
          </p:cNvPr>
          <p:cNvSpPr txBox="1"/>
          <p:nvPr/>
        </p:nvSpPr>
        <p:spPr>
          <a:xfrm>
            <a:off x="455640" y="1338730"/>
            <a:ext cx="698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特征点只看亮度突变，空间的分配均匀，不关心特征点结构信息</a:t>
            </a:r>
            <a:endParaRPr lang="en-US" altLang="zh-CN" dirty="0"/>
          </a:p>
          <a:p>
            <a:r>
              <a:rPr lang="zh-CN" altLang="en-US" dirty="0"/>
              <a:t>缺点：没有考虑到角点的本身信息</a:t>
            </a:r>
          </a:p>
        </p:txBody>
      </p:sp>
    </p:spTree>
    <p:extLst>
      <p:ext uri="{BB962C8B-B14F-4D97-AF65-F5344CB8AC3E}">
        <p14:creationId xmlns:p14="http://schemas.microsoft.com/office/powerpoint/2010/main" val="14973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E189-46D3-CAF5-7DBB-741EF468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8C4313C-58A8-3230-B024-4A3C0A2B55D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8B9FA42-AEF2-0E71-0E37-2535756895C3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b="1" dirty="0"/>
              <a:t>局部梯度能量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6D909B-2BD2-D4A8-B1E7-C3B636A4A186}"/>
              </a:ext>
            </a:extLst>
          </p:cNvPr>
          <p:cNvSpPr txBox="1"/>
          <p:nvPr/>
        </p:nvSpPr>
        <p:spPr>
          <a:xfrm>
            <a:off x="455640" y="1386541"/>
            <a:ext cx="11483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利用梯度信息刻画角点邻域的结构复杂度和信息量，从而提升特征点的判别能力</a:t>
            </a:r>
            <a:endParaRPr lang="en-US" altLang="zh-CN" dirty="0"/>
          </a:p>
          <a:p>
            <a:r>
              <a:rPr lang="zh-CN" altLang="en-US" dirty="0"/>
              <a:t>梯度定义：</a:t>
            </a:r>
            <a:endParaRPr lang="en-US" altLang="zh-CN" dirty="0"/>
          </a:p>
          <a:p>
            <a:r>
              <a:rPr lang="en-US" altLang="zh-CN" dirty="0"/>
              <a:t>		</a:t>
            </a:r>
          </a:p>
          <a:p>
            <a:r>
              <a:rPr lang="en-US" altLang="zh-CN" dirty="0"/>
              <a:t>	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5D70AFB6-DD4E-EBD8-EEDF-86CF63ECF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697" y="4942356"/>
            <a:ext cx="4113960" cy="956006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D3C9FD54-C34A-9078-1233-537D5011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" y="2100087"/>
            <a:ext cx="4566024" cy="19109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EA72AC-B4D2-EB6A-6498-1279238566EE}"/>
                  </a:ext>
                </a:extLst>
              </p:cNvPr>
              <p:cNvSpPr txBox="1"/>
              <p:nvPr/>
            </p:nvSpPr>
            <p:spPr>
              <a:xfrm>
                <a:off x="573741" y="4181484"/>
                <a:ext cx="54505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在以特征点为中心的局部邻域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/>
                      <m:t>Ω</m:t>
                    </m:r>
                  </m:oMath>
                </a14:m>
                <a:r>
                  <a:rPr lang="zh-CN" altLang="en-US" dirty="0"/>
                  <a:t>内，定义梯度能量为：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EA72AC-B4D2-EB6A-6498-127923856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41" y="4181484"/>
                <a:ext cx="5450541" cy="369332"/>
              </a:xfrm>
              <a:prstGeom prst="rect">
                <a:avLst/>
              </a:prstGeom>
              <a:blipFill>
                <a:blip r:embed="rId4"/>
                <a:stretch>
                  <a:fillRect l="-895" t="-9836" r="-514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7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F704-772A-E014-AE19-6C9C9E79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EAE532A-DDF5-FA21-33AB-F6E9A008176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61F7432-313E-BBA9-E74B-B30BF0B0438A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SLAM</a:t>
            </a:r>
            <a:r>
              <a:rPr lang="zh-CN" altLang="en-US" sz="2400" dirty="0"/>
              <a:t>与语义分割结合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E22DA1-19BD-7976-3FBF-B10EB6DF124E}"/>
              </a:ext>
            </a:extLst>
          </p:cNvPr>
          <p:cNvSpPr txBox="1"/>
          <p:nvPr/>
        </p:nvSpPr>
        <p:spPr>
          <a:xfrm>
            <a:off x="410577" y="1497584"/>
            <a:ext cx="11281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传统角点筛选方法主要关注空间均匀性，容易保留结构信息不足的弱角点</a:t>
            </a:r>
            <a:endParaRPr lang="en-US" altLang="zh-CN" dirty="0"/>
          </a:p>
          <a:p>
            <a:r>
              <a:rPr lang="zh-CN" altLang="en-US" dirty="0"/>
              <a:t>通过引入局部梯度能量作为补充约束，可以在保证特征点分布均匀的同时</a:t>
            </a:r>
            <a:endParaRPr lang="en-US" altLang="zh-CN" dirty="0"/>
          </a:p>
          <a:p>
            <a:r>
              <a:rPr lang="zh-CN" altLang="en-US" dirty="0"/>
              <a:t>有效筛选出具有更丰富局部结构和更强判别能力的特征点</a:t>
            </a:r>
            <a:endParaRPr lang="en-US" altLang="zh-CN" dirty="0"/>
          </a:p>
          <a:p>
            <a:r>
              <a:rPr lang="zh-CN" altLang="en-US" dirty="0"/>
              <a:t>从而提升后续特征匹配和视觉 </a:t>
            </a:r>
            <a:r>
              <a:rPr lang="en-US" altLang="zh-CN" dirty="0"/>
              <a:t>SLAM </a:t>
            </a:r>
            <a:r>
              <a:rPr lang="zh-CN" altLang="en-US" dirty="0"/>
              <a:t>系统的整体性能</a:t>
            </a:r>
          </a:p>
        </p:txBody>
      </p:sp>
    </p:spTree>
    <p:extLst>
      <p:ext uri="{BB962C8B-B14F-4D97-AF65-F5344CB8AC3E}">
        <p14:creationId xmlns:p14="http://schemas.microsoft.com/office/powerpoint/2010/main" val="246040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6399-B508-465A-3F61-8AD0E8F7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FF501C1-DEC2-FE28-8F07-B22801BAD664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C82ACBA-F9DA-3828-62B0-1F3D5F95A0C8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</a:rPr>
              <a:t>研究背景及意义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2FE572-4D0F-C5E3-1251-FAF4E66ACDAC}"/>
              </a:ext>
            </a:extLst>
          </p:cNvPr>
          <p:cNvSpPr txBox="1"/>
          <p:nvPr/>
        </p:nvSpPr>
        <p:spPr>
          <a:xfrm>
            <a:off x="391459" y="1470212"/>
            <a:ext cx="5704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语义分割的对图像的理解是像素级别的。</a:t>
            </a:r>
          </a:p>
        </p:txBody>
      </p:sp>
      <p:pic>
        <p:nvPicPr>
          <p:cNvPr id="6" name="图片 5" descr="狗的照片上写着字&#10;&#10;AI 生成的内容可能不正确。">
            <a:extLst>
              <a:ext uri="{FF2B5EF4-FFF2-40B4-BE49-F238E27FC236}">
                <a16:creationId xmlns:a16="http://schemas.microsoft.com/office/drawing/2014/main" id="{C6B0169B-9C20-7DA8-F7BF-7EACB67C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20" y="2648185"/>
            <a:ext cx="4399200" cy="1905885"/>
          </a:xfrm>
          <a:prstGeom prst="rect">
            <a:avLst/>
          </a:prstGeom>
        </p:spPr>
      </p:pic>
      <p:pic>
        <p:nvPicPr>
          <p:cNvPr id="10" name="图片 9" descr="穿着蓝色衣服的卡通人物&#10;&#10;AI 生成的内容可能不正确。">
            <a:extLst>
              <a:ext uri="{FF2B5EF4-FFF2-40B4-BE49-F238E27FC236}">
                <a16:creationId xmlns:a16="http://schemas.microsoft.com/office/drawing/2014/main" id="{3279B902-120C-2B46-0F18-9ABA780D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202" y="2511572"/>
            <a:ext cx="3443069" cy="2042498"/>
          </a:xfrm>
          <a:prstGeom prst="rect">
            <a:avLst/>
          </a:prstGeom>
        </p:spPr>
      </p:pic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8365C429-BDE6-D2D8-7416-328B1D623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437" y="2717539"/>
            <a:ext cx="3147643" cy="17671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590BF3B-5089-8686-81AD-45FEAAC4C18E}"/>
              </a:ext>
            </a:extLst>
          </p:cNvPr>
          <p:cNvSpPr txBox="1"/>
          <p:nvPr/>
        </p:nvSpPr>
        <p:spPr>
          <a:xfrm>
            <a:off x="1039906" y="4793129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目标检测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9391F7-6207-120E-D4FA-7FDD36BA6A02}"/>
              </a:ext>
            </a:extLst>
          </p:cNvPr>
          <p:cNvSpPr txBox="1"/>
          <p:nvPr/>
        </p:nvSpPr>
        <p:spPr>
          <a:xfrm>
            <a:off x="5441577" y="4760863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2A3551-4BEF-F8DD-25BB-1CA4DA825A23}"/>
              </a:ext>
            </a:extLst>
          </p:cNvPr>
          <p:cNvSpPr txBox="1"/>
          <p:nvPr/>
        </p:nvSpPr>
        <p:spPr>
          <a:xfrm>
            <a:off x="9377083" y="4793129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示例分割</a:t>
            </a:r>
          </a:p>
        </p:txBody>
      </p:sp>
    </p:spTree>
    <p:extLst>
      <p:ext uri="{BB962C8B-B14F-4D97-AF65-F5344CB8AC3E}">
        <p14:creationId xmlns:p14="http://schemas.microsoft.com/office/powerpoint/2010/main" val="322625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F79E-6CDB-65D3-6F11-276F898E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C5F06FF-3BA9-EAC2-D6B9-4AC9E704DD9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09F053D-7D3D-27FF-F460-498CAAD29C2C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SLAM</a:t>
            </a:r>
            <a:r>
              <a:rPr lang="zh-CN" altLang="en-US" sz="2400" dirty="0"/>
              <a:t>与语义分割结合</a:t>
            </a:r>
          </a:p>
        </p:txBody>
      </p:sp>
    </p:spTree>
    <p:extLst>
      <p:ext uri="{BB962C8B-B14F-4D97-AF65-F5344CB8AC3E}">
        <p14:creationId xmlns:p14="http://schemas.microsoft.com/office/powerpoint/2010/main" val="13810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132F-6692-1CC7-E7CE-C26D5811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BA2A33-DBAA-DC43-7CA5-12CC1AA9E58B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C13FBA7-AD59-39AD-972F-266221659936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SLAM</a:t>
            </a:r>
            <a:r>
              <a:rPr lang="zh-CN" altLang="en-US" sz="2400" dirty="0"/>
              <a:t>与语义分割结合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938399-71CD-BD6D-4D61-8CBBC784ECBC}"/>
              </a:ext>
            </a:extLst>
          </p:cNvPr>
          <p:cNvSpPr txBox="1"/>
          <p:nvPr/>
        </p:nvSpPr>
        <p:spPr>
          <a:xfrm>
            <a:off x="455641" y="1386541"/>
            <a:ext cx="10457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复合特征，由两部分组成：</a:t>
            </a:r>
          </a:p>
          <a:p>
            <a:r>
              <a:rPr lang="zh-CN" altLang="en-US" dirty="0"/>
              <a:t>关键点：位置 </a:t>
            </a:r>
            <a:r>
              <a:rPr lang="en-US" altLang="zh-CN" dirty="0"/>
              <a:t>+ </a:t>
            </a:r>
            <a:r>
              <a:rPr lang="zh-CN" altLang="en-US" dirty="0"/>
              <a:t>尺度 </a:t>
            </a:r>
            <a:r>
              <a:rPr lang="en-US" altLang="zh-CN" dirty="0"/>
              <a:t>+ </a:t>
            </a:r>
            <a:r>
              <a:rPr lang="zh-CN" altLang="en-US" dirty="0"/>
              <a:t>方向</a:t>
            </a:r>
          </a:p>
          <a:p>
            <a:r>
              <a:rPr lang="zh-CN" altLang="en-US" dirty="0"/>
              <a:t>描述子：</a:t>
            </a:r>
            <a:r>
              <a:rPr lang="en-US" altLang="zh-CN" dirty="0"/>
              <a:t>256 </a:t>
            </a:r>
            <a:r>
              <a:rPr lang="zh-CN" altLang="en-US" dirty="0"/>
              <a:t>位二进制向量</a:t>
            </a:r>
            <a:r>
              <a:rPr lang="en-US" altLang="zh-CN" dirty="0"/>
              <a:t>(</a:t>
            </a:r>
            <a:r>
              <a:rPr lang="zh-CN" altLang="en-US" dirty="0"/>
              <a:t>汉明距离）</a:t>
            </a:r>
          </a:p>
          <a:p>
            <a:r>
              <a:rPr lang="zh-CN" altLang="en-US" dirty="0"/>
              <a:t>在保证鲁棒性的同时，具有较高的计算效率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A4F771-84B8-DC2C-3610-149A1DC66A94}"/>
              </a:ext>
            </a:extLst>
          </p:cNvPr>
          <p:cNvSpPr txBox="1"/>
          <p:nvPr/>
        </p:nvSpPr>
        <p:spPr>
          <a:xfrm>
            <a:off x="441571" y="3533944"/>
            <a:ext cx="10029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前面我们介绍的特征在静态环境下表现很好，但在真实场景中，行人、车辆等动态目标会严重影响 </a:t>
            </a:r>
            <a:r>
              <a:rPr lang="en-US" altLang="zh-CN" dirty="0"/>
              <a:t>SLAM </a:t>
            </a:r>
            <a:r>
              <a:rPr lang="zh-CN" altLang="en-US" dirty="0"/>
              <a:t>的稳定性</a:t>
            </a:r>
          </a:p>
        </p:txBody>
      </p:sp>
    </p:spTree>
    <p:extLst>
      <p:ext uri="{BB962C8B-B14F-4D97-AF65-F5344CB8AC3E}">
        <p14:creationId xmlns:p14="http://schemas.microsoft.com/office/powerpoint/2010/main" val="269720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8069-4FFA-E823-11DC-BFF87CEF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3ACE7F8-ED52-45AB-80C6-6D47EA624F2C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FC67AAD-A866-30A9-322D-004242BC1FDB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8AAB65-2137-F4E6-0718-D73FB38CA111}"/>
              </a:ext>
            </a:extLst>
          </p:cNvPr>
          <p:cNvSpPr txBox="1"/>
          <p:nvPr/>
        </p:nvSpPr>
        <p:spPr>
          <a:xfrm>
            <a:off x="238664" y="1293960"/>
            <a:ext cx="895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Track Local Map </a:t>
            </a:r>
            <a:r>
              <a:rPr lang="zh-CN" altLang="en-US"/>
              <a:t>是 </a:t>
            </a:r>
            <a:r>
              <a:rPr lang="en-US" altLang="zh-CN"/>
              <a:t>SLAM </a:t>
            </a:r>
            <a:r>
              <a:rPr lang="zh-CN" altLang="en-US"/>
              <a:t>中利用局部关键帧和地图点，通过重投影误差最小化来精确估计当前相机位姿的过程。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A5C5E5-FAA7-45FB-DC6D-C9F2B9C78A33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FD565C-70A6-CD61-44EE-0A23C9BD1825}"/>
              </a:ext>
            </a:extLst>
          </p:cNvPr>
          <p:cNvSpPr txBox="1"/>
          <p:nvPr/>
        </p:nvSpPr>
        <p:spPr>
          <a:xfrm>
            <a:off x="5052390" y="5997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撒旦法</a:t>
            </a:r>
          </a:p>
        </p:txBody>
      </p:sp>
    </p:spTree>
    <p:extLst>
      <p:ext uri="{BB962C8B-B14F-4D97-AF65-F5344CB8AC3E}">
        <p14:creationId xmlns:p14="http://schemas.microsoft.com/office/powerpoint/2010/main" val="376911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1276-B627-681A-D494-68CF1996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32D0590-5CBF-8439-C953-48FD5893F17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75C772D-26BA-FD83-1324-0570D040D36E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3EB070-9201-105E-7E99-5AA97BB51228}"/>
              </a:ext>
            </a:extLst>
          </p:cNvPr>
          <p:cNvSpPr txBox="1"/>
          <p:nvPr/>
        </p:nvSpPr>
        <p:spPr>
          <a:xfrm>
            <a:off x="238664" y="1293960"/>
            <a:ext cx="89570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关键帧</a:t>
            </a:r>
            <a:endParaRPr lang="en-US" altLang="zh-CN" dirty="0"/>
          </a:p>
          <a:p>
            <a:r>
              <a:rPr lang="zh-CN" altLang="en-US" b="1" dirty="0"/>
              <a:t>关键帧 </a:t>
            </a:r>
            <a:r>
              <a:rPr lang="en-US" altLang="zh-CN" b="1" dirty="0"/>
              <a:t>= </a:t>
            </a:r>
            <a:r>
              <a:rPr lang="zh-CN" altLang="en-US" b="1" dirty="0"/>
              <a:t>对地图有长期价值的帧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相机在不断拍视频，但 </a:t>
            </a:r>
            <a:r>
              <a:rPr lang="en-US" altLang="zh-CN" dirty="0"/>
              <a:t>SLAM </a:t>
            </a:r>
            <a:r>
              <a:rPr lang="zh-CN" altLang="en-US" dirty="0"/>
              <a:t>只会“截图”</a:t>
            </a:r>
            <a:br>
              <a:rPr lang="zh-CN" altLang="en-US" dirty="0"/>
            </a:br>
            <a:r>
              <a:rPr lang="zh-CN" altLang="en-US" dirty="0"/>
              <a:t>只有当画面</a:t>
            </a:r>
            <a:r>
              <a:rPr lang="zh-CN" altLang="en-US" b="1" dirty="0"/>
              <a:t>变化足够大、信息足够多</a:t>
            </a:r>
            <a:r>
              <a:rPr lang="zh-CN" altLang="en-US" dirty="0"/>
              <a:t>，才截图保存。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6DE6F1-8ED5-CA3A-778C-444B2133B9D5}"/>
              </a:ext>
            </a:extLst>
          </p:cNvPr>
          <p:cNvSpPr txBox="1"/>
          <p:nvPr/>
        </p:nvSpPr>
        <p:spPr>
          <a:xfrm>
            <a:off x="5052390" y="5997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撒旦法</a:t>
            </a:r>
          </a:p>
        </p:txBody>
      </p:sp>
    </p:spTree>
    <p:extLst>
      <p:ext uri="{BB962C8B-B14F-4D97-AF65-F5344CB8AC3E}">
        <p14:creationId xmlns:p14="http://schemas.microsoft.com/office/powerpoint/2010/main" val="29011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A0BC-C799-6CDE-CCD4-7D8E01D9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C40168A-76FD-F84C-4B91-6DBC61935094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AF27B0E-B4C3-68C7-C7DB-4ED1F4994721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8724C6-073E-F4D4-3BD0-E77ECE065E0B}"/>
              </a:ext>
            </a:extLst>
          </p:cNvPr>
          <p:cNvSpPr txBox="1"/>
          <p:nvPr/>
        </p:nvSpPr>
        <p:spPr>
          <a:xfrm>
            <a:off x="238664" y="1293960"/>
            <a:ext cx="89570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KeyFrame</a:t>
            </a:r>
            <a:r>
              <a:rPr lang="en-US" altLang="zh-CN" dirty="0"/>
              <a:t> Insertion </a:t>
            </a:r>
            <a:r>
              <a:rPr lang="zh-CN" altLang="en-US" dirty="0"/>
              <a:t>是在 </a:t>
            </a:r>
            <a:r>
              <a:rPr lang="en-US" altLang="zh-CN" dirty="0"/>
              <a:t>SLAM </a:t>
            </a:r>
            <a:r>
              <a:rPr lang="zh-CN" altLang="en-US" dirty="0"/>
              <a:t>中将当前帧作为关键帧加入地图，并更新共视关系、生成新地图点、触发局部建图优化的过程。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 err="1"/>
              <a:t>KeyFrame</a:t>
            </a:r>
            <a:r>
              <a:rPr lang="en-US" altLang="zh-CN" b="1" dirty="0"/>
              <a:t> Insertion = </a:t>
            </a:r>
            <a:r>
              <a:rPr lang="zh-CN" altLang="en-US" b="1" dirty="0"/>
              <a:t>把当前帧正式加入地图系统，作为一个新的关键帧，并触发局部建图。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333CE7-58BC-9E83-27D0-C4034060686F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A07118-42A2-76BA-2098-6C5E7BEA8F24}"/>
              </a:ext>
            </a:extLst>
          </p:cNvPr>
          <p:cNvSpPr txBox="1"/>
          <p:nvPr/>
        </p:nvSpPr>
        <p:spPr>
          <a:xfrm>
            <a:off x="5052390" y="599709"/>
            <a:ext cx="231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KeyFrame</a:t>
            </a:r>
            <a:r>
              <a:rPr lang="en-US" altLang="zh-CN" dirty="0"/>
              <a:t> Insertion</a:t>
            </a:r>
            <a:r>
              <a:rPr lang="zh-CN" altLang="en-US" dirty="0"/>
              <a:t>呢</a:t>
            </a:r>
          </a:p>
        </p:txBody>
      </p:sp>
    </p:spTree>
    <p:extLst>
      <p:ext uri="{BB962C8B-B14F-4D97-AF65-F5344CB8AC3E}">
        <p14:creationId xmlns:p14="http://schemas.microsoft.com/office/powerpoint/2010/main" val="149137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34B5-9FE4-2A83-028A-8C220ED7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CA5C2C8-952B-3DC0-1973-4C796EE98D47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1C9293B-A45A-4B1A-9A43-C2CB5DE2D704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3174DB-6E87-6C86-4A06-C7867B99FA5F}"/>
              </a:ext>
            </a:extLst>
          </p:cNvPr>
          <p:cNvSpPr txBox="1"/>
          <p:nvPr/>
        </p:nvSpPr>
        <p:spPr>
          <a:xfrm>
            <a:off x="238664" y="1293960"/>
            <a:ext cx="895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Recent MapPoints Culling </a:t>
            </a:r>
            <a:r>
              <a:rPr lang="zh-CN" altLang="en-US"/>
              <a:t>是在局部建图中，对新生成但观测不足或误差较大的地图点进行早期剔除，以保证地图质量和系统稳定性。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77E602-1523-7898-8AD0-CCE8691B5B1B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E4FD8C-3870-DD12-D958-9BDCE85719B6}"/>
              </a:ext>
            </a:extLst>
          </p:cNvPr>
          <p:cNvSpPr txBox="1"/>
          <p:nvPr/>
        </p:nvSpPr>
        <p:spPr>
          <a:xfrm>
            <a:off x="5052390" y="599709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Recent </a:t>
            </a:r>
            <a:r>
              <a:rPr lang="en-US" altLang="zh-CN" dirty="0" err="1"/>
              <a:t>MapPoints</a:t>
            </a:r>
            <a:r>
              <a:rPr lang="en-US" altLang="zh-CN" dirty="0"/>
              <a:t> Culling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0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B5E1-773C-8AEC-246D-AC2279C4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4B669F1-E282-A683-85D5-199224E5A970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99BBBD3-B270-ACB3-0EDB-C01AFE97B0E4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A72D71-D58D-41A9-DAB6-A8B6A7DFDBB9}"/>
              </a:ext>
            </a:extLst>
          </p:cNvPr>
          <p:cNvSpPr txBox="1"/>
          <p:nvPr/>
        </p:nvSpPr>
        <p:spPr>
          <a:xfrm>
            <a:off x="238664" y="1293960"/>
            <a:ext cx="8957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New Points Creation = </a:t>
            </a:r>
            <a:r>
              <a:rPr lang="zh-CN" altLang="en-US" dirty="0"/>
              <a:t>利用新插入的关键帧，与相邻关键帧进行三角化，生成新的 </a:t>
            </a:r>
            <a:r>
              <a:rPr lang="en-US" altLang="zh-CN" dirty="0"/>
              <a:t>3D </a:t>
            </a:r>
            <a:r>
              <a:rPr lang="zh-CN" altLang="en-US" dirty="0"/>
              <a:t>地图点（</a:t>
            </a:r>
            <a:r>
              <a:rPr lang="en-US" altLang="zh-CN" dirty="0" err="1"/>
              <a:t>MapPoints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en-US" altLang="zh-CN" dirty="0"/>
              <a:t>New Points Creation </a:t>
            </a:r>
            <a:r>
              <a:rPr lang="zh-CN" altLang="en-US" dirty="0"/>
              <a:t>是在局部建图中，利用新关键帧与其邻居关键帧进行特征匹配和三角化，生成新的地图点以扩展地图。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D8608F-846F-4A3D-C25E-3E21908CC551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BD457B-37D2-3101-6589-B0B5479F718F}"/>
              </a:ext>
            </a:extLst>
          </p:cNvPr>
          <p:cNvSpPr txBox="1"/>
          <p:nvPr/>
        </p:nvSpPr>
        <p:spPr>
          <a:xfrm>
            <a:off x="5052390" y="599709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New Points Creation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551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69C3-AA58-6CAF-3F5D-A9DE82F2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2216396-20A0-836E-039C-61EA50045C28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7B97100-6E88-5AC6-6041-06807D66A58B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0E3F6A-8F17-7C05-832A-E5BF81D1A685}"/>
              </a:ext>
            </a:extLst>
          </p:cNvPr>
          <p:cNvSpPr txBox="1"/>
          <p:nvPr/>
        </p:nvSpPr>
        <p:spPr>
          <a:xfrm>
            <a:off x="238664" y="1293960"/>
            <a:ext cx="895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Local BA = </a:t>
            </a:r>
            <a:r>
              <a:rPr lang="zh-CN" altLang="en-US" b="1"/>
              <a:t>只对“局部关键帧和地图点”做的非线性联合优化，用来提高位姿和地图精度。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55BC14-E34A-79FC-A327-AE70DE83AF6E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1E5D1-6849-F9F8-065B-A4472CCA2B42}"/>
              </a:ext>
            </a:extLst>
          </p:cNvPr>
          <p:cNvSpPr txBox="1"/>
          <p:nvPr/>
        </p:nvSpPr>
        <p:spPr>
          <a:xfrm>
            <a:off x="5052390" y="599709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Local BA</a:t>
            </a:r>
            <a:r>
              <a:rPr lang="zh-CN" altLang="en-US" b="1" dirty="0"/>
              <a:t>（</a:t>
            </a:r>
            <a:r>
              <a:rPr lang="en-US" altLang="zh-CN" b="1" dirty="0"/>
              <a:t>Local Bundle Adjustment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44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EA3E7-346B-4B43-A2CD-84BB72D8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81C9E4A-B35D-E715-9A21-97ABBE1AFF71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0E387E2-4238-6097-2317-DF3AE49F61A9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193FB9-74D9-E065-C83A-4F54A5AFE7EF}"/>
              </a:ext>
            </a:extLst>
          </p:cNvPr>
          <p:cNvSpPr txBox="1"/>
          <p:nvPr/>
        </p:nvSpPr>
        <p:spPr>
          <a:xfrm>
            <a:off x="238664" y="1293960"/>
            <a:ext cx="8957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Local </a:t>
            </a:r>
            <a:r>
              <a:rPr lang="en-US" altLang="zh-CN" dirty="0" err="1"/>
              <a:t>KeyFrames</a:t>
            </a:r>
            <a:r>
              <a:rPr lang="en-US" altLang="zh-CN" dirty="0"/>
              <a:t> Culling </a:t>
            </a:r>
            <a:r>
              <a:rPr lang="zh-CN" altLang="en-US" dirty="0"/>
              <a:t>是在局部建图中，根据关键帧对地图点的贡献程度，删除被其他关键帧充分覆盖的冗余关键帧，以控制地图规模并提高效率。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995481-0CF1-DF6A-EA62-0EFBE3692614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E68D71-FC53-9720-BC0C-5671DBFDFBF1}"/>
              </a:ext>
            </a:extLst>
          </p:cNvPr>
          <p:cNvSpPr txBox="1"/>
          <p:nvPr/>
        </p:nvSpPr>
        <p:spPr>
          <a:xfrm>
            <a:off x="5052390" y="599709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Local </a:t>
            </a:r>
            <a:r>
              <a:rPr lang="en-US" altLang="zh-CN" dirty="0" err="1"/>
              <a:t>KeyFrames</a:t>
            </a:r>
            <a:r>
              <a:rPr lang="en-US" altLang="zh-CN" dirty="0"/>
              <a:t> Culling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47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5D2C-9566-C350-E170-5125018A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D42CA69-CBE3-4853-7C29-D2E00597D72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A958A7E-06F1-A5F1-E1DF-68DF705C8AE3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400" dirty="0"/>
              <a:t>位姿估计</a:t>
            </a:r>
          </a:p>
        </p:txBody>
      </p:sp>
      <p:pic>
        <p:nvPicPr>
          <p:cNvPr id="18" name="图片 17" descr="图片包含 工程绘图&#10;&#10;AI 生成的内容可能不正确。">
            <a:extLst>
              <a:ext uri="{FF2B5EF4-FFF2-40B4-BE49-F238E27FC236}">
                <a16:creationId xmlns:a16="http://schemas.microsoft.com/office/drawing/2014/main" id="{F8526914-8C54-CDF5-2292-5300FED1F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284" y="1398493"/>
            <a:ext cx="3798527" cy="251460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1D02EFE-09EB-B1CD-6E5A-3551489A8BC8}"/>
              </a:ext>
            </a:extLst>
          </p:cNvPr>
          <p:cNvSpPr txBox="1"/>
          <p:nvPr/>
        </p:nvSpPr>
        <p:spPr>
          <a:xfrm>
            <a:off x="8994589" y="2910541"/>
            <a:ext cx="82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Tc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B643E0-8D4A-C2E1-5D6B-5250C3243BED}"/>
              </a:ext>
            </a:extLst>
          </p:cNvPr>
          <p:cNvSpPr txBox="1"/>
          <p:nvPr/>
        </p:nvSpPr>
        <p:spPr>
          <a:xfrm>
            <a:off x="11265647" y="3681507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Tw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3FC4A6-31DB-6E52-C019-5B39A8169D46}"/>
              </a:ext>
            </a:extLst>
          </p:cNvPr>
          <p:cNvSpPr txBox="1"/>
          <p:nvPr/>
        </p:nvSpPr>
        <p:spPr>
          <a:xfrm>
            <a:off x="460188" y="1350682"/>
            <a:ext cx="255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位姿的旋转和平移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12D6DC1-E7A9-0F1A-3FF2-52A2F0615773}"/>
                  </a:ext>
                </a:extLst>
              </p:cNvPr>
              <p:cNvSpPr txBox="1"/>
              <p:nvPr/>
            </p:nvSpPr>
            <p:spPr>
              <a:xfrm>
                <a:off x="700807" y="3370855"/>
                <a:ext cx="1571942" cy="715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12D6DC1-E7A9-0F1A-3FF2-52A2F0615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07" y="3370855"/>
                <a:ext cx="1571942" cy="715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F18C257-643E-003E-EB49-07E08BF17813}"/>
              </a:ext>
            </a:extLst>
          </p:cNvPr>
          <p:cNvSpPr txBox="1"/>
          <p:nvPr/>
        </p:nvSpPr>
        <p:spPr>
          <a:xfrm>
            <a:off x="780319" y="2245373"/>
            <a:ext cx="17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a^= Ra + t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705B78-6418-0D98-E729-5E9302990EC9}"/>
              </a:ext>
            </a:extLst>
          </p:cNvPr>
          <p:cNvSpPr txBox="1"/>
          <p:nvPr/>
        </p:nvSpPr>
        <p:spPr>
          <a:xfrm>
            <a:off x="8144306" y="4272527"/>
            <a:ext cx="388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从“世界坐标系”变换到“相机坐标系”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F42171-A5D1-6289-F4FB-8F718AFF33DB}"/>
              </a:ext>
            </a:extLst>
          </p:cNvPr>
          <p:cNvSpPr txBox="1"/>
          <p:nvPr/>
        </p:nvSpPr>
        <p:spPr>
          <a:xfrm>
            <a:off x="700807" y="5083468"/>
            <a:ext cx="11371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SLAM </a:t>
            </a:r>
            <a:r>
              <a:rPr lang="zh-CN" altLang="en-US" dirty="0"/>
              <a:t>建图是一个同时进行定位与建图的过程。系统从连续图像中提取特征，通过特征匹配与几何约束估计相机位姿；同时利用估计的位姿对环境中的特征进行三维重建，形成地图。地图又反过来为后续帧的位姿估计提供约束，从而形成一个闭环优化过程。</a:t>
            </a:r>
          </a:p>
        </p:txBody>
      </p:sp>
    </p:spTree>
    <p:extLst>
      <p:ext uri="{BB962C8B-B14F-4D97-AF65-F5344CB8AC3E}">
        <p14:creationId xmlns:p14="http://schemas.microsoft.com/office/powerpoint/2010/main" val="388042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8DE49-C0C0-5147-905E-BE30399A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0BD8F47-3F38-0810-754A-474B48F05341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67DBAFE-207B-29AE-AFD7-1B42FEA57F97}"/>
              </a:ext>
            </a:extLst>
          </p:cNvPr>
          <p:cNvSpPr/>
          <p:nvPr/>
        </p:nvSpPr>
        <p:spPr>
          <a:xfrm rot="10800000" flipV="1">
            <a:off x="-2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5F3012-44F3-6D3D-8766-669D6296D0C0}"/>
              </a:ext>
            </a:extLst>
          </p:cNvPr>
          <p:cNvSpPr txBox="1"/>
          <p:nvPr/>
        </p:nvSpPr>
        <p:spPr>
          <a:xfrm>
            <a:off x="238664" y="1293960"/>
            <a:ext cx="895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Query Database = </a:t>
            </a:r>
            <a:r>
              <a:rPr lang="zh-CN" altLang="en-US" b="1" dirty="0"/>
              <a:t>用当前关键帧的特征，在关键帧数据库中查询“有没有我以前来过的地方”。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3CC323-8F2A-1538-47FE-BD387C80D535}"/>
              </a:ext>
            </a:extLst>
          </p:cNvPr>
          <p:cNvSpPr txBox="1"/>
          <p:nvPr/>
        </p:nvSpPr>
        <p:spPr>
          <a:xfrm>
            <a:off x="2697378" y="2618463"/>
            <a:ext cx="5161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r>
              <a:rPr lang="en-US" altLang="zh-CN" dirty="0"/>
              <a:t>Query Database </a:t>
            </a:r>
            <a:r>
              <a:rPr lang="zh-CN" altLang="en-US" dirty="0"/>
              <a:t>是在回环检测中，利用当前关键帧的 </a:t>
            </a:r>
            <a:r>
              <a:rPr lang="en-US" altLang="zh-CN" dirty="0" err="1"/>
              <a:t>BoW</a:t>
            </a:r>
            <a:r>
              <a:rPr lang="en-US" altLang="zh-CN" dirty="0"/>
              <a:t> </a:t>
            </a:r>
            <a:r>
              <a:rPr lang="zh-CN" altLang="en-US" dirty="0"/>
              <a:t>表示，在关键帧数据库中快速检索外观相似的历史关键帧，作为回环候选。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138D8C-5CB0-ADE4-47D8-86C3835CBACC}"/>
              </a:ext>
            </a:extLst>
          </p:cNvPr>
          <p:cNvSpPr txBox="1"/>
          <p:nvPr/>
        </p:nvSpPr>
        <p:spPr>
          <a:xfrm>
            <a:off x="5052390" y="599709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Query Database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45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9945-42EF-1C7C-706E-1C40E1C2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8DE22B1-1E58-19B6-CE30-0EDE6444677E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9CC5CF8-5D04-87CA-7E7F-59FFE4FE2FB9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AC9E81-6DA6-6C9F-0507-2C49EDA97F2B}"/>
              </a:ext>
            </a:extLst>
          </p:cNvPr>
          <p:cNvSpPr txBox="1"/>
          <p:nvPr/>
        </p:nvSpPr>
        <p:spPr>
          <a:xfrm>
            <a:off x="238664" y="1293960"/>
            <a:ext cx="8957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Compute SE3 = </a:t>
            </a:r>
            <a:r>
              <a:rPr lang="zh-CN" altLang="en-US" dirty="0"/>
              <a:t>计算当前关键帧与回环候选关键帧之间的刚体位姿变换（</a:t>
            </a:r>
            <a:r>
              <a:rPr lang="en-US" altLang="zh-CN" dirty="0"/>
              <a:t>R, t</a:t>
            </a:r>
            <a:r>
              <a:rPr lang="zh-CN" altLang="en-US" dirty="0"/>
              <a:t>），并验证它们是否几何一致。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E4726-F775-A029-BBA7-C5866005707B}"/>
              </a:ext>
            </a:extLst>
          </p:cNvPr>
          <p:cNvSpPr txBox="1"/>
          <p:nvPr/>
        </p:nvSpPr>
        <p:spPr>
          <a:xfrm>
            <a:off x="2706004" y="2885883"/>
            <a:ext cx="5161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r>
              <a:rPr lang="en-US" altLang="zh-CN" dirty="0"/>
              <a:t>Compute SE3 </a:t>
            </a:r>
            <a:r>
              <a:rPr lang="zh-CN" altLang="en-US" dirty="0"/>
              <a:t>是在回环检测中，通过特征匹配和几何约束估计两个关键帧之间的刚体变换，用于验证回环是否真实存在。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432805-10BC-E508-2A40-CBF2901D1863}"/>
              </a:ext>
            </a:extLst>
          </p:cNvPr>
          <p:cNvSpPr txBox="1"/>
          <p:nvPr/>
        </p:nvSpPr>
        <p:spPr>
          <a:xfrm>
            <a:off x="5052390" y="599709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Compute SE3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265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B284-834C-BFC0-32E7-989282C0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3BC6FCE-CD46-E303-5931-0519432B126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1EFFE53-926E-2343-1B08-37766C9AD0AA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8D82CA-446D-0F76-083E-4FF77BCCD0B8}"/>
              </a:ext>
            </a:extLst>
          </p:cNvPr>
          <p:cNvSpPr txBox="1"/>
          <p:nvPr/>
        </p:nvSpPr>
        <p:spPr>
          <a:xfrm>
            <a:off x="238664" y="1293960"/>
            <a:ext cx="8957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Loop Fusion = </a:t>
            </a:r>
            <a:r>
              <a:rPr lang="zh-CN" altLang="en-US" dirty="0"/>
              <a:t>在确认回环后，将当前关键帧和历史关键帧的地图进行融合，合并重复地图点，并修正位姿关系。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A604C8-B3CC-F729-505C-A2A02A7DB54F}"/>
              </a:ext>
            </a:extLst>
          </p:cNvPr>
          <p:cNvSpPr txBox="1"/>
          <p:nvPr/>
        </p:nvSpPr>
        <p:spPr>
          <a:xfrm>
            <a:off x="2471747" y="2782669"/>
            <a:ext cx="5161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Loop Fusion </a:t>
            </a:r>
            <a:r>
              <a:rPr lang="zh-CN" altLang="en-US" dirty="0"/>
              <a:t>是在回环检测确认后，通过位姿对齐和地图点合并，消除重复地图结构，为后续全局优化建立一致地图的过程。</a:t>
            </a:r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A87005-C651-DF55-6CAC-1B202B0FBC98}"/>
              </a:ext>
            </a:extLst>
          </p:cNvPr>
          <p:cNvSpPr txBox="1"/>
          <p:nvPr/>
        </p:nvSpPr>
        <p:spPr>
          <a:xfrm>
            <a:off x="5052390" y="599709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Loop Fusion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32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A965-7DC7-96CD-3273-39E52A15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9C3517D-70A8-809B-5FC9-37F9CBA1F682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EADC343-2AF0-1D9E-4028-988353131D2D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0DA0A8-FB88-8727-0DF6-F994317FFDB1}"/>
              </a:ext>
            </a:extLst>
          </p:cNvPr>
          <p:cNvSpPr txBox="1"/>
          <p:nvPr/>
        </p:nvSpPr>
        <p:spPr>
          <a:xfrm>
            <a:off x="238664" y="1293960"/>
            <a:ext cx="89570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ORB-SLAM2 </a:t>
            </a:r>
            <a:r>
              <a:rPr lang="zh-CN" altLang="en-US" b="1" dirty="0"/>
              <a:t>通过前端跟踪估计相机位姿，在局部后端不断三角化和优化地图点，并在检测到回环时进行全局位姿图优化，从而逐步构建并校正一张稀疏但全局一致的三维地图。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三角化（</a:t>
            </a:r>
            <a:r>
              <a:rPr lang="en-US" altLang="zh-CN" dirty="0"/>
              <a:t>Triangulation</a:t>
            </a:r>
            <a:r>
              <a:rPr lang="zh-CN" altLang="en-US" dirty="0"/>
              <a:t>）是利用同一个空间点在多个已知相机位姿下的二维观测，恢复该点三维空间坐标的过程。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0C20D7-E131-4011-423F-6CD789FAD4E2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FF6CF6-04E2-716F-2F5A-9F45FCD1F132}"/>
              </a:ext>
            </a:extLst>
          </p:cNvPr>
          <p:cNvSpPr txBox="1"/>
          <p:nvPr/>
        </p:nvSpPr>
        <p:spPr>
          <a:xfrm>
            <a:off x="5052390" y="5997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撒旦法</a:t>
            </a:r>
          </a:p>
        </p:txBody>
      </p:sp>
    </p:spTree>
    <p:extLst>
      <p:ext uri="{BB962C8B-B14F-4D97-AF65-F5344CB8AC3E}">
        <p14:creationId xmlns:p14="http://schemas.microsoft.com/office/powerpoint/2010/main" val="423970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4F8CF-E153-B424-D2EF-07E4D36A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39EC28A-1B7A-0F0A-E476-0130BB49B265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EB67C4B-12D0-3EFC-90AC-2EBDF97665F5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8253F3-B9D5-DD64-66C5-AFEBA8023868}"/>
              </a:ext>
            </a:extLst>
          </p:cNvPr>
          <p:cNvSpPr txBox="1"/>
          <p:nvPr/>
        </p:nvSpPr>
        <p:spPr>
          <a:xfrm>
            <a:off x="238664" y="1293960"/>
            <a:ext cx="895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根据相机看到的世界，判断自己现在在什么地方、朝向哪里，并且随着时间不断更新和修正这个判断。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67FD3B-6BD2-A7E2-D0C0-76CE1CE0FA7D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387F5-854F-97B0-D43A-F2F62A660495}"/>
              </a:ext>
            </a:extLst>
          </p:cNvPr>
          <p:cNvSpPr txBox="1"/>
          <p:nvPr/>
        </p:nvSpPr>
        <p:spPr>
          <a:xfrm>
            <a:off x="5052390" y="5997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撒旦法</a:t>
            </a:r>
          </a:p>
        </p:txBody>
      </p:sp>
    </p:spTree>
    <p:extLst>
      <p:ext uri="{BB962C8B-B14F-4D97-AF65-F5344CB8AC3E}">
        <p14:creationId xmlns:p14="http://schemas.microsoft.com/office/powerpoint/2010/main" val="37651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iwiaGRpZCI6IjE2MTJhYWM4ODBlZGRiOTg2MjRmY2Q3NmU0NzUwOTBkIiwidXNlckNvdW50IjoyfQ=="/>
  <p:tag name="KSO_WPP_MARK_KEY" val="b5d5d4d8-fae6-4f32-8417-d48d32afacb0"/>
</p:tagLst>
</file>

<file path=ppt/theme/theme1.xml><?xml version="1.0" encoding="utf-8"?>
<a:theme xmlns:a="http://schemas.openxmlformats.org/drawingml/2006/main" name="Office 主题​​">
  <a:themeElements>
    <a:clrScheme name="自定义 18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CA9B6"/>
      </a:accent1>
      <a:accent2>
        <a:srgbClr val="80CA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2809</TotalTime>
  <Words>2500</Words>
  <Application>Microsoft Office PowerPoint</Application>
  <PresentationFormat>宽屏</PresentationFormat>
  <Paragraphs>211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8" baseType="lpstr">
      <vt:lpstr>阿里巴巴普惠体</vt:lpstr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LIC</dc:creator>
  <cp:lastModifiedBy>lic lic</cp:lastModifiedBy>
  <cp:revision>215</cp:revision>
  <dcterms:created xsi:type="dcterms:W3CDTF">2019-11-15T01:58:00Z</dcterms:created>
  <dcterms:modified xsi:type="dcterms:W3CDTF">2025-12-30T05:38:54Z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v1.0_mb_dlQcp65oTb8jH0+a0xOncA==</vt:lpwstr>
  </property>
  <property fmtid="{D5CDD505-2E9C-101B-9397-08002B2CF9AE}" pid="4" name="ICV">
    <vt:lpwstr>CD135054CAF64EFEBBF99609DB0A9577</vt:lpwstr>
  </property>
</Properties>
</file>