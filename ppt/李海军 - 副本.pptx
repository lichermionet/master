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54_60F2C401.xml" ContentType="application/vnd.ms-powerpoint.comments+xml"/>
  <Override PartName="/ppt/comments/modernComment_157_8F4296F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303" r:id="rId3"/>
    <p:sldId id="307" r:id="rId4"/>
    <p:sldId id="337" r:id="rId5"/>
    <p:sldId id="339" r:id="rId6"/>
    <p:sldId id="331" r:id="rId7"/>
    <p:sldId id="334" r:id="rId8"/>
    <p:sldId id="335" r:id="rId9"/>
    <p:sldId id="341" r:id="rId10"/>
    <p:sldId id="320" r:id="rId11"/>
    <p:sldId id="321" r:id="rId12"/>
    <p:sldId id="333" r:id="rId13"/>
    <p:sldId id="340" r:id="rId14"/>
    <p:sldId id="343" r:id="rId15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B1E45B-21A3-B35F-D196-1C84AFFB7FE8}" name="lic lic" initials="ll" userId="9738c7baaa470de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AAB6"/>
    <a:srgbClr val="5CB2D9"/>
    <a:srgbClr val="82CBC3"/>
    <a:srgbClr val="3E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4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744" y="108"/>
      </p:cViewPr>
      <p:guideLst>
        <p:guide orient="horz" pos="178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54_60F2C4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B5C78E-B638-4DBE-B945-EB6B06110EFE}" authorId="{14B1E45B-21A3-B35F-D196-1C84AFFB7FE8}" created="2025-12-22T07:35:57.316">
    <pc:sldMkLst xmlns:pc="http://schemas.microsoft.com/office/powerpoint/2013/main/command">
      <pc:docMk/>
      <pc:sldMk cId="1626522625" sldId="340"/>
    </pc:sldMk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57_8F4296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80C329-E082-48AC-9DF3-2E42F29DDA75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F994-49C7-4BDA-9350-501D68E414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54_60F2C40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57_8F4296FB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25" t="13778"/>
          <a:stretch>
            <a:fillRect/>
          </a:stretch>
        </p:blipFill>
        <p:spPr>
          <a:xfrm>
            <a:off x="8033993" y="2042160"/>
            <a:ext cx="4158006" cy="48158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25" b="11669"/>
          <a:stretch>
            <a:fillRect/>
          </a:stretch>
        </p:blipFill>
        <p:spPr>
          <a:xfrm>
            <a:off x="107317" y="0"/>
            <a:ext cx="4663438" cy="5533376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860226" y="2808017"/>
            <a:ext cx="5227460" cy="1953877"/>
            <a:chOff x="8059" y="7291"/>
            <a:chExt cx="5046" cy="835"/>
          </a:xfrm>
        </p:grpSpPr>
        <p:sp>
          <p:nvSpPr>
            <p:cNvPr id="78" name="文本框 77"/>
            <p:cNvSpPr txBox="1"/>
            <p:nvPr/>
          </p:nvSpPr>
          <p:spPr>
            <a:xfrm>
              <a:off x="8059" y="7291"/>
              <a:ext cx="3461" cy="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报告人：李海军</a:t>
              </a:r>
              <a:endPara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198" y="7571"/>
              <a:ext cx="3496" cy="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指导教师：王小刚</a:t>
              </a:r>
              <a:r>
                <a:rPr lang="en-US" altLang="zh-CN" sz="2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238" y="7902"/>
              <a:ext cx="4867" cy="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  报告时间：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2025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年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12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月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22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日</a:t>
              </a:r>
            </a:p>
          </p:txBody>
        </p:sp>
      </p:grpSp>
      <p:sp>
        <p:nvSpPr>
          <p:cNvPr id="77" name="矩形 76"/>
          <p:cNvSpPr/>
          <p:nvPr/>
        </p:nvSpPr>
        <p:spPr>
          <a:xfrm>
            <a:off x="2454048" y="580905"/>
            <a:ext cx="733131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8000" dirty="0">
                <a:solidFill>
                  <a:srgbClr val="3DAAB6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rPr>
              <a:t>学术汇报</a:t>
            </a:r>
            <a:endParaRPr kumimoji="0" lang="en-US" altLang="zh-CN" sz="8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9B9E38-46DC-CAEC-ACB1-D4C85FCA43B2}"/>
              </a:ext>
            </a:extLst>
          </p:cNvPr>
          <p:cNvSpPr txBox="1"/>
          <p:nvPr/>
        </p:nvSpPr>
        <p:spPr>
          <a:xfrm>
            <a:off x="920007" y="1404307"/>
            <a:ext cx="954633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面向动态环境的语义视觉 </a:t>
            </a: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SLAM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dirty="0"/>
              <a:t>在视觉</a:t>
            </a:r>
            <a:r>
              <a:rPr lang="en-US" altLang="zh-CN" dirty="0"/>
              <a:t>SLAM</a:t>
            </a:r>
            <a:r>
              <a:rPr lang="zh-CN" altLang="en-US" dirty="0"/>
              <a:t>中就需要首先找到相邻图像对应点的组合，根据这些匹配的点对计算出相机的位姿（相对初始位置，相机的旋转和平移）。</a:t>
            </a:r>
          </a:p>
          <a:p>
            <a:pPr algn="ctr"/>
            <a:r>
              <a:rPr lang="zh-CN" altLang="en-US" sz="2000" dirty="0">
                <a:solidFill>
                  <a:srgbClr val="EE0000"/>
                </a:solidFill>
              </a:rPr>
              <a:t>如何高效且准确的匹配出两个不同视角的图像中的同一个物体，是许多计算机视觉应用中的第一步。虽然图像在计算机中是以灰度矩阵的形式存在的，但是利用图像的灰度并不能准确的找出两幅图像中的同一个物体。这是由于灰度受光照的影响，并且当图像视角变化后，同一个物体的灰度值也会跟着变化。所以，就需要找出一种能够在相机进行移动和旋转（视角发生变化），仍然能够保持不变的特征，利用这些不变的特征来找出不同视角的图像中的同一个物体。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1F884-AA55-FDB2-26A6-23FEDDEC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6610AE-958A-9670-999D-C8E44E8397BE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39CC7EE-9DD5-9AC8-47DB-47365436B827}"/>
              </a:ext>
            </a:extLst>
          </p:cNvPr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4B7464-C0F6-80D4-77D7-F1E837740227}"/>
              </a:ext>
            </a:extLst>
          </p:cNvPr>
          <p:cNvSpPr/>
          <p:nvPr/>
        </p:nvSpPr>
        <p:spPr>
          <a:xfrm>
            <a:off x="1981200" y="1633728"/>
            <a:ext cx="9144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800" dirty="0"/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90EFC2-DC1E-FDAF-EC26-5970A0342017}"/>
              </a:ext>
            </a:extLst>
          </p:cNvPr>
          <p:cNvSpPr/>
          <p:nvPr/>
        </p:nvSpPr>
        <p:spPr>
          <a:xfrm>
            <a:off x="2987040" y="16337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dirty="0"/>
              <a:t>研究</a:t>
            </a:r>
            <a:r>
              <a:rPr sz="2400" dirty="0" err="1"/>
              <a:t>背景及意义</a:t>
            </a:r>
            <a:endParaRPr sz="24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7494DA-E25A-7780-6AE6-6323EA2B27D1}"/>
              </a:ext>
            </a:extLst>
          </p:cNvPr>
          <p:cNvSpPr/>
          <p:nvPr/>
        </p:nvSpPr>
        <p:spPr>
          <a:xfrm>
            <a:off x="1981200" y="2548128"/>
            <a:ext cx="914400" cy="731520"/>
          </a:xfrm>
          <a:prstGeom prst="rect">
            <a:avLst/>
          </a:prstGeom>
          <a:solidFill>
            <a:srgbClr val="3DA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05382364-0ABA-2B77-C30E-E15159A43FF7}"/>
              </a:ext>
            </a:extLst>
          </p:cNvPr>
          <p:cNvSpPr/>
          <p:nvPr/>
        </p:nvSpPr>
        <p:spPr>
          <a:xfrm>
            <a:off x="2987040" y="25481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sz="2400" dirty="0"/>
              <a:t>SLAM</a:t>
            </a:r>
            <a:r>
              <a:rPr lang="zh-CN" altLang="en-US" sz="2400" dirty="0"/>
              <a:t>与语义分割结合</a:t>
            </a:r>
            <a:endParaRPr sz="240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D97CF32-5795-4C14-9B82-24E07FBC2705}"/>
              </a:ext>
            </a:extLst>
          </p:cNvPr>
          <p:cNvSpPr/>
          <p:nvPr/>
        </p:nvSpPr>
        <p:spPr>
          <a:xfrm>
            <a:off x="1981200" y="3462528"/>
            <a:ext cx="914400" cy="731520"/>
          </a:xfrm>
          <a:prstGeom prst="rect">
            <a:avLst/>
          </a:prstGeom>
          <a:solidFill>
            <a:srgbClr val="3DA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800"/>
              <a:t>3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1971D246-E5AE-D0FB-674E-A45B5200F1ED}"/>
              </a:ext>
            </a:extLst>
          </p:cNvPr>
          <p:cNvSpPr/>
          <p:nvPr/>
        </p:nvSpPr>
        <p:spPr>
          <a:xfrm>
            <a:off x="2987040" y="34625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dirty="0"/>
              <a:t>方案设计</a:t>
            </a:r>
            <a:endParaRPr sz="24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259B31B9-D670-C36F-6B0D-4DB8F4E4F975}"/>
              </a:ext>
            </a:extLst>
          </p:cNvPr>
          <p:cNvSpPr/>
          <p:nvPr/>
        </p:nvSpPr>
        <p:spPr>
          <a:xfrm>
            <a:off x="1981200" y="4376928"/>
            <a:ext cx="914400" cy="731520"/>
          </a:xfrm>
          <a:prstGeom prst="rect">
            <a:avLst/>
          </a:prstGeom>
          <a:solidFill>
            <a:srgbClr val="3DA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800" dirty="0"/>
              <a:t>4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1934B8CB-C398-60EF-DB78-B01C507F7626}"/>
              </a:ext>
            </a:extLst>
          </p:cNvPr>
          <p:cNvSpPr/>
          <p:nvPr/>
        </p:nvSpPr>
        <p:spPr>
          <a:xfrm>
            <a:off x="2987040" y="43769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dirty="0"/>
              <a:t>总结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8066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D496F-3014-E1A5-709C-CF675DF68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0CB849-A1BA-F6A3-DFD7-D9F9C169F495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5D0FD3B-2489-9007-A8AE-ED0FDCAF3C57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</a:rPr>
              <a:t>  </a:t>
            </a:r>
            <a:r>
              <a:rPr lang="zh-CN" altLang="en-US" sz="2400" b="1" dirty="0">
                <a:solidFill>
                  <a:srgbClr val="0070C0"/>
                </a:solidFill>
              </a:rPr>
              <a:t>研究背景及意义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CF7119-E65F-DCDE-6228-7122C0116CEB}"/>
              </a:ext>
            </a:extLst>
          </p:cNvPr>
          <p:cNvSpPr txBox="1"/>
          <p:nvPr/>
        </p:nvSpPr>
        <p:spPr>
          <a:xfrm>
            <a:off x="455640" y="1386542"/>
            <a:ext cx="11664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b="1" dirty="0"/>
              <a:t>同步定位与建图（</a:t>
            </a:r>
            <a:r>
              <a:rPr lang="en-US" altLang="zh-CN" b="1" dirty="0"/>
              <a:t>Simultaneous Localization and Mapping</a:t>
            </a:r>
            <a:r>
              <a:rPr lang="zh-CN" altLang="en-US" b="1" dirty="0"/>
              <a:t>）是移动机器人、无人驾驶与增强现实等领域的核心基础技术。</a:t>
            </a:r>
            <a:endParaRPr lang="en-US" altLang="zh-CN" b="1" dirty="0"/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F0A9DE-6484-2FA2-1915-8A95C26EE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907" y="2034480"/>
            <a:ext cx="2880657" cy="19204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6D3A8F-0454-E6C9-2B2B-887D05B1328E}"/>
              </a:ext>
            </a:extLst>
          </p:cNvPr>
          <p:cNvSpPr txBox="1"/>
          <p:nvPr/>
        </p:nvSpPr>
        <p:spPr>
          <a:xfrm>
            <a:off x="455640" y="2382145"/>
            <a:ext cx="8138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机器人从未知环境的未知地点出发，在运动过程中通过重复观测到的地图</a:t>
            </a:r>
            <a:r>
              <a:rPr lang="zh-CN" altLang="en-US" b="1" dirty="0"/>
              <a:t>特征点</a:t>
            </a:r>
            <a:r>
              <a:rPr lang="zh-CN" altLang="en-US" dirty="0"/>
              <a:t>（比如，墙角，柱子等）定位自身位置和姿态，从而达到同时定位和地图构建的目的。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661861-2CCE-FA19-9EC5-33C3534A77D9}"/>
              </a:ext>
            </a:extLst>
          </p:cNvPr>
          <p:cNvSpPr txBox="1"/>
          <p:nvPr/>
        </p:nvSpPr>
        <p:spPr>
          <a:xfrm>
            <a:off x="615576" y="4342813"/>
            <a:ext cx="8062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视觉 </a:t>
            </a:r>
            <a:r>
              <a:rPr lang="en-US" altLang="zh-CN" dirty="0"/>
              <a:t>SLAM </a:t>
            </a:r>
            <a:r>
              <a:rPr lang="zh-CN" altLang="en-US" dirty="0"/>
              <a:t>是增强现实的底层基础技术，用于实时定位相机并构建环境地图，从而保证虚拟内容能够稳定、准确地叠加到真实世界中。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F0BD66-7D94-356A-96DB-375CE6ACF9DE}"/>
              </a:ext>
            </a:extLst>
          </p:cNvPr>
          <p:cNvSpPr txBox="1"/>
          <p:nvPr/>
        </p:nvSpPr>
        <p:spPr>
          <a:xfrm>
            <a:off x="699246" y="5513294"/>
            <a:ext cx="7894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没有视觉 </a:t>
            </a:r>
            <a:r>
              <a:rPr lang="en-US" altLang="zh-CN" dirty="0"/>
              <a:t>SLAM → </a:t>
            </a:r>
            <a:r>
              <a:rPr lang="zh-CN" altLang="en-US" dirty="0"/>
              <a:t>相机不知道自己在哪 → </a:t>
            </a:r>
            <a:r>
              <a:rPr lang="en-US" altLang="zh-CN" dirty="0"/>
              <a:t> </a:t>
            </a:r>
            <a:r>
              <a:rPr lang="zh-CN" altLang="en-US" dirty="0"/>
              <a:t>无法实现定位与建图→ 无法实现其它功能。</a:t>
            </a:r>
          </a:p>
        </p:txBody>
      </p:sp>
      <p:pic>
        <p:nvPicPr>
          <p:cNvPr id="10" name="图片 9" descr="图片包含 户外, 人, 男人, 站&#10;&#10;AI 生成的内容可能不正确。">
            <a:extLst>
              <a:ext uri="{FF2B5EF4-FFF2-40B4-BE49-F238E27FC236}">
                <a16:creationId xmlns:a16="http://schemas.microsoft.com/office/drawing/2014/main" id="{D62D4ADF-71AC-57FC-81B2-D3BEF980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548" y="4087553"/>
            <a:ext cx="2911373" cy="190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2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9DC8-71D8-0C0D-6E95-D931A149C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2A836A4-C86C-ABBF-10B8-FCCED124956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6CB039B-7940-9649-E5CE-643E122D6A55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800" dirty="0"/>
              <a:t>SLAM</a:t>
            </a:r>
            <a:r>
              <a:rPr lang="zh-CN" altLang="en-US" sz="2800" dirty="0"/>
              <a:t>与语义分割结合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9F8CDB-F325-71BA-6A4E-92FF75047602}"/>
              </a:ext>
            </a:extLst>
          </p:cNvPr>
          <p:cNvSpPr txBox="1"/>
          <p:nvPr/>
        </p:nvSpPr>
        <p:spPr>
          <a:xfrm>
            <a:off x="455639" y="1386541"/>
            <a:ext cx="115510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传统视觉</a:t>
            </a:r>
            <a:r>
              <a:rPr lang="en-US" altLang="zh-CN" dirty="0"/>
              <a:t>SLAM</a:t>
            </a:r>
            <a:r>
              <a:rPr lang="zh-CN" altLang="en-US" dirty="0"/>
              <a:t>方法主要分为两大类：特征点法和直接法</a:t>
            </a:r>
            <a:endParaRPr lang="en-US" altLang="zh-CN" dirty="0"/>
          </a:p>
          <a:p>
            <a:r>
              <a:rPr lang="zh-CN" altLang="en-US" dirty="0"/>
              <a:t>这些方法通常建立在静态环境假设的基础上，即假设场景中的大多数特征是静止的，从而依赖于特征点或像素强度（亮度）在不同帧图像间的时间一致性来估计相机位姿和构建地图。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r>
              <a:rPr lang="zh-CN" altLang="en-US" dirty="0"/>
              <a:t>如果环境中存在动态物体（如行人、车辆），这些一致性会被破坏，导致跟踪失败或位姿估计误差增大。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9035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6399-B508-465A-3F61-8AD0E8F7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FF501C1-DEC2-FE28-8F07-B22801BAD664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C82ACBA-F9DA-3828-62B0-1F3D5F95A0C8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</a:rPr>
              <a:t>研究背景及意义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2FE572-4D0F-C5E3-1251-FAF4E66ACDAC}"/>
              </a:ext>
            </a:extLst>
          </p:cNvPr>
          <p:cNvSpPr txBox="1"/>
          <p:nvPr/>
        </p:nvSpPr>
        <p:spPr>
          <a:xfrm>
            <a:off x="391459" y="1470212"/>
            <a:ext cx="5704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语义分割</a:t>
            </a:r>
            <a:endParaRPr lang="en-US" altLang="zh-CN" dirty="0"/>
          </a:p>
          <a:p>
            <a:r>
              <a:rPr lang="zh-CN" altLang="en-US" dirty="0"/>
              <a:t>语义分割的对图像的理解是像素级别的。</a:t>
            </a:r>
          </a:p>
        </p:txBody>
      </p:sp>
      <p:pic>
        <p:nvPicPr>
          <p:cNvPr id="6" name="图片 5" descr="狗的照片上写着字&#10;&#10;AI 生成的内容可能不正确。">
            <a:extLst>
              <a:ext uri="{FF2B5EF4-FFF2-40B4-BE49-F238E27FC236}">
                <a16:creationId xmlns:a16="http://schemas.microsoft.com/office/drawing/2014/main" id="{C6B0169B-9C20-7DA8-F7BF-7EACB67C3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59" y="2447067"/>
            <a:ext cx="4261794" cy="1846356"/>
          </a:xfrm>
          <a:prstGeom prst="rect">
            <a:avLst/>
          </a:prstGeom>
        </p:spPr>
      </p:pic>
      <p:pic>
        <p:nvPicPr>
          <p:cNvPr id="10" name="图片 9" descr="穿着蓝色衣服的卡通人物&#10;&#10;AI 生成的内容可能不正确。">
            <a:extLst>
              <a:ext uri="{FF2B5EF4-FFF2-40B4-BE49-F238E27FC236}">
                <a16:creationId xmlns:a16="http://schemas.microsoft.com/office/drawing/2014/main" id="{3279B902-120C-2B46-0F18-9ABA780D4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500" y="2116543"/>
            <a:ext cx="3933825" cy="2333625"/>
          </a:xfrm>
          <a:prstGeom prst="rect">
            <a:avLst/>
          </a:prstGeom>
        </p:spPr>
      </p:pic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8365C429-BDE6-D2D8-7416-328B1D623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568" y="4623947"/>
            <a:ext cx="3147643" cy="176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5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1B9AE-A334-3502-152D-22C7889B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070B372-C9CD-549E-9C55-0F2E3D0D979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10831A1-F3DA-EBAA-E7E4-8E9836CDC70B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rPr lang="en-US" altLang="zh-CN" sz="2400" dirty="0"/>
              <a:t>2SLAM</a:t>
            </a:r>
            <a:r>
              <a:rPr lang="zh-CN" altLang="en-US" sz="2400" dirty="0"/>
              <a:t>与语义分割结合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CEA1712-A005-CF55-3EEF-0B0A7BC751DA}"/>
              </a:ext>
            </a:extLst>
          </p:cNvPr>
          <p:cNvSpPr txBox="1"/>
          <p:nvPr/>
        </p:nvSpPr>
        <p:spPr>
          <a:xfrm>
            <a:off x="455641" y="1386541"/>
            <a:ext cx="104573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SLAM</a:t>
            </a:r>
            <a:r>
              <a:rPr lang="zh-CN" altLang="en-US" b="1" dirty="0"/>
              <a:t>（同步定位与建图）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dirty="0"/>
              <a:t>在未知环境中，实时估计自身位姿并构建环境几何地图。</a:t>
            </a:r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语义分割（</a:t>
            </a:r>
            <a:r>
              <a:rPr lang="en-US" altLang="zh-CN" b="1" dirty="0"/>
              <a:t>Semantic Segmentation</a:t>
            </a:r>
            <a:r>
              <a:rPr lang="zh-CN" altLang="en-US" b="1" dirty="0"/>
              <a:t>）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对图像中每个像素进行类别标注，理解“这是什么”。</a:t>
            </a:r>
          </a:p>
        </p:txBody>
      </p:sp>
    </p:spTree>
    <p:extLst>
      <p:ext uri="{BB962C8B-B14F-4D97-AF65-F5344CB8AC3E}">
        <p14:creationId xmlns:p14="http://schemas.microsoft.com/office/powerpoint/2010/main" val="335244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89B4-2C63-15A1-DC55-45F77F80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90A2F06-2BE6-D599-C34E-7F638E60AA39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55E409D-E2BA-C04E-059D-875047137E1F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400" dirty="0"/>
              <a:t> SLAM</a:t>
            </a:r>
            <a:r>
              <a:rPr lang="zh-CN" altLang="en-US" sz="2400" dirty="0"/>
              <a:t>与语义分割结合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6012B6-D867-65D8-826E-D6476288AA14}"/>
              </a:ext>
            </a:extLst>
          </p:cNvPr>
          <p:cNvSpPr txBox="1"/>
          <p:nvPr/>
        </p:nvSpPr>
        <p:spPr>
          <a:xfrm>
            <a:off x="238664" y="1293960"/>
            <a:ext cx="89570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FAST </a:t>
            </a:r>
            <a:r>
              <a:rPr lang="zh-CN" altLang="en-US" b="1" dirty="0"/>
              <a:t>角点（</a:t>
            </a:r>
            <a:r>
              <a:rPr lang="en-US" altLang="zh-CN" b="1" dirty="0"/>
              <a:t>Fast Feature Detector</a:t>
            </a:r>
            <a:r>
              <a:rPr lang="zh-CN" altLang="en-US" b="1" dirty="0"/>
              <a:t>）</a:t>
            </a:r>
          </a:p>
          <a:p>
            <a:r>
              <a:rPr lang="zh-CN" altLang="en-US" dirty="0"/>
              <a:t>以当前像素为中心，检查半径为 </a:t>
            </a:r>
            <a:r>
              <a:rPr lang="en-US" altLang="zh-CN" dirty="0"/>
              <a:t>3 </a:t>
            </a:r>
            <a:r>
              <a:rPr lang="zh-CN" altLang="en-US" dirty="0"/>
              <a:t>像素的圆形邻域（共 </a:t>
            </a:r>
            <a:r>
              <a:rPr lang="en-US" altLang="zh-CN" dirty="0"/>
              <a:t>16 </a:t>
            </a:r>
            <a:r>
              <a:rPr lang="zh-CN" altLang="en-US" dirty="0"/>
              <a:t>个像素点）</a:t>
            </a:r>
          </a:p>
          <a:p>
            <a:r>
              <a:rPr lang="zh-CN" altLang="en-US" dirty="0"/>
              <a:t>若圆上存在连续 </a:t>
            </a:r>
            <a:r>
              <a:rPr lang="en-US" altLang="zh-CN" dirty="0"/>
              <a:t>N </a:t>
            </a:r>
            <a:r>
              <a:rPr lang="zh-CN" altLang="en-US" dirty="0"/>
              <a:t>个像素点（通常 </a:t>
            </a:r>
            <a:r>
              <a:rPr lang="en-US" altLang="zh-CN" dirty="0"/>
              <a:t>N = 9 </a:t>
            </a:r>
            <a:r>
              <a:rPr lang="zh-CN" altLang="en-US" dirty="0"/>
              <a:t>或 </a:t>
            </a:r>
            <a:r>
              <a:rPr lang="en-US" altLang="zh-CN" dirty="0"/>
              <a:t>12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且其灰度值均明显高于或低于中心像素</a:t>
            </a:r>
          </a:p>
          <a:p>
            <a:r>
              <a:rPr lang="zh-CN" altLang="en-US" dirty="0"/>
              <a:t>则该像素被判定为 </a:t>
            </a:r>
            <a:r>
              <a:rPr lang="en-US" altLang="zh-CN" dirty="0"/>
              <a:t>FAST </a:t>
            </a:r>
            <a:r>
              <a:rPr lang="zh-CN" altLang="en-US" dirty="0"/>
              <a:t>角点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FAST </a:t>
            </a:r>
            <a:r>
              <a:rPr lang="zh-CN" altLang="en-US" b="1" dirty="0"/>
              <a:t>的特点</a:t>
            </a:r>
          </a:p>
          <a:p>
            <a:r>
              <a:rPr lang="zh-CN" altLang="en-US" dirty="0"/>
              <a:t>计算速度快，适合实时系统</a:t>
            </a:r>
          </a:p>
          <a:p>
            <a:r>
              <a:rPr lang="zh-CN" altLang="en-US" dirty="0"/>
              <a:t>仅基于灰度比较，无需复杂计算</a:t>
            </a:r>
          </a:p>
          <a:p>
            <a:r>
              <a:rPr lang="zh-CN" altLang="en-US" dirty="0"/>
              <a:t>本身不具备尺度与旋转不变性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0A94E3-E8DD-E7B3-9604-6DECBFE21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576" y="4244196"/>
            <a:ext cx="6940917" cy="2231009"/>
          </a:xfrm>
          <a:prstGeom prst="rect">
            <a:avLst/>
          </a:prstGeom>
        </p:spPr>
      </p:pic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B13D262F-0AF5-8EE0-E792-40C1A794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418" y="1593722"/>
            <a:ext cx="4383139" cy="198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7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0E3B-5DFC-688E-846A-0BB92FF4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0B03CD7-8B53-9D68-12BB-B2DA9ADC2A1A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08ED636-0151-35A5-31B7-52BB0EF86A66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400" dirty="0"/>
              <a:t>SLAM</a:t>
            </a:r>
            <a:r>
              <a:rPr lang="zh-CN" altLang="en-US" sz="2400" dirty="0"/>
              <a:t>与语义分割结合</a:t>
            </a:r>
          </a:p>
        </p:txBody>
      </p:sp>
      <p:pic>
        <p:nvPicPr>
          <p:cNvPr id="4" name="图片 3" descr="桌子上摆放着许多物品&#10;&#10;AI 生成的内容可能不正确。">
            <a:extLst>
              <a:ext uri="{FF2B5EF4-FFF2-40B4-BE49-F238E27FC236}">
                <a16:creationId xmlns:a16="http://schemas.microsoft.com/office/drawing/2014/main" id="{DF88F9AD-007C-0D2D-435D-BD8A2F12D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80" y="1139687"/>
            <a:ext cx="7126947" cy="2731673"/>
          </a:xfrm>
          <a:prstGeom prst="rect">
            <a:avLst/>
          </a:prstGeom>
        </p:spPr>
      </p:pic>
      <p:pic>
        <p:nvPicPr>
          <p:cNvPr id="7" name="图片 6" descr="图片包含 桌子, 游戏机, 床&#10;&#10;AI 生成的内容可能不正确。">
            <a:extLst>
              <a:ext uri="{FF2B5EF4-FFF2-40B4-BE49-F238E27FC236}">
                <a16:creationId xmlns:a16="http://schemas.microsoft.com/office/drawing/2014/main" id="{28DDAFAD-720D-2729-2FE4-3B8BAD24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351" y="3873034"/>
            <a:ext cx="7126947" cy="276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3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0B34-928A-8A0E-78E0-EE67C194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654BF42F-0DAD-C1F2-767E-979BCBF4D733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0BF1188-D678-9EE4-8AAA-DACF4E721F4E}"/>
              </a:ext>
            </a:extLst>
          </p:cNvPr>
          <p:cNvSpPr/>
          <p:nvPr/>
        </p:nvSpPr>
        <p:spPr>
          <a:xfrm rot="10800000"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我们</a:t>
            </a:r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420C4330-F81A-CD7E-BF9D-CB1EA665B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53" y="2456634"/>
            <a:ext cx="6411906" cy="252081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C23D4DE-10E5-3798-D00D-3A00DDD11A39}"/>
              </a:ext>
            </a:extLst>
          </p:cNvPr>
          <p:cNvSpPr txBox="1"/>
          <p:nvPr/>
        </p:nvSpPr>
        <p:spPr>
          <a:xfrm>
            <a:off x="500332" y="1302589"/>
            <a:ext cx="8639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构建图像金字塔（多尺度图像）</a:t>
            </a:r>
          </a:p>
          <a:p>
            <a:pPr>
              <a:buNone/>
            </a:pPr>
            <a:r>
              <a:rPr lang="zh-CN" altLang="en-US" dirty="0"/>
              <a:t>在不同尺度层上检测 </a:t>
            </a:r>
            <a:r>
              <a:rPr lang="en-US" altLang="zh-CN" dirty="0"/>
              <a:t>FAST </a:t>
            </a:r>
            <a:r>
              <a:rPr lang="zh-CN" altLang="en-US" dirty="0"/>
              <a:t>角点</a:t>
            </a:r>
          </a:p>
          <a:p>
            <a:pPr>
              <a:buNone/>
            </a:pPr>
            <a:r>
              <a:rPr lang="zh-CN" altLang="en-US" dirty="0"/>
              <a:t>保证物体远近变化时仍能检测到稳定特征点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777F6F-F478-9467-50E5-22FD77CEEE7D}"/>
              </a:ext>
            </a:extLst>
          </p:cNvPr>
          <p:cNvSpPr txBox="1"/>
          <p:nvPr/>
        </p:nvSpPr>
        <p:spPr>
          <a:xfrm>
            <a:off x="700177" y="5391510"/>
            <a:ext cx="10791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通过构建图像金字塔，在多尺度图像上检测 </a:t>
            </a:r>
            <a:r>
              <a:rPr lang="en-US" altLang="zh-CN" b="1" dirty="0"/>
              <a:t>FAST </a:t>
            </a:r>
            <a:r>
              <a:rPr lang="zh-CN" altLang="en-US" b="1" dirty="0"/>
              <a:t>角点，从而弥补 </a:t>
            </a:r>
            <a:r>
              <a:rPr lang="en-US" altLang="zh-CN" b="1" dirty="0"/>
              <a:t>FAST </a:t>
            </a:r>
            <a:r>
              <a:rPr lang="zh-CN" altLang="en-US" b="1" dirty="0"/>
              <a:t>原始方法缺乏尺度不变性的缺点。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936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E035-6F08-5514-D8AA-1F22A8DC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7C75689-5E91-A896-B21A-019281FC8C41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1AB00C8-26CE-E29A-9F8B-F9014C30A657}"/>
              </a:ext>
            </a:extLst>
          </p:cNvPr>
          <p:cNvSpPr/>
          <p:nvPr/>
        </p:nvSpPr>
        <p:spPr>
          <a:xfrm rot="10800000"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我们</a:t>
            </a:r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1A8CB99F-BF50-8E1A-CC69-35941F5DE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566" y="2608627"/>
            <a:ext cx="4284940" cy="25673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36D34BC-E8ED-0C38-90E9-946A239064BD}"/>
              </a:ext>
            </a:extLst>
          </p:cNvPr>
          <p:cNvSpPr txBox="1"/>
          <p:nvPr/>
        </p:nvSpPr>
        <p:spPr>
          <a:xfrm>
            <a:off x="478767" y="1068570"/>
            <a:ext cx="60988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为每个 </a:t>
            </a:r>
            <a:r>
              <a:rPr lang="en-US" altLang="zh-CN" b="1" dirty="0"/>
              <a:t>FAST </a:t>
            </a:r>
            <a:r>
              <a:rPr lang="zh-CN" altLang="en-US" b="1" dirty="0"/>
              <a:t>关键点计算主方向</a:t>
            </a:r>
          </a:p>
          <a:p>
            <a:pPr>
              <a:buNone/>
            </a:pPr>
            <a:r>
              <a:rPr lang="zh-CN" altLang="en-US" dirty="0"/>
              <a:t>采用灰度质心法：</a:t>
            </a:r>
          </a:p>
          <a:p>
            <a:r>
              <a:rPr lang="zh-CN" altLang="en-US" dirty="0"/>
              <a:t>根据关键点邻域内的灰度分布计算质心</a:t>
            </a:r>
          </a:p>
          <a:p>
            <a:r>
              <a:rPr lang="zh-CN" altLang="en-US" dirty="0"/>
              <a:t>从关键点指向质心的向量作为特征方向</a:t>
            </a:r>
          </a:p>
          <a:p>
            <a:pPr>
              <a:buNone/>
            </a:pPr>
            <a:r>
              <a:rPr lang="zh-CN" altLang="en-US" dirty="0"/>
              <a:t>使特征在图像旋转时保持稳定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7FEA7B-ADA8-9614-A5A6-81A5FA9BAF48}"/>
              </a:ext>
            </a:extLst>
          </p:cNvPr>
          <p:cNvSpPr txBox="1"/>
          <p:nvPr/>
        </p:nvSpPr>
        <p:spPr>
          <a:xfrm>
            <a:off x="920059" y="5466264"/>
            <a:ext cx="9147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通过灰度质心法为 </a:t>
            </a:r>
            <a:r>
              <a:rPr lang="en-US" altLang="zh-CN" b="1" dirty="0"/>
              <a:t>FAST </a:t>
            </a:r>
            <a:r>
              <a:rPr lang="zh-CN" altLang="en-US" b="1" dirty="0"/>
              <a:t>角点分配主方向，从而弥补其不具备旋转不变性的缺点。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271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F79E-6CDB-65D3-6F11-276F898E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C5F06FF-3BA9-EAC2-D6B9-4AC9E704DD9A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09F053D-7D3D-27FF-F460-498CAAD29C2C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400" dirty="0"/>
              <a:t>SLAM</a:t>
            </a:r>
            <a:r>
              <a:rPr lang="zh-CN" altLang="en-US" sz="2400" dirty="0"/>
              <a:t>与语义分割结合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54A297-3DEC-AB5A-0ADE-8384FDF43D12}"/>
              </a:ext>
            </a:extLst>
          </p:cNvPr>
          <p:cNvSpPr txBox="1"/>
          <p:nvPr/>
        </p:nvSpPr>
        <p:spPr>
          <a:xfrm>
            <a:off x="455641" y="1386541"/>
            <a:ext cx="104573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复合特征，由两部分组成：</a:t>
            </a:r>
          </a:p>
          <a:p>
            <a:r>
              <a:rPr lang="zh-CN" altLang="en-US" dirty="0"/>
              <a:t>关键点：位置 </a:t>
            </a:r>
            <a:r>
              <a:rPr lang="en-US" altLang="zh-CN" dirty="0"/>
              <a:t>+ </a:t>
            </a:r>
            <a:r>
              <a:rPr lang="zh-CN" altLang="en-US" dirty="0"/>
              <a:t>尺度 </a:t>
            </a:r>
            <a:r>
              <a:rPr lang="en-US" altLang="zh-CN" dirty="0"/>
              <a:t>+ </a:t>
            </a:r>
            <a:r>
              <a:rPr lang="zh-CN" altLang="en-US" dirty="0"/>
              <a:t>方向</a:t>
            </a:r>
          </a:p>
          <a:p>
            <a:r>
              <a:rPr lang="zh-CN" altLang="en-US" dirty="0"/>
              <a:t>描述子：</a:t>
            </a:r>
            <a:r>
              <a:rPr lang="en-US" altLang="zh-CN" dirty="0"/>
              <a:t>256 </a:t>
            </a:r>
            <a:r>
              <a:rPr lang="zh-CN" altLang="en-US" dirty="0"/>
              <a:t>位二进制向量</a:t>
            </a:r>
          </a:p>
          <a:p>
            <a:r>
              <a:rPr lang="zh-CN" altLang="en-US" dirty="0"/>
              <a:t>在保证鲁棒性的同时，具有较高的计算效率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E2CA50-3BC0-CCD7-C082-AE0DE8E71C16}"/>
              </a:ext>
            </a:extLst>
          </p:cNvPr>
          <p:cNvSpPr txBox="1"/>
          <p:nvPr/>
        </p:nvSpPr>
        <p:spPr>
          <a:xfrm>
            <a:off x="441571" y="3533944"/>
            <a:ext cx="9221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前面我们介绍的特征在静态环境下表现很好，但在真实场景中，行人、车辆等动态目标会严重影响 </a:t>
            </a:r>
            <a:r>
              <a:rPr lang="en-US" altLang="zh-CN" dirty="0"/>
              <a:t>SLAM </a:t>
            </a:r>
            <a:r>
              <a:rPr lang="zh-CN" altLang="en-US" dirty="0"/>
              <a:t>的稳定性</a:t>
            </a:r>
          </a:p>
        </p:txBody>
      </p:sp>
    </p:spTree>
    <p:extLst>
      <p:ext uri="{BB962C8B-B14F-4D97-AF65-F5344CB8AC3E}">
        <p14:creationId xmlns:p14="http://schemas.microsoft.com/office/powerpoint/2010/main" val="13810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FDFC-FEDB-4D20-56DA-1CAE3DBE5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212257B1-9309-74BD-7BF3-9CD2FF8F7559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9ECE64B-5430-9C73-1303-E37986076E11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sz="2400" b="1" dirty="0"/>
              <a:t> 引入语义分割的动机</a:t>
            </a:r>
            <a:endParaRPr lang="en-US" altLang="zh-CN" sz="24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0CF82D-1006-FE42-EABB-78EB75E26883}"/>
              </a:ext>
            </a:extLst>
          </p:cNvPr>
          <p:cNvSpPr txBox="1"/>
          <p:nvPr/>
        </p:nvSpPr>
        <p:spPr>
          <a:xfrm>
            <a:off x="238664" y="1293960"/>
            <a:ext cx="8957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1601E1-5DBC-EEC4-A3FC-807D1B70ACE5}"/>
              </a:ext>
            </a:extLst>
          </p:cNvPr>
          <p:cNvSpPr txBox="1"/>
          <p:nvPr/>
        </p:nvSpPr>
        <p:spPr>
          <a:xfrm>
            <a:off x="362308" y="1699404"/>
            <a:ext cx="45892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引入语义分割的动机</a:t>
            </a:r>
            <a:endParaRPr lang="en-US" altLang="zh-CN" b="1" dirty="0"/>
          </a:p>
          <a:p>
            <a:r>
              <a:rPr lang="zh-CN" altLang="en-US" dirty="0"/>
              <a:t>语义分割可识别不同类别的像素</a:t>
            </a:r>
          </a:p>
          <a:p>
            <a:r>
              <a:rPr lang="zh-CN" altLang="en-US" dirty="0"/>
              <a:t>可区分 </a:t>
            </a:r>
            <a:r>
              <a:rPr lang="zh-CN" altLang="en-US" b="1" dirty="0"/>
              <a:t>动态物体</a:t>
            </a:r>
            <a:r>
              <a:rPr lang="zh-CN" altLang="en-US" dirty="0"/>
              <a:t> 与 </a:t>
            </a:r>
            <a:r>
              <a:rPr lang="zh-CN" altLang="en-US" b="1" dirty="0"/>
              <a:t>静态结构</a:t>
            </a:r>
            <a:endParaRPr lang="zh-CN" altLang="en-US" dirty="0"/>
          </a:p>
          <a:p>
            <a:r>
              <a:rPr lang="zh-CN" altLang="en-US" dirty="0"/>
              <a:t>为 </a:t>
            </a:r>
            <a:r>
              <a:rPr lang="en-US" altLang="zh-CN" dirty="0"/>
              <a:t>SLAM </a:t>
            </a:r>
            <a:r>
              <a:rPr lang="zh-CN" altLang="en-US" dirty="0"/>
              <a:t>提供高层语义信息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652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0F831-01D4-8911-2D8E-968BA335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AA81EAF-4FAA-2C6A-9052-4ECB7BD8FD8F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841C2E0-0493-1C54-28A5-0BBA060D43C7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sz="2400" b="1" dirty="0"/>
              <a:t>SLAM </a:t>
            </a:r>
            <a:r>
              <a:rPr lang="zh-CN" altLang="en-US" sz="2400" b="1" dirty="0"/>
              <a:t>与语义分割的结合方式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19B1FC-4564-BD6C-E3FC-4183CDDC9413}"/>
              </a:ext>
            </a:extLst>
          </p:cNvPr>
          <p:cNvSpPr txBox="1"/>
          <p:nvPr/>
        </p:nvSpPr>
        <p:spPr>
          <a:xfrm>
            <a:off x="238664" y="1293960"/>
            <a:ext cx="8957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CB912F-BB56-0B50-E0CF-138D871CF12B}"/>
              </a:ext>
            </a:extLst>
          </p:cNvPr>
          <p:cNvSpPr txBox="1"/>
          <p:nvPr/>
        </p:nvSpPr>
        <p:spPr>
          <a:xfrm>
            <a:off x="2757763" y="1859339"/>
            <a:ext cx="51612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输入图像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语义分割（像素级分类）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动态区域剔除 </a:t>
            </a:r>
            <a:r>
              <a:rPr lang="en-US" altLang="zh-CN" sz="2800" b="1" dirty="0"/>
              <a:t>/ </a:t>
            </a:r>
            <a:r>
              <a:rPr lang="zh-CN" altLang="en-US" sz="2800" b="1" dirty="0"/>
              <a:t>语义约束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特征提取与匹配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位姿估计与地图构建</a:t>
            </a:r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350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NiwiaGRpZCI6IjE2MTJhYWM4ODBlZGRiOTg2MjRmY2Q3NmU0NzUwOTBkIiwidXNlckNvdW50IjoyfQ=="/>
  <p:tag name="KSO_WPP_MARK_KEY" val="b5d5d4d8-fae6-4f32-8417-d48d32afacb0"/>
</p:tagLst>
</file>

<file path=ppt/theme/theme1.xml><?xml version="1.0" encoding="utf-8"?>
<a:theme xmlns:a="http://schemas.openxmlformats.org/drawingml/2006/main" name="Office 主题​​">
  <a:themeElements>
    <a:clrScheme name="自定义 18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CA9B6"/>
      </a:accent1>
      <a:accent2>
        <a:srgbClr val="80CA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1378</Words>
  <Application>Microsoft Office PowerPoint</Application>
  <PresentationFormat>宽屏</PresentationFormat>
  <Paragraphs>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阿里巴巴普惠体</vt:lpstr>
      <vt:lpstr>等线</vt:lpstr>
      <vt:lpstr>等线 Light</vt:lpstr>
      <vt:lpstr>思源宋体 CN Heavy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LIC</dc:creator>
  <cp:lastModifiedBy>lic lic</cp:lastModifiedBy>
  <cp:revision>113</cp:revision>
  <dcterms:created xsi:type="dcterms:W3CDTF">2019-11-15T01:58:00Z</dcterms:created>
  <dcterms:modified xsi:type="dcterms:W3CDTF">2026-01-05T10:45:50Z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TemplateUUID">
    <vt:lpwstr>v1.0_mb_dlQcp65oTb8jH0+a0xOncA==</vt:lpwstr>
  </property>
  <property fmtid="{D5CDD505-2E9C-101B-9397-08002B2CF9AE}" pid="4" name="ICV">
    <vt:lpwstr>CD135054CAF64EFEBBF99609DB0A9577</vt:lpwstr>
  </property>
</Properties>
</file>