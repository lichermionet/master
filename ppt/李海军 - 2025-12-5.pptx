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308" r:id="rId3"/>
    <p:sldId id="309" r:id="rId4"/>
    <p:sldId id="310" r:id="rId5"/>
    <p:sldId id="305" r:id="rId6"/>
    <p:sldId id="307" r:id="rId7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80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AAB6"/>
    <a:srgbClr val="5CB2D9"/>
    <a:srgbClr val="82CBC3"/>
    <a:srgbClr val="3E7C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2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108"/>
      </p:cViewPr>
      <p:guideLst>
        <p:guide orient="horz" pos="1780"/>
        <p:guide pos="38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F994-49C7-4BDA-9350-501D68E41408}" type="datetimeFigureOut">
              <a:rPr lang="zh-CN" altLang="en-US" smtClean="0"/>
              <a:t>2025/12/5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4B96DB-7CAD-4047-BDCB-C30EA2BF229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25" t="13778"/>
          <a:stretch>
            <a:fillRect/>
          </a:stretch>
        </p:blipFill>
        <p:spPr>
          <a:xfrm>
            <a:off x="8033993" y="2042160"/>
            <a:ext cx="4158006" cy="48158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25" b="11669"/>
          <a:stretch>
            <a:fillRect/>
          </a:stretch>
        </p:blipFill>
        <p:spPr>
          <a:xfrm>
            <a:off x="107317" y="0"/>
            <a:ext cx="4663438" cy="5533376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860226" y="2808017"/>
            <a:ext cx="5009908" cy="1953877"/>
            <a:chOff x="8059" y="7291"/>
            <a:chExt cx="4836" cy="835"/>
          </a:xfrm>
        </p:grpSpPr>
        <p:sp>
          <p:nvSpPr>
            <p:cNvPr id="78" name="文本框 77"/>
            <p:cNvSpPr txBox="1"/>
            <p:nvPr/>
          </p:nvSpPr>
          <p:spPr>
            <a:xfrm>
              <a:off x="8059" y="7291"/>
              <a:ext cx="3461" cy="2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报告人：李海军</a:t>
              </a:r>
              <a:endPara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+mn-ea"/>
                <a:sym typeface="+mn-lt"/>
              </a:endParaRPr>
            </a:p>
          </p:txBody>
        </p:sp>
        <p:sp>
          <p:nvSpPr>
            <p:cNvPr id="79" name="文本框 78"/>
            <p:cNvSpPr txBox="1"/>
            <p:nvPr/>
          </p:nvSpPr>
          <p:spPr>
            <a:xfrm>
              <a:off x="8198" y="7571"/>
              <a:ext cx="3496" cy="4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指导教师：王小刚</a:t>
              </a:r>
              <a:r>
                <a:rPr lang="en-US" altLang="zh-CN" sz="28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+mn-ea"/>
                  <a:sym typeface="+mn-lt"/>
                </a:rPr>
                <a:t> </a:t>
              </a:r>
            </a:p>
          </p:txBody>
        </p:sp>
        <p:sp>
          <p:nvSpPr>
            <p:cNvPr id="80" name="文本框 79"/>
            <p:cNvSpPr txBox="1"/>
            <p:nvPr/>
          </p:nvSpPr>
          <p:spPr>
            <a:xfrm>
              <a:off x="8449" y="7902"/>
              <a:ext cx="4446" cy="2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报告时间：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2025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年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12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月</a:t>
              </a:r>
              <a:r>
                <a:rPr lang="en-US" altLang="zh-CN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5</a:t>
              </a:r>
              <a:r>
                <a:rPr lang="zh-CN" alt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  <a:sym typeface="+mn-lt"/>
                </a:rPr>
                <a:t>日</a:t>
              </a:r>
            </a:p>
          </p:txBody>
        </p:sp>
      </p:grpSp>
      <p:sp>
        <p:nvSpPr>
          <p:cNvPr id="77" name="矩形 76"/>
          <p:cNvSpPr/>
          <p:nvPr/>
        </p:nvSpPr>
        <p:spPr>
          <a:xfrm>
            <a:off x="2454048" y="580905"/>
            <a:ext cx="7331310" cy="1322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zh-CN" altLang="en-US" sz="8000" dirty="0">
                <a:solidFill>
                  <a:srgbClr val="3DAAB6"/>
                </a:solidFill>
                <a:latin typeface="思源宋体 CN Heavy" panose="02020900000000000000" charset="-122"/>
                <a:ea typeface="思源宋体 CN Heavy" panose="02020900000000000000" charset="-122"/>
                <a:cs typeface="+mn-ea"/>
                <a:sym typeface="+mn-lt"/>
              </a:rPr>
              <a:t>学术汇报</a:t>
            </a:r>
            <a:endParaRPr kumimoji="0" lang="en-US" altLang="zh-CN" sz="8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 Heavy" panose="02020900000000000000" charset="-122"/>
              <a:ea typeface="思源宋体 CN Heavy" panose="02020900000000000000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/>
      <p:bldP spid="77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96A7-6EA9-1BF5-4F5C-C5EAAB40A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78AB3E6-048D-F3F8-5FBF-6AD4B34A4B15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0688EF6-DDED-4378-0B4F-A27A15C8888A}"/>
              </a:ext>
            </a:extLst>
          </p:cNvPr>
          <p:cNvSpPr/>
          <p:nvPr/>
        </p:nvSpPr>
        <p:spPr>
          <a:xfrm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3BED4F-236C-06B4-F302-F1F385A051AB}"/>
              </a:ext>
            </a:extLst>
          </p:cNvPr>
          <p:cNvSpPr txBox="1"/>
          <p:nvPr/>
        </p:nvSpPr>
        <p:spPr>
          <a:xfrm>
            <a:off x="327254" y="1240972"/>
            <a:ext cx="1146505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传统建图的缺陷</a:t>
            </a:r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r>
              <a:rPr lang="zh-CN" altLang="en-US" sz="3600" dirty="0"/>
              <a:t>主要依靠点和面，作为几何表现形式</a:t>
            </a:r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r>
              <a:rPr lang="zh-CN" altLang="en-US" sz="3600" dirty="0"/>
              <a:t>地图仅含几何信息 → 缺乏语义理解，无法理解真正的建图场景</a:t>
            </a:r>
            <a:endParaRPr lang="en-US" altLang="zh-CN" sz="3600" dirty="0"/>
          </a:p>
          <a:p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2474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B63D7-EFA2-5AF9-E983-DA546E57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5DA4833-B87F-DB59-D97B-798E18007D78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9F26A371-5989-B207-62CC-E2CCD9A41D99}"/>
              </a:ext>
            </a:extLst>
          </p:cNvPr>
          <p:cNvSpPr/>
          <p:nvPr/>
        </p:nvSpPr>
        <p:spPr>
          <a:xfrm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 descr="桌子上的电脑&#10;&#10;AI 生成的内容可能不正确。">
            <a:extLst>
              <a:ext uri="{FF2B5EF4-FFF2-40B4-BE49-F238E27FC236}">
                <a16:creationId xmlns:a16="http://schemas.microsoft.com/office/drawing/2014/main" id="{497FE30B-69E7-4DA1-EBF3-50AAA67AA4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02" y="1109357"/>
            <a:ext cx="8309003" cy="2624313"/>
          </a:xfrm>
          <a:prstGeom prst="rect">
            <a:avLst/>
          </a:prstGeom>
        </p:spPr>
      </p:pic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06BF0069-D21C-7F7B-832A-A2144CAD6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56" y="4146543"/>
            <a:ext cx="4913489" cy="246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55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A9F569-B440-D29D-8AD5-3D2AADE7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1C45287-85AE-DDF6-0D21-054EE0D07236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D676CF8-B1F0-77D1-1877-9D51DC048C7C}"/>
              </a:ext>
            </a:extLst>
          </p:cNvPr>
          <p:cNvSpPr/>
          <p:nvPr/>
        </p:nvSpPr>
        <p:spPr>
          <a:xfrm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E6323F2-AE52-414D-5E2F-6D88F6604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7" y="1005841"/>
            <a:ext cx="6241272" cy="1987526"/>
          </a:xfrm>
          <a:prstGeom prst="rect">
            <a:avLst/>
          </a:prstGeom>
        </p:spPr>
      </p:pic>
      <p:pic>
        <p:nvPicPr>
          <p:cNvPr id="6" name="图片 5" descr="人的照片上写着字&#10;&#10;AI 生成的内容可能不正确。">
            <a:extLst>
              <a:ext uri="{FF2B5EF4-FFF2-40B4-BE49-F238E27FC236}">
                <a16:creationId xmlns:a16="http://schemas.microsoft.com/office/drawing/2014/main" id="{D4BA7881-11B3-E51C-593E-425225A79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957" y="2997653"/>
            <a:ext cx="6168516" cy="2091667"/>
          </a:xfrm>
          <a:prstGeom prst="rect">
            <a:avLst/>
          </a:prstGeom>
        </p:spPr>
      </p:pic>
      <p:pic>
        <p:nvPicPr>
          <p:cNvPr id="10" name="图片 9" descr="黑胶唱片的封面&#10;&#10;AI 生成的内容可能不正确。">
            <a:extLst>
              <a:ext uri="{FF2B5EF4-FFF2-40B4-BE49-F238E27FC236}">
                <a16:creationId xmlns:a16="http://schemas.microsoft.com/office/drawing/2014/main" id="{3D6C678B-60BA-959E-FC6F-EF5C8DD71A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313" y="5089320"/>
            <a:ext cx="5069916" cy="171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865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5E94A-F7EC-2F67-E806-52DB92571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29B5E1AB-A321-9520-0112-86E01ECFBCCC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340C4DEB-A838-28DE-D166-5CA51B80D626}"/>
              </a:ext>
            </a:extLst>
          </p:cNvPr>
          <p:cNvSpPr/>
          <p:nvPr/>
        </p:nvSpPr>
        <p:spPr>
          <a:xfrm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723337-44DC-D274-BE53-D1AABE6BD737}"/>
              </a:ext>
            </a:extLst>
          </p:cNvPr>
          <p:cNvSpPr txBox="1"/>
          <p:nvPr/>
        </p:nvSpPr>
        <p:spPr>
          <a:xfrm>
            <a:off x="327254" y="1240972"/>
            <a:ext cx="1049027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传统建图的缺陷</a:t>
            </a:r>
            <a:endParaRPr lang="en-US" altLang="zh-CN" sz="3600" dirty="0"/>
          </a:p>
          <a:p>
            <a:endParaRPr lang="en-US" altLang="zh-CN" sz="3600" dirty="0"/>
          </a:p>
          <a:p>
            <a:r>
              <a:rPr lang="en-US" altLang="zh-CN" sz="3600" dirty="0"/>
              <a:t>• </a:t>
            </a:r>
            <a:r>
              <a:rPr lang="zh-CN" altLang="en-US" sz="3600" dirty="0"/>
              <a:t>行人等动态物体会破坏特征匹配，太粗糙的环境</a:t>
            </a:r>
            <a:endParaRPr lang="en-US" altLang="zh-CN" sz="3600" dirty="0"/>
          </a:p>
          <a:p>
            <a:endParaRPr lang="en-US" altLang="zh-CN" sz="3600" dirty="0"/>
          </a:p>
          <a:p>
            <a:endParaRPr lang="zh-CN" altLang="en-US" sz="3600" dirty="0"/>
          </a:p>
          <a:p>
            <a:r>
              <a:rPr lang="en-US" altLang="zh-CN" sz="3600" dirty="0"/>
              <a:t>• </a:t>
            </a:r>
            <a:r>
              <a:rPr lang="zh-CN" altLang="en-US" sz="3600" dirty="0"/>
              <a:t>可能导致 </a:t>
            </a:r>
            <a:r>
              <a:rPr lang="en-US" altLang="zh-CN" sz="3600" dirty="0"/>
              <a:t>tracking </a:t>
            </a:r>
            <a:r>
              <a:rPr lang="zh-CN" altLang="en-US" sz="3600" dirty="0"/>
              <a:t>丢失或地图错误</a:t>
            </a:r>
            <a:endParaRPr lang="en-US" altLang="zh-CN" sz="3600" dirty="0"/>
          </a:p>
          <a:p>
            <a:endParaRPr lang="en-US" altLang="zh-CN" sz="3600" dirty="0"/>
          </a:p>
          <a:p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0122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13A4-9C50-7F3D-F94C-32EA758AB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554375C9-3E4B-07B7-2C20-CD2F570AF958}"/>
              </a:ext>
            </a:extLst>
          </p:cNvPr>
          <p:cNvSpPr/>
          <p:nvPr/>
        </p:nvSpPr>
        <p:spPr>
          <a:xfrm flipV="1">
            <a:off x="9949988" y="429065"/>
            <a:ext cx="2242013" cy="576775"/>
          </a:xfrm>
          <a:custGeom>
            <a:avLst/>
            <a:gdLst>
              <a:gd name="connsiteX0" fmla="*/ 0 w 2242013"/>
              <a:gd name="connsiteY0" fmla="*/ 576775 h 576775"/>
              <a:gd name="connsiteX1" fmla="*/ 2242013 w 2242013"/>
              <a:gd name="connsiteY1" fmla="*/ 576775 h 576775"/>
              <a:gd name="connsiteX2" fmla="*/ 2242013 w 2242013"/>
              <a:gd name="connsiteY2" fmla="*/ 0 h 576775"/>
              <a:gd name="connsiteX3" fmla="*/ 284483 w 2242013"/>
              <a:gd name="connsiteY3" fmla="*/ 0 h 576775"/>
              <a:gd name="connsiteX4" fmla="*/ 0 w 2242013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2013" h="576775">
                <a:moveTo>
                  <a:pt x="0" y="576775"/>
                </a:moveTo>
                <a:lnTo>
                  <a:pt x="2242013" y="576775"/>
                </a:lnTo>
                <a:lnTo>
                  <a:pt x="2242013" y="0"/>
                </a:lnTo>
                <a:lnTo>
                  <a:pt x="284483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2865CB9-837B-7B64-738F-9E4A26200C7B}"/>
              </a:ext>
            </a:extLst>
          </p:cNvPr>
          <p:cNvSpPr/>
          <p:nvPr/>
        </p:nvSpPr>
        <p:spPr>
          <a:xfrm flipV="1">
            <a:off x="0" y="429065"/>
            <a:ext cx="10067790" cy="576775"/>
          </a:xfrm>
          <a:custGeom>
            <a:avLst/>
            <a:gdLst>
              <a:gd name="connsiteX0" fmla="*/ 0 w 10067790"/>
              <a:gd name="connsiteY0" fmla="*/ 576775 h 576775"/>
              <a:gd name="connsiteX1" fmla="*/ 9783307 w 10067790"/>
              <a:gd name="connsiteY1" fmla="*/ 576775 h 576775"/>
              <a:gd name="connsiteX2" fmla="*/ 10067790 w 10067790"/>
              <a:gd name="connsiteY2" fmla="*/ 0 h 576775"/>
              <a:gd name="connsiteX3" fmla="*/ 0 w 10067790"/>
              <a:gd name="connsiteY3" fmla="*/ 0 h 576775"/>
              <a:gd name="connsiteX4" fmla="*/ 0 w 10067790"/>
              <a:gd name="connsiteY4" fmla="*/ 576775 h 576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67790" h="576775">
                <a:moveTo>
                  <a:pt x="0" y="576775"/>
                </a:moveTo>
                <a:lnTo>
                  <a:pt x="9783307" y="576775"/>
                </a:lnTo>
                <a:lnTo>
                  <a:pt x="10067790" y="0"/>
                </a:lnTo>
                <a:lnTo>
                  <a:pt x="0" y="0"/>
                </a:lnTo>
                <a:lnTo>
                  <a:pt x="0" y="5767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4E21A9-D95D-8BE5-085D-1ECDFE266099}"/>
              </a:ext>
            </a:extLst>
          </p:cNvPr>
          <p:cNvSpPr txBox="1"/>
          <p:nvPr/>
        </p:nvSpPr>
        <p:spPr>
          <a:xfrm>
            <a:off x="327254" y="1240972"/>
            <a:ext cx="109215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• </a:t>
            </a:r>
            <a:r>
              <a:rPr lang="zh-CN" altLang="en-US" sz="4800" dirty="0"/>
              <a:t>传统 </a:t>
            </a:r>
            <a:r>
              <a:rPr lang="en-US" altLang="zh-CN" sz="4800" dirty="0"/>
              <a:t>SLAM → </a:t>
            </a:r>
            <a:r>
              <a:rPr lang="zh-CN" altLang="en-US" sz="4800" dirty="0"/>
              <a:t>只含点</a:t>
            </a:r>
            <a:r>
              <a:rPr lang="en-US" altLang="zh-CN" sz="4800" dirty="0"/>
              <a:t>/</a:t>
            </a:r>
            <a:r>
              <a:rPr lang="zh-CN" altLang="en-US" sz="4800" dirty="0"/>
              <a:t>面，不含语义</a:t>
            </a:r>
          </a:p>
          <a:p>
            <a:r>
              <a:rPr lang="en-US" altLang="zh-CN" sz="4800" dirty="0"/>
              <a:t>• </a:t>
            </a:r>
            <a:r>
              <a:rPr lang="zh-CN" altLang="en-US" sz="4800" dirty="0"/>
              <a:t>传感器无法理解“物体是什么”</a:t>
            </a:r>
          </a:p>
          <a:p>
            <a:r>
              <a:rPr lang="en-US" altLang="zh-CN" sz="4800" dirty="0"/>
              <a:t>• </a:t>
            </a:r>
            <a:r>
              <a:rPr lang="zh-CN" altLang="en-US" sz="4800" dirty="0"/>
              <a:t>深度学习推动语义分割发展</a:t>
            </a:r>
          </a:p>
          <a:p>
            <a:r>
              <a:rPr lang="en-US" altLang="zh-CN" sz="4800" dirty="0"/>
              <a:t>• </a:t>
            </a:r>
            <a:r>
              <a:rPr lang="zh-CN" altLang="en-US" sz="4800" dirty="0"/>
              <a:t>语义 </a:t>
            </a:r>
            <a:r>
              <a:rPr lang="en-US" altLang="zh-CN" sz="4800" dirty="0"/>
              <a:t>SLAM → </a:t>
            </a:r>
            <a:r>
              <a:rPr lang="zh-CN" altLang="en-US" sz="4800" dirty="0"/>
              <a:t>让传感器真正理解环境</a:t>
            </a:r>
            <a:endParaRPr lang="en-US" altLang="zh-CN" sz="4800" dirty="0"/>
          </a:p>
          <a:p>
            <a:r>
              <a:rPr lang="zh-CN" altLang="en-US" sz="4800" dirty="0"/>
              <a:t>结合</a:t>
            </a:r>
            <a:r>
              <a:rPr lang="zh-CN" altLang="en-US" sz="4800" dirty="0">
                <a:solidFill>
                  <a:srgbClr val="EE0000"/>
                </a:solidFill>
              </a:rPr>
              <a:t>点</a:t>
            </a:r>
            <a:r>
              <a:rPr lang="en-US" altLang="zh-CN" sz="4800" dirty="0">
                <a:solidFill>
                  <a:srgbClr val="EE0000"/>
                </a:solidFill>
              </a:rPr>
              <a:t>/</a:t>
            </a:r>
            <a:r>
              <a:rPr lang="zh-CN" altLang="en-US" sz="4800" dirty="0">
                <a:solidFill>
                  <a:srgbClr val="EE0000"/>
                </a:solidFill>
              </a:rPr>
              <a:t>面</a:t>
            </a:r>
            <a:r>
              <a:rPr lang="zh-CN" altLang="en-US" sz="4800" dirty="0"/>
              <a:t>与</a:t>
            </a:r>
            <a:r>
              <a:rPr lang="zh-CN" altLang="en-US" sz="4800" dirty="0">
                <a:solidFill>
                  <a:srgbClr val="EE0000"/>
                </a:solidFill>
              </a:rPr>
              <a:t>对象</a:t>
            </a:r>
            <a:r>
              <a:rPr lang="zh-CN" altLang="en-US" sz="4800" dirty="0"/>
              <a:t>检测</a:t>
            </a:r>
          </a:p>
          <a:p>
            <a:r>
              <a:rPr lang="zh-CN" altLang="en-US" sz="4800" dirty="0"/>
              <a:t>实现更全面的环境理解</a:t>
            </a:r>
          </a:p>
          <a:p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134416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jb3VudCI6NiwiaGRpZCI6IjE2MTJhYWM4ODBlZGRiOTg2MjRmY2Q3NmU0NzUwOTBkIiwidXNlckNvdW50IjoyfQ=="/>
  <p:tag name="KSO_WPP_MARK_KEY" val="b5d5d4d8-fae6-4f32-8417-d48d32afacb0"/>
</p:tagLst>
</file>

<file path=ppt/theme/theme1.xml><?xml version="1.0" encoding="utf-8"?>
<a:theme xmlns:a="http://schemas.openxmlformats.org/drawingml/2006/main" name="Office 主题​​">
  <a:themeElements>
    <a:clrScheme name="自定义 185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CA9B6"/>
      </a:accent1>
      <a:accent2>
        <a:srgbClr val="80CAC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200</Words>
  <Application>Microsoft Office PowerPoint</Application>
  <PresentationFormat>宽屏</PresentationFormat>
  <Paragraphs>24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阿里巴巴普惠体</vt:lpstr>
      <vt:lpstr>等线</vt:lpstr>
      <vt:lpstr>等线 Light</vt:lpstr>
      <vt:lpstr>思源宋体 CN Heavy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LIC</dc:creator>
  <cp:lastModifiedBy>lic lic</cp:lastModifiedBy>
  <cp:revision>92</cp:revision>
  <dcterms:created xsi:type="dcterms:W3CDTF">2019-11-15T01:58:00Z</dcterms:created>
  <dcterms:modified xsi:type="dcterms:W3CDTF">2025-12-05T09:20:24Z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KSOTemplateUUID">
    <vt:lpwstr>v1.0_mb_dlQcp65oTb8jH0+a0xOncA==</vt:lpwstr>
  </property>
  <property fmtid="{D5CDD505-2E9C-101B-9397-08002B2CF9AE}" pid="4" name="ICV">
    <vt:lpwstr>CD135054CAF64EFEBBF99609DB0A9577</vt:lpwstr>
  </property>
</Properties>
</file>