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5B_3B49EB03.xml" ContentType="application/vnd.ms-powerpoint.comments+xml"/>
  <Override PartName="/ppt/comments/modernComment_16E_241D3F86.xml" ContentType="application/vnd.ms-powerpoint.comments+xml"/>
  <Override PartName="/ppt/comments/modernComment_15D_152A7AF.xml" ContentType="application/vnd.ms-powerpoint.comments+xml"/>
  <Override PartName="/ppt/comments/modernComment_173_AFEF2746.xml" ContentType="application/vnd.ms-powerpoint.comments+xml"/>
  <Override PartName="/ppt/comments/modernComment_15E_B2E76BCE.xml" ContentType="application/vnd.ms-powerpoint.comments+xml"/>
  <Override PartName="/ppt/comments/modernComment_16F_C8DFA700.xml" ContentType="application/vnd.ms-powerpoint.comments+xml"/>
  <Override PartName="/ppt/comments/modernComment_157_856000EE.xml" ContentType="application/vnd.ms-powerpoint.comments+xml"/>
  <Override PartName="/ppt/comments/modernComment_162_E0A823F1.xml" ContentType="application/vnd.ms-powerpoint.comments+xml"/>
  <Override PartName="/ppt/comments/modernComment_163_114ADAB1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307" r:id="rId3"/>
    <p:sldId id="337" r:id="rId4"/>
    <p:sldId id="339" r:id="rId5"/>
    <p:sldId id="335" r:id="rId6"/>
    <p:sldId id="347" r:id="rId7"/>
    <p:sldId id="341" r:id="rId8"/>
    <p:sldId id="366" r:id="rId9"/>
    <p:sldId id="349" r:id="rId10"/>
    <p:sldId id="371" r:id="rId11"/>
    <p:sldId id="350" r:id="rId12"/>
    <p:sldId id="367" r:id="rId13"/>
    <p:sldId id="368" r:id="rId14"/>
    <p:sldId id="372" r:id="rId15"/>
    <p:sldId id="373" r:id="rId16"/>
    <p:sldId id="331" r:id="rId17"/>
    <p:sldId id="374" r:id="rId18"/>
    <p:sldId id="333" r:id="rId19"/>
    <p:sldId id="343" r:id="rId20"/>
    <p:sldId id="370" r:id="rId21"/>
    <p:sldId id="354" r:id="rId22"/>
    <p:sldId id="355" r:id="rId23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80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4B1E45B-21A3-B35F-D196-1C84AFFB7FE8}" name="lic lic" initials="ll" userId="9738c7baaa470de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B2D9"/>
    <a:srgbClr val="3DAAB6"/>
    <a:srgbClr val="82CBC3"/>
    <a:srgbClr val="3E7C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 showGuides="1">
      <p:cViewPr varScale="1">
        <p:scale>
          <a:sx n="160" d="100"/>
          <a:sy n="160" d="100"/>
        </p:scale>
        <p:origin x="264" y="132"/>
      </p:cViewPr>
      <p:guideLst>
        <p:guide orient="horz" pos="1780"/>
        <p:guide pos="38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omments/modernComment_15B_3B49EB0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26CF067-C158-48CE-A5F5-2CACE4ACA918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comments/modernComment_15D_152A7A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F7FF146-A727-4FE4-945D-CD015089EA98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comments/modernComment_15E_B2E76BC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8F31BB0-6706-4D98-975B-13F3805723AC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comments/modernComment_16E_241D3F8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B5D8831-BF8D-4C1D-9092-1EF79F8EE895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comments/modernComment_16F_C8DFA70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A943C02-DF3B-4ECE-879C-191ABC166944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comments/modernComment_157_856000E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233920E-EFD6-4602-B8AE-EBCA4593EE15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comments/modernComment_162_E0A823F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585BF94-62A0-4850-BB09-95A9EC8340C8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comments/modernComment_163_114ADAB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B529634-0566-4425-9297-11BCF107AA52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comments/modernComment_173_AFEF274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A16FEC0-9B7C-4499-A7E5-1E7F42E33360}" authorId="{14B1E45B-21A3-B35F-D196-1C84AFFB7FE8}" created="2025-12-22T07:35:57.316">
    <pc:sldMkLst xmlns:pc="http://schemas.microsoft.com/office/powerpoint/2013/main/command">
      <pc:docMk/>
      <pc:sldMk cId="1626522625" sldId="340"/>
    </pc:sldMkLst>
    <p188:replyLst>
      <p188:reply id="{FF1D715D-3C8D-48AC-A30F-068CD8CE652C}" authorId="{14B1E45B-21A3-B35F-D196-1C84AFFB7FE8}" created="2025-12-22T07:41:39.360">
        <p188:txBody>
          <a:bodyPr/>
          <a:lstStyle/>
          <a:p>
            <a:r>
              <a:rPr lang="zh-CN" altLang="en-US"/>
              <a:t>系统首先对图像进行语义分割，识别出动态目标区域，然后在静态区域中提取 ORB 特征，从而提高位姿估计的鲁棒性。</a:t>
            </a:r>
          </a:p>
        </p188:txBody>
      </p188:reply>
      <p188:reply id="{4B0A8985-27AC-4EF9-8419-4D1FD94B67AC}" authorId="{14B1E45B-21A3-B35F-D196-1C84AFFB7FE8}" created="2025-12-22T07:43:11.438">
        <p188:txBody>
          <a:bodyPr/>
          <a:lstStyle/>
          <a:p>
            <a:r>
              <a:rPr lang="zh-CN" altLang="en-US"/>
              <a:t>传统 SLAM 解决“在哪里”，语义分割解决“是什么”，二者结合解决“在动态环境中稳定地定位与建图”。</a:t>
            </a:r>
          </a:p>
        </p188:txBody>
      </p188:reply>
    </p188:replyLst>
    <p188:txBody>
      <a:bodyPr/>
      <a:lstStyle/>
      <a:p>
        <a:r>
          <a:rPr lang="zh-CN" altLang="en-US"/>
          <a:t>“语义分割可以告诉系统，这些像素属于人、车还是墙，从而为 SLAM 提供额外的先验信息。”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3F994-49C7-4BDA-9350-501D68E41408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microsoft.com/office/2018/10/relationships/comments" Target="../comments/modernComment_15B_3B49EB0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11" Type="http://schemas.openxmlformats.org/officeDocument/2006/relationships/image" Target="../media/image16.jpeg"/><Relationship Id="rId5" Type="http://schemas.openxmlformats.org/officeDocument/2006/relationships/image" Target="../media/image10.jpeg"/><Relationship Id="rId10" Type="http://schemas.openxmlformats.org/officeDocument/2006/relationships/image" Target="../media/image15.jpeg"/><Relationship Id="rId4" Type="http://schemas.openxmlformats.org/officeDocument/2006/relationships/image" Target="../media/image9.jpeg"/><Relationship Id="rId9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microsoft.com/office/2018/10/relationships/comments" Target="../comments/modernComment_16E_241D3F8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microsoft.com/office/2018/10/relationships/comments" Target="../comments/modernComment_15D_152A7AF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microsoft.com/office/2018/10/relationships/comments" Target="../comments/modernComment_173_AFEF27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microsoft.com/office/2018/10/relationships/comments" Target="../comments/modernComment_15E_B2E76BCE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microsoft.com/office/2018/10/relationships/comments" Target="../comments/modernComment_16F_C8DFA70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57_856000EE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62_E0A823F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63_114ADAB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25" t="13778"/>
          <a:stretch>
            <a:fillRect/>
          </a:stretch>
        </p:blipFill>
        <p:spPr>
          <a:xfrm>
            <a:off x="8033993" y="2042160"/>
            <a:ext cx="4158006" cy="48158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25" b="11669"/>
          <a:stretch>
            <a:fillRect/>
          </a:stretch>
        </p:blipFill>
        <p:spPr>
          <a:xfrm>
            <a:off x="107317" y="0"/>
            <a:ext cx="4663438" cy="5533376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3860226" y="2808017"/>
            <a:ext cx="4807895" cy="1953877"/>
            <a:chOff x="8059" y="7291"/>
            <a:chExt cx="4641" cy="835"/>
          </a:xfrm>
        </p:grpSpPr>
        <p:sp>
          <p:nvSpPr>
            <p:cNvPr id="78" name="文本框 77"/>
            <p:cNvSpPr txBox="1"/>
            <p:nvPr/>
          </p:nvSpPr>
          <p:spPr>
            <a:xfrm>
              <a:off x="8059" y="7291"/>
              <a:ext cx="3461" cy="2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+mn-ea"/>
                  <a:sym typeface="+mn-lt"/>
                </a:rPr>
                <a:t>报告人：李海军</a:t>
              </a:r>
              <a:endPara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+mn-ea"/>
                <a:sym typeface="+mn-lt"/>
              </a:endParaRP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8198" y="7571"/>
              <a:ext cx="3496" cy="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+mn-ea"/>
                  <a:sym typeface="+mn-lt"/>
                </a:rPr>
                <a:t>指导教师：王小刚</a:t>
              </a:r>
              <a:r>
                <a:rPr lang="en-US" altLang="zh-CN" sz="2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+mn-ea"/>
                  <a:sym typeface="+mn-lt"/>
                </a:rPr>
                <a:t> </a:t>
              </a: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8468" y="7902"/>
              <a:ext cx="4232" cy="2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报告时间：</a:t>
              </a:r>
              <a:r>
                <a:rPr lang="en-US" altLang="zh-CN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2026</a:t>
              </a:r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年</a:t>
              </a:r>
              <a:r>
                <a:rPr lang="en-US" altLang="zh-CN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1</a:t>
              </a:r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月</a:t>
              </a:r>
              <a:r>
                <a:rPr lang="en-US" altLang="zh-CN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4</a:t>
              </a:r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日</a:t>
              </a:r>
            </a:p>
          </p:txBody>
        </p:sp>
      </p:grpSp>
      <p:sp>
        <p:nvSpPr>
          <p:cNvPr id="77" name="矩形 76"/>
          <p:cNvSpPr/>
          <p:nvPr/>
        </p:nvSpPr>
        <p:spPr>
          <a:xfrm>
            <a:off x="460188" y="959208"/>
            <a:ext cx="11582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5CB2D9"/>
                </a:solidFill>
              </a:rPr>
              <a:t>基于局部梯度能量的 </a:t>
            </a:r>
            <a:r>
              <a:rPr lang="en-US" altLang="zh-CN" sz="4800" b="1" dirty="0">
                <a:solidFill>
                  <a:srgbClr val="5CB2D9"/>
                </a:solidFill>
              </a:rPr>
              <a:t>SLAM </a:t>
            </a:r>
            <a:r>
              <a:rPr lang="zh-CN" altLang="en-US" sz="4800" b="1" dirty="0">
                <a:solidFill>
                  <a:srgbClr val="5CB2D9"/>
                </a:solidFill>
              </a:rPr>
              <a:t>特征改进及其在动态场景中的应用</a:t>
            </a:r>
            <a:endParaRPr lang="zh-CN" altLang="en-US" sz="4800" dirty="0">
              <a:solidFill>
                <a:srgbClr val="5CB2D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77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1F884-AA55-FDB2-26A6-23FEDDECA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A66610AE-958A-9670-999D-C8E44E8397BE}"/>
              </a:ext>
            </a:extLst>
          </p:cNvPr>
          <p:cNvSpPr/>
          <p:nvPr/>
        </p:nvSpPr>
        <p:spPr>
          <a:xfrm flipV="1">
            <a:off x="9949988" y="429065"/>
            <a:ext cx="2242013" cy="576775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639CC7EE-9DD5-9AC8-47DB-47365436B827}"/>
              </a:ext>
            </a:extLst>
          </p:cNvPr>
          <p:cNvSpPr/>
          <p:nvPr/>
        </p:nvSpPr>
        <p:spPr>
          <a:xfrm flipV="1">
            <a:off x="0" y="429065"/>
            <a:ext cx="10067790" cy="576775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4B7464-C0F6-80D4-77D7-F1E837740227}"/>
              </a:ext>
            </a:extLst>
          </p:cNvPr>
          <p:cNvSpPr/>
          <p:nvPr/>
        </p:nvSpPr>
        <p:spPr>
          <a:xfrm>
            <a:off x="1981200" y="1633728"/>
            <a:ext cx="91440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sz="2800" dirty="0"/>
              <a:t>1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190EFC2-DC1E-FDAF-EC26-5970A0342017}"/>
              </a:ext>
            </a:extLst>
          </p:cNvPr>
          <p:cNvSpPr/>
          <p:nvPr/>
        </p:nvSpPr>
        <p:spPr>
          <a:xfrm>
            <a:off x="2987040" y="1633728"/>
            <a:ext cx="6400800" cy="731520"/>
          </a:xfrm>
          <a:prstGeom prst="roundRect">
            <a:avLst/>
          </a:prstGeom>
          <a:solidFill>
            <a:srgbClr val="E6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zh-CN" altLang="en-US" sz="2400" dirty="0"/>
              <a:t>研究</a:t>
            </a:r>
            <a:r>
              <a:rPr sz="2400" dirty="0" err="1"/>
              <a:t>背景及意义</a:t>
            </a:r>
            <a:endParaRPr sz="24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F7494DA-E25A-7780-6AE6-6323EA2B27D1}"/>
              </a:ext>
            </a:extLst>
          </p:cNvPr>
          <p:cNvSpPr/>
          <p:nvPr/>
        </p:nvSpPr>
        <p:spPr>
          <a:xfrm>
            <a:off x="1981200" y="2548128"/>
            <a:ext cx="914400" cy="731520"/>
          </a:xfrm>
          <a:prstGeom prst="rect">
            <a:avLst/>
          </a:prstGeom>
          <a:solidFill>
            <a:srgbClr val="3DA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2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05382364-0ABA-2B77-C30E-E15159A43FF7}"/>
              </a:ext>
            </a:extLst>
          </p:cNvPr>
          <p:cNvSpPr/>
          <p:nvPr/>
        </p:nvSpPr>
        <p:spPr>
          <a:xfrm>
            <a:off x="2987040" y="2548128"/>
            <a:ext cx="6400800" cy="731520"/>
          </a:xfrm>
          <a:prstGeom prst="roundRect">
            <a:avLst/>
          </a:prstGeom>
          <a:solidFill>
            <a:srgbClr val="E6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en-US" sz="2400" dirty="0"/>
              <a:t>SLAM</a:t>
            </a:r>
            <a:r>
              <a:rPr lang="zh-CN" altLang="en-US" sz="2400" dirty="0"/>
              <a:t>与语义分割结合</a:t>
            </a:r>
            <a:endParaRPr sz="2400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D97CF32-5795-4C14-9B82-24E07FBC2705}"/>
              </a:ext>
            </a:extLst>
          </p:cNvPr>
          <p:cNvSpPr/>
          <p:nvPr/>
        </p:nvSpPr>
        <p:spPr>
          <a:xfrm>
            <a:off x="1981200" y="3462528"/>
            <a:ext cx="914400" cy="731520"/>
          </a:xfrm>
          <a:prstGeom prst="rect">
            <a:avLst/>
          </a:prstGeom>
          <a:solidFill>
            <a:srgbClr val="3DA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sz="2800"/>
              <a:t>3</a:t>
            </a: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1971D246-E5AE-D0FB-674E-A45B5200F1ED}"/>
              </a:ext>
            </a:extLst>
          </p:cNvPr>
          <p:cNvSpPr/>
          <p:nvPr/>
        </p:nvSpPr>
        <p:spPr>
          <a:xfrm>
            <a:off x="2987040" y="3462528"/>
            <a:ext cx="6400800" cy="731520"/>
          </a:xfrm>
          <a:prstGeom prst="roundRect">
            <a:avLst/>
          </a:prstGeom>
          <a:solidFill>
            <a:srgbClr val="E6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zh-CN" altLang="en-US" sz="2400" dirty="0"/>
              <a:t>方案设计</a:t>
            </a:r>
            <a:endParaRPr sz="2400" dirty="0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259B31B9-D670-C36F-6B0D-4DB8F4E4F975}"/>
              </a:ext>
            </a:extLst>
          </p:cNvPr>
          <p:cNvSpPr/>
          <p:nvPr/>
        </p:nvSpPr>
        <p:spPr>
          <a:xfrm>
            <a:off x="1981200" y="4376928"/>
            <a:ext cx="914400" cy="731520"/>
          </a:xfrm>
          <a:prstGeom prst="rect">
            <a:avLst/>
          </a:prstGeom>
          <a:solidFill>
            <a:srgbClr val="3DAA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sz="2800" dirty="0"/>
              <a:t>4</a:t>
            </a: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1934B8CB-C398-60EF-DB78-B01C507F7626}"/>
              </a:ext>
            </a:extLst>
          </p:cNvPr>
          <p:cNvSpPr/>
          <p:nvPr/>
        </p:nvSpPr>
        <p:spPr>
          <a:xfrm>
            <a:off x="2987040" y="4376928"/>
            <a:ext cx="6400800" cy="731520"/>
          </a:xfrm>
          <a:prstGeom prst="roundRect">
            <a:avLst/>
          </a:prstGeom>
          <a:solidFill>
            <a:srgbClr val="E6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zh-CN" altLang="en-US" sz="2400" dirty="0"/>
              <a:t>中期总结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680662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D496F-3014-E1A5-709C-CF675DF68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0CB849-A1BA-F6A3-DFD7-D9F9C169F495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15D0FD3B-2489-9007-A8AE-ED0FDCAF3C57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</a:rPr>
              <a:t>  </a:t>
            </a:r>
            <a:r>
              <a:rPr lang="zh-CN" altLang="en-US" sz="2400" b="1" dirty="0">
                <a:solidFill>
                  <a:srgbClr val="0070C0"/>
                </a:solidFill>
              </a:rPr>
              <a:t>研究背景及意义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4CF7119-E65F-DCDE-6228-7122C0116CEB}"/>
              </a:ext>
            </a:extLst>
          </p:cNvPr>
          <p:cNvSpPr txBox="1"/>
          <p:nvPr/>
        </p:nvSpPr>
        <p:spPr>
          <a:xfrm>
            <a:off x="455640" y="1386542"/>
            <a:ext cx="116646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</a:t>
            </a:r>
            <a:r>
              <a:rPr lang="zh-CN" altLang="en-US" b="1" dirty="0"/>
              <a:t>同步定位与建图（</a:t>
            </a:r>
            <a:r>
              <a:rPr lang="en-US" altLang="zh-CN" b="1" dirty="0"/>
              <a:t>Simultaneous Localization and Mapping</a:t>
            </a:r>
            <a:r>
              <a:rPr lang="zh-CN" altLang="en-US" b="1" dirty="0"/>
              <a:t>）是移动机器人、无人驾驶与增强现实等领域的核心基础技术。</a:t>
            </a:r>
            <a:endParaRPr lang="en-US" altLang="zh-CN" b="1" dirty="0"/>
          </a:p>
          <a:p>
            <a:r>
              <a:rPr lang="en-US" altLang="zh-CN" dirty="0"/>
              <a:t>	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9F0A9DE-6484-2FA2-1915-8A95C26EE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820" y="2122065"/>
            <a:ext cx="3571665" cy="238110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D6D3A8F-0454-E6C9-2B2B-887D05B1328E}"/>
              </a:ext>
            </a:extLst>
          </p:cNvPr>
          <p:cNvSpPr txBox="1"/>
          <p:nvPr/>
        </p:nvSpPr>
        <p:spPr>
          <a:xfrm>
            <a:off x="868634" y="4659081"/>
            <a:ext cx="4183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机器人在未知环境作业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5661861-2CCE-FA19-9EC5-33C3534A77D9}"/>
              </a:ext>
            </a:extLst>
          </p:cNvPr>
          <p:cNvSpPr txBox="1"/>
          <p:nvPr/>
        </p:nvSpPr>
        <p:spPr>
          <a:xfrm>
            <a:off x="6587076" y="4690659"/>
            <a:ext cx="4964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虚拟内容能够稳定、准确地叠加到真实世界中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7F0BD66-7D94-356A-96DB-375CE6ACF9DE}"/>
              </a:ext>
            </a:extLst>
          </p:cNvPr>
          <p:cNvSpPr txBox="1"/>
          <p:nvPr/>
        </p:nvSpPr>
        <p:spPr>
          <a:xfrm>
            <a:off x="1495124" y="5794188"/>
            <a:ext cx="10183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没有视觉 </a:t>
            </a:r>
            <a:r>
              <a:rPr lang="en-US" altLang="zh-CN" dirty="0"/>
              <a:t>SLAM → </a:t>
            </a:r>
            <a:r>
              <a:rPr lang="zh-CN" altLang="en-US" dirty="0"/>
              <a:t> 无法实现定位与建图→ 无法实现其它功能。</a:t>
            </a:r>
          </a:p>
        </p:txBody>
      </p:sp>
      <p:pic>
        <p:nvPicPr>
          <p:cNvPr id="10" name="图片 9" descr="图片包含 户外, 人, 男人, 站&#10;&#10;AI 生成的内容可能不正确。">
            <a:extLst>
              <a:ext uri="{FF2B5EF4-FFF2-40B4-BE49-F238E27FC236}">
                <a16:creationId xmlns:a16="http://schemas.microsoft.com/office/drawing/2014/main" id="{D62D4ADF-71AC-57FC-81B2-D3BEF9804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564" y="1988271"/>
            <a:ext cx="4083199" cy="267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528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E9DC8-71D8-0C0D-6E95-D931A149C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32A836A4-C86C-ABBF-10B8-FCCED1249566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66CB039B-7940-9649-E5CE-643E122D6A55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en-US" altLang="zh-CN" sz="2800" b="1" dirty="0">
                <a:solidFill>
                  <a:srgbClr val="0070C0"/>
                </a:solidFill>
              </a:rPr>
              <a:t> </a:t>
            </a:r>
            <a:r>
              <a:rPr lang="zh-CN" altLang="en-US" sz="2400" b="1" dirty="0">
                <a:solidFill>
                  <a:srgbClr val="0070C0"/>
                </a:solidFill>
              </a:rPr>
              <a:t>研究背景及意义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F9F8CDB-F325-71BA-6A4E-92FF75047602}"/>
              </a:ext>
            </a:extLst>
          </p:cNvPr>
          <p:cNvSpPr txBox="1"/>
          <p:nvPr/>
        </p:nvSpPr>
        <p:spPr>
          <a:xfrm>
            <a:off x="455639" y="1386541"/>
            <a:ext cx="1156304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传统视觉</a:t>
            </a:r>
            <a:r>
              <a:rPr lang="en-US" altLang="zh-CN" dirty="0"/>
              <a:t>SLAM</a:t>
            </a:r>
            <a:r>
              <a:rPr lang="zh-CN" altLang="en-US" dirty="0"/>
              <a:t>方法主要分为两大类：特征点法和直接法</a:t>
            </a:r>
            <a:endParaRPr lang="en-US" altLang="zh-CN" dirty="0"/>
          </a:p>
          <a:p>
            <a:r>
              <a:rPr lang="zh-CN" altLang="en-US" dirty="0"/>
              <a:t>这些方法通常建立在静态环境假设的基础上，即假设场景中的大多数特征是静止的，</a:t>
            </a:r>
            <a:endParaRPr lang="en-US" altLang="zh-CN" dirty="0"/>
          </a:p>
          <a:p>
            <a:r>
              <a:rPr lang="zh-CN" altLang="en-US" dirty="0"/>
              <a:t>从而依赖于特征点或像素强度（亮度）在不同帧图像间的时间一致性来估计相机位姿和构建地图。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缺点：</a:t>
            </a:r>
            <a:endParaRPr lang="en-US" altLang="zh-CN" dirty="0"/>
          </a:p>
          <a:p>
            <a:r>
              <a:rPr lang="zh-CN" altLang="en-US" dirty="0"/>
              <a:t>特征点不够区分度不够</a:t>
            </a:r>
            <a:endParaRPr lang="en-US" altLang="zh-CN" dirty="0"/>
          </a:p>
          <a:p>
            <a:r>
              <a:rPr lang="zh-CN" altLang="en-US" dirty="0"/>
              <a:t>如果室内环境中存在动态物体行人，这些一致性会被破坏，导致跟踪失败或位姿估计误差增大。</a:t>
            </a:r>
            <a:endParaRPr lang="zh-CN" altLang="en-US" dirty="0">
              <a:effectLst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0742305-8B54-D45E-B72E-BA8874183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514" y="2670002"/>
            <a:ext cx="2647578" cy="267975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B4103DD-0321-C0AC-32ED-B97E9525B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261" y="2502661"/>
            <a:ext cx="3427911" cy="261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354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689B4-2C63-15A1-DC55-45F77F806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A90A2F06-2BE6-D599-C34E-7F638E60AA39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D55E409D-E2BA-C04E-059D-875047137E1F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</a:rPr>
              <a:t>特征点提取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26012B6-D867-65D8-826E-D6476288AA14}"/>
              </a:ext>
            </a:extLst>
          </p:cNvPr>
          <p:cNvSpPr txBox="1"/>
          <p:nvPr/>
        </p:nvSpPr>
        <p:spPr>
          <a:xfrm>
            <a:off x="238664" y="1293960"/>
            <a:ext cx="895709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FAST </a:t>
            </a:r>
            <a:r>
              <a:rPr lang="zh-CN" altLang="en-US" b="1" dirty="0"/>
              <a:t>角点</a:t>
            </a:r>
            <a:endParaRPr lang="en-US" altLang="zh-CN" b="1" dirty="0"/>
          </a:p>
          <a:p>
            <a:r>
              <a:rPr lang="zh-CN" altLang="en-US" dirty="0"/>
              <a:t>以当前像素为中心，检查半径为 </a:t>
            </a:r>
            <a:r>
              <a:rPr lang="en-US" altLang="zh-CN" dirty="0"/>
              <a:t>3 </a:t>
            </a:r>
            <a:r>
              <a:rPr lang="zh-CN" altLang="en-US" dirty="0"/>
              <a:t>像素的圆形邻域（共 </a:t>
            </a:r>
            <a:r>
              <a:rPr lang="en-US" altLang="zh-CN" dirty="0"/>
              <a:t>16 </a:t>
            </a:r>
            <a:r>
              <a:rPr lang="zh-CN" altLang="en-US" dirty="0"/>
              <a:t>个像素点）</a:t>
            </a:r>
          </a:p>
          <a:p>
            <a:r>
              <a:rPr lang="zh-CN" altLang="en-US" dirty="0"/>
              <a:t>若圆上存在连续 </a:t>
            </a:r>
            <a:r>
              <a:rPr lang="en-US" altLang="zh-CN" dirty="0"/>
              <a:t>N </a:t>
            </a:r>
            <a:r>
              <a:rPr lang="zh-CN" altLang="en-US" dirty="0"/>
              <a:t>个像素点（通常 </a:t>
            </a:r>
            <a:r>
              <a:rPr lang="en-US" altLang="zh-CN" dirty="0"/>
              <a:t>N = 9 </a:t>
            </a:r>
            <a:r>
              <a:rPr lang="zh-CN" altLang="en-US" dirty="0"/>
              <a:t>或 </a:t>
            </a:r>
            <a:r>
              <a:rPr lang="en-US" altLang="zh-CN" dirty="0"/>
              <a:t>12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且其灰度值均明显高于或低于中心像素</a:t>
            </a:r>
          </a:p>
          <a:p>
            <a:r>
              <a:rPr lang="zh-CN" altLang="en-US" dirty="0"/>
              <a:t>则该像素被判定为 </a:t>
            </a:r>
            <a:r>
              <a:rPr lang="en-US" altLang="zh-CN" dirty="0"/>
              <a:t>FAST </a:t>
            </a:r>
            <a:r>
              <a:rPr lang="zh-CN" altLang="en-US" dirty="0"/>
              <a:t>角点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b="1" dirty="0"/>
          </a:p>
          <a:p>
            <a:r>
              <a:rPr lang="en-US" altLang="zh-CN" b="1" dirty="0"/>
              <a:t>FAST </a:t>
            </a:r>
            <a:r>
              <a:rPr lang="zh-CN" altLang="en-US" b="1" dirty="0"/>
              <a:t>的特点</a:t>
            </a:r>
          </a:p>
          <a:p>
            <a:r>
              <a:rPr lang="zh-CN" altLang="en-US" dirty="0"/>
              <a:t>计算速度快，适合实时系统</a:t>
            </a:r>
          </a:p>
          <a:p>
            <a:r>
              <a:rPr lang="zh-CN" altLang="en-US" dirty="0"/>
              <a:t>仅基于灰度比较，无需复杂计算</a:t>
            </a:r>
          </a:p>
          <a:p>
            <a:r>
              <a:rPr lang="zh-CN" altLang="en-US" dirty="0"/>
              <a:t>本身不具备尺度与旋转不变性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0A94E3-E8DD-E7B3-9604-6DECBFE21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190" y="2904667"/>
            <a:ext cx="6248303" cy="2008383"/>
          </a:xfrm>
          <a:prstGeom prst="rect">
            <a:avLst/>
          </a:prstGeom>
        </p:spPr>
      </p:pic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B13D262F-0AF5-8EE0-E792-40C1A7944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07" y="2986238"/>
            <a:ext cx="4383139" cy="1986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277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5A55D-E153-E05E-456E-37654A3B7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C17C8A8B-ACD0-8856-7AA9-08A1A6C7BF50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2B9ACAE5-0B31-7C74-6D27-235B7ADB38BC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C8DD27-DF61-069D-DE46-A46D02EF44EE}"/>
              </a:ext>
            </a:extLst>
          </p:cNvPr>
          <p:cNvSpPr txBox="1"/>
          <p:nvPr/>
        </p:nvSpPr>
        <p:spPr>
          <a:xfrm>
            <a:off x="238663" y="1293961"/>
            <a:ext cx="7639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FAST</a:t>
            </a:r>
            <a:r>
              <a:rPr lang="zh-CN" altLang="en-US" sz="2000" b="1" dirty="0"/>
              <a:t>特征点</a:t>
            </a:r>
            <a:endParaRPr lang="en-US" altLang="zh-CN" sz="20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3554FC-EEDD-D6E4-6199-3923A0A37091}"/>
              </a:ext>
            </a:extLst>
          </p:cNvPr>
          <p:cNvSpPr txBox="1"/>
          <p:nvPr/>
        </p:nvSpPr>
        <p:spPr>
          <a:xfrm>
            <a:off x="5052390" y="59970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</a:rPr>
              <a:t>特征点提取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095A93C-3A73-5ECD-F858-94A080159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782" y="5053108"/>
            <a:ext cx="2091692" cy="171673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2BD72E8-D4E0-FF51-0559-79EB1952EFFE}"/>
              </a:ext>
            </a:extLst>
          </p:cNvPr>
          <p:cNvSpPr txBox="1"/>
          <p:nvPr/>
        </p:nvSpPr>
        <p:spPr>
          <a:xfrm>
            <a:off x="8143461" y="6070447"/>
            <a:ext cx="1961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P</a:t>
            </a:r>
            <a:r>
              <a:rPr lang="zh-CN" altLang="en-US" b="1" dirty="0"/>
              <a:t>：像素中心点</a:t>
            </a:r>
            <a:endParaRPr lang="en-US" altLang="zh-CN" b="1" dirty="0"/>
          </a:p>
          <a:p>
            <a:r>
              <a:rPr lang="en-US" altLang="zh-CN" b="1" dirty="0"/>
              <a:t>N</a:t>
            </a:r>
            <a:r>
              <a:rPr lang="zh-CN" altLang="en-US" b="1" dirty="0"/>
              <a:t>：半径类的像素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CD5FB7D-0F9D-A3FE-5972-EED4BB3BF5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01" y="1694069"/>
            <a:ext cx="1917835" cy="255836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AE53B42-7640-B649-4CEB-17CE7D76129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93" y="4252431"/>
            <a:ext cx="1917834" cy="255836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1B812FE-AD04-E343-A7B1-E874963A033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615" y="4063953"/>
            <a:ext cx="2072926" cy="276336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173B0AC-E411-979F-14E4-A627E7E7704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616" y="1297052"/>
            <a:ext cx="2075582" cy="276690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2E52C176-F1CB-0D16-A4E5-B84AFA0F74C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0393" y="4033551"/>
            <a:ext cx="2051216" cy="273628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BF076A8-5E7A-A487-023A-447701A3DDC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0393" y="1327664"/>
            <a:ext cx="2051216" cy="2736289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C2689D8A-D1E6-AEDA-1D1D-ED4088E456B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6587" y="1573779"/>
            <a:ext cx="2098180" cy="279893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7D01BE5A-FC45-DDFE-348D-00488F972CD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407" y="1573780"/>
            <a:ext cx="2098180" cy="279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700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D0E3B-5DFC-688E-846A-0BB92FF4F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0B03CD7-8B53-9D68-12BB-B2DA9ADC2A1A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508ED636-0151-35A5-31B7-52BB0EF86A66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</a:rPr>
              <a:t>特征点提取</a:t>
            </a:r>
          </a:p>
        </p:txBody>
      </p:sp>
      <p:pic>
        <p:nvPicPr>
          <p:cNvPr id="4" name="图片 3" descr="桌子上摆放着许多物品&#10;&#10;AI 生成的内容可能不正确。">
            <a:extLst>
              <a:ext uri="{FF2B5EF4-FFF2-40B4-BE49-F238E27FC236}">
                <a16:creationId xmlns:a16="http://schemas.microsoft.com/office/drawing/2014/main" id="{DF88F9AD-007C-0D2D-435D-BD8A2F12D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41" y="1227897"/>
            <a:ext cx="6508377" cy="2494583"/>
          </a:xfrm>
          <a:prstGeom prst="rect">
            <a:avLst/>
          </a:prstGeom>
        </p:spPr>
      </p:pic>
      <p:pic>
        <p:nvPicPr>
          <p:cNvPr id="7" name="图片 6" descr="图片包含 桌子, 游戏机, 床&#10;&#10;AI 生成的内容可能不正确。">
            <a:extLst>
              <a:ext uri="{FF2B5EF4-FFF2-40B4-BE49-F238E27FC236}">
                <a16:creationId xmlns:a16="http://schemas.microsoft.com/office/drawing/2014/main" id="{28DDAFAD-720D-2729-2FE4-3B8BAD246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223" y="3963129"/>
            <a:ext cx="6663545" cy="25842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FAD347A-3A67-D5CA-B110-FDFCA28853A1}"/>
              </a:ext>
            </a:extLst>
          </p:cNvPr>
          <p:cNvSpPr txBox="1"/>
          <p:nvPr/>
        </p:nvSpPr>
        <p:spPr>
          <a:xfrm>
            <a:off x="167341" y="4068971"/>
            <a:ext cx="2808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暴力匹配</a:t>
            </a:r>
          </a:p>
        </p:txBody>
      </p:sp>
    </p:spTree>
    <p:extLst>
      <p:ext uri="{BB962C8B-B14F-4D97-AF65-F5344CB8AC3E}">
        <p14:creationId xmlns:p14="http://schemas.microsoft.com/office/powerpoint/2010/main" val="2236833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B4126-BC2C-E84D-5A44-BE1BB6822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D9BB04C6-1BD3-F3AB-78FA-02F0D3D87663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EB4E479D-6F57-85BA-B11F-E9FC0FDBBA6A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F7B7F0-FAB5-7A1C-E4D8-137251AEF55C}"/>
              </a:ext>
            </a:extLst>
          </p:cNvPr>
          <p:cNvSpPr txBox="1"/>
          <p:nvPr/>
        </p:nvSpPr>
        <p:spPr>
          <a:xfrm>
            <a:off x="5052390" y="599708"/>
            <a:ext cx="2011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</a:rPr>
              <a:t>图像金字塔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6063950-BE20-6505-E0CC-FCFA1050EE32}"/>
              </a:ext>
            </a:extLst>
          </p:cNvPr>
          <p:cNvSpPr txBox="1"/>
          <p:nvPr/>
        </p:nvSpPr>
        <p:spPr>
          <a:xfrm>
            <a:off x="304800" y="1310333"/>
            <a:ext cx="1150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通过构建图像金字塔，在多尺度图像上检测 </a:t>
            </a:r>
            <a:r>
              <a:rPr lang="en-US" altLang="zh-CN" b="1" dirty="0"/>
              <a:t>FAST </a:t>
            </a:r>
            <a:r>
              <a:rPr lang="zh-CN" altLang="en-US" b="1" dirty="0"/>
              <a:t>角点，从而弥补 </a:t>
            </a:r>
            <a:r>
              <a:rPr lang="en-US" altLang="zh-CN" b="1" dirty="0"/>
              <a:t>FAST </a:t>
            </a:r>
            <a:r>
              <a:rPr lang="zh-CN" altLang="en-US" b="1" dirty="0"/>
              <a:t>原始方法缺乏尺度不变性的缺点。</a:t>
            </a:r>
            <a:endParaRPr lang="zh-CN" altLang="en-US" dirty="0"/>
          </a:p>
        </p:txBody>
      </p:sp>
      <p:pic>
        <p:nvPicPr>
          <p:cNvPr id="14" name="图片 13" descr="图示&#10;&#10;AI 生成的内容可能不正确。">
            <a:extLst>
              <a:ext uri="{FF2B5EF4-FFF2-40B4-BE49-F238E27FC236}">
                <a16:creationId xmlns:a16="http://schemas.microsoft.com/office/drawing/2014/main" id="{C7888CD9-697C-256B-CA5C-A25151C95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589" y="2634202"/>
            <a:ext cx="3252204" cy="276722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D7A132DF-B88A-89E4-E6B8-B703C1FF9AFC}"/>
              </a:ext>
            </a:extLst>
          </p:cNvPr>
          <p:cNvSpPr txBox="1"/>
          <p:nvPr/>
        </p:nvSpPr>
        <p:spPr>
          <a:xfrm>
            <a:off x="6835397" y="5341665"/>
            <a:ext cx="1882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层级：</a:t>
            </a:r>
            <a:r>
              <a:rPr lang="en-US" altLang="zh-CN" dirty="0"/>
              <a:t>8</a:t>
            </a:r>
            <a:r>
              <a:rPr lang="zh-CN" altLang="en-US" dirty="0"/>
              <a:t>层</a:t>
            </a:r>
            <a:endParaRPr lang="en-US" altLang="zh-CN" dirty="0"/>
          </a:p>
          <a:p>
            <a:r>
              <a:rPr lang="zh-CN" altLang="en-US" dirty="0"/>
              <a:t>缩放因子：</a:t>
            </a:r>
            <a:r>
              <a:rPr lang="en-US" altLang="zh-CN" dirty="0"/>
              <a:t>1.2</a:t>
            </a:r>
            <a:endParaRPr lang="zh-CN" altLang="en-US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0AEED19-14A7-7122-5927-17618231C9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307508"/>
              </p:ext>
            </p:extLst>
          </p:nvPr>
        </p:nvGraphicFramePr>
        <p:xfrm>
          <a:off x="164264" y="2547800"/>
          <a:ext cx="5826798" cy="3201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2266">
                  <a:extLst>
                    <a:ext uri="{9D8B030D-6E8A-4147-A177-3AD203B41FA5}">
                      <a16:colId xmlns:a16="http://schemas.microsoft.com/office/drawing/2014/main" val="3445189184"/>
                    </a:ext>
                  </a:extLst>
                </a:gridCol>
                <a:gridCol w="1942266">
                  <a:extLst>
                    <a:ext uri="{9D8B030D-6E8A-4147-A177-3AD203B41FA5}">
                      <a16:colId xmlns:a16="http://schemas.microsoft.com/office/drawing/2014/main" val="1245153523"/>
                    </a:ext>
                  </a:extLst>
                </a:gridCol>
                <a:gridCol w="1942266">
                  <a:extLst>
                    <a:ext uri="{9D8B030D-6E8A-4147-A177-3AD203B41FA5}">
                      <a16:colId xmlns:a16="http://schemas.microsoft.com/office/drawing/2014/main" val="3534178174"/>
                    </a:ext>
                  </a:extLst>
                </a:gridCol>
              </a:tblGrid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 b="1" dirty="0">
                          <a:solidFill>
                            <a:schemeClr val="tx1"/>
                          </a:solidFill>
                        </a:rPr>
                        <a:t>层级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scale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 b="1" dirty="0">
                          <a:solidFill>
                            <a:schemeClr val="tx1"/>
                          </a:solidFill>
                        </a:rPr>
                        <a:t>尺寸（近似）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9828483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640×480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5729939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533×400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4522166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444×333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2730482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370×277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2988486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309×231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5144826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257×193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345648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214×161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3635054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179×134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0992112"/>
                  </a:ext>
                </a:extLst>
              </a:tr>
            </a:tbl>
          </a:graphicData>
        </a:graphic>
      </p:graphicFrame>
      <p:pic>
        <p:nvPicPr>
          <p:cNvPr id="3" name="图片 2" descr="图片包含 工程绘图&#10;&#10;AI 生成的内容可能不正确。">
            <a:extLst>
              <a:ext uri="{FF2B5EF4-FFF2-40B4-BE49-F238E27FC236}">
                <a16:creationId xmlns:a16="http://schemas.microsoft.com/office/drawing/2014/main" id="{A254CD06-EFD2-3694-842E-821FA91154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3736" y="2903140"/>
            <a:ext cx="2196553" cy="145410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9916AE7-6338-76F4-2A4C-954FEC588CFF}"/>
              </a:ext>
            </a:extLst>
          </p:cNvPr>
          <p:cNvSpPr txBox="1"/>
          <p:nvPr/>
        </p:nvSpPr>
        <p:spPr>
          <a:xfrm>
            <a:off x="9341223" y="5064666"/>
            <a:ext cx="21965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从“世界坐标系”变换到“相机坐标系”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5896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E8712-F1F6-C7E2-F8B8-72897F0C6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C6DABCC7-F861-413F-A25A-57F8A5B43250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D0ABD0E4-E45C-6846-411A-CC2E346F91FE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7EE5350-DDF5-5BA9-9775-C36D08D3FCBB}"/>
              </a:ext>
            </a:extLst>
          </p:cNvPr>
          <p:cNvSpPr txBox="1"/>
          <p:nvPr/>
        </p:nvSpPr>
        <p:spPr>
          <a:xfrm>
            <a:off x="69914" y="5347789"/>
            <a:ext cx="28448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/>
              <a:t>哪里纹理强，哪里角点就爆炸</a:t>
            </a:r>
            <a:endParaRPr lang="zh-CN" altLang="en-US" sz="1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1925AC1-B777-06F9-5D42-00C675E1C43A}"/>
              </a:ext>
            </a:extLst>
          </p:cNvPr>
          <p:cNvSpPr txBox="1"/>
          <p:nvPr/>
        </p:nvSpPr>
        <p:spPr>
          <a:xfrm>
            <a:off x="3888416" y="728973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</a:rPr>
              <a:t>提取特征点并进行筛选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28E9488-7D97-5C50-C854-C96532415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06" y="1844910"/>
            <a:ext cx="2530418" cy="3373231"/>
          </a:xfrm>
          <a:prstGeom prst="rect">
            <a:avLst/>
          </a:prstGeom>
        </p:spPr>
      </p:pic>
      <p:pic>
        <p:nvPicPr>
          <p:cNvPr id="11" name="图片 10" descr="图片包含 网站&#10;&#10;AI 生成的内容可能不正确。">
            <a:extLst>
              <a:ext uri="{FF2B5EF4-FFF2-40B4-BE49-F238E27FC236}">
                <a16:creationId xmlns:a16="http://schemas.microsoft.com/office/drawing/2014/main" id="{51B9CA5D-C081-EB2B-8F7F-3EFA35F09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4281" y="1709678"/>
            <a:ext cx="4910703" cy="2853226"/>
          </a:xfrm>
          <a:prstGeom prst="rect">
            <a:avLst/>
          </a:prstGeom>
        </p:spPr>
      </p:pic>
      <p:pic>
        <p:nvPicPr>
          <p:cNvPr id="13" name="图片 12" descr="图示&#10;&#10;AI 生成的内容可能不正确。">
            <a:extLst>
              <a:ext uri="{FF2B5EF4-FFF2-40B4-BE49-F238E27FC236}">
                <a16:creationId xmlns:a16="http://schemas.microsoft.com/office/drawing/2014/main" id="{4DDCC4CD-E691-5916-BFDD-D62017AE0E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0236" y="1735550"/>
            <a:ext cx="4582019" cy="282735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7C331723-F7EA-B34F-E1D6-0259F4126874}"/>
              </a:ext>
            </a:extLst>
          </p:cNvPr>
          <p:cNvSpPr txBox="1"/>
          <p:nvPr/>
        </p:nvSpPr>
        <p:spPr>
          <a:xfrm>
            <a:off x="502771" y="1475578"/>
            <a:ext cx="2115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FAST</a:t>
            </a:r>
            <a:r>
              <a:rPr lang="zh-CN" altLang="en-US" dirty="0"/>
              <a:t>特征点的缺陷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B31E81B-610D-CD86-0D75-AFAA98A3B963}"/>
              </a:ext>
            </a:extLst>
          </p:cNvPr>
          <p:cNvSpPr txBox="1"/>
          <p:nvPr/>
        </p:nvSpPr>
        <p:spPr>
          <a:xfrm>
            <a:off x="4859838" y="4947679"/>
            <a:ext cx="45820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多尺度金字塔假设特征在空间上相对均匀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尺度匹配效果下降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E74CB-5902-9855-3FFB-860280685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03BFBB7-CCA1-D9FB-D94B-0821A0F6EA6C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F828644-E92C-838F-DC5B-57C776FD606B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187895-3D89-B318-C9DB-0B93CFED796A}"/>
              </a:ext>
            </a:extLst>
          </p:cNvPr>
          <p:cNvSpPr txBox="1"/>
          <p:nvPr/>
        </p:nvSpPr>
        <p:spPr>
          <a:xfrm>
            <a:off x="4086464" y="718079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</a:rPr>
              <a:t>特征点并进行筛选</a:t>
            </a:r>
          </a:p>
        </p:txBody>
      </p:sp>
      <p:pic>
        <p:nvPicPr>
          <p:cNvPr id="10" name="图片 9" descr="图表, 散点图&#10;&#10;AI 生成的内容可能不正确。">
            <a:extLst>
              <a:ext uri="{FF2B5EF4-FFF2-40B4-BE49-F238E27FC236}">
                <a16:creationId xmlns:a16="http://schemas.microsoft.com/office/drawing/2014/main" id="{58ED1AC3-EC04-EA9A-46F7-0DCFDBA52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" y="1583216"/>
            <a:ext cx="2905125" cy="1914525"/>
          </a:xfrm>
          <a:prstGeom prst="rect">
            <a:avLst/>
          </a:prstGeom>
        </p:spPr>
      </p:pic>
      <p:pic>
        <p:nvPicPr>
          <p:cNvPr id="15" name="图片 14" descr="图表, 散点图&#10;&#10;AI 生成的内容可能不正确。">
            <a:extLst>
              <a:ext uri="{FF2B5EF4-FFF2-40B4-BE49-F238E27FC236}">
                <a16:creationId xmlns:a16="http://schemas.microsoft.com/office/drawing/2014/main" id="{4A46B335-B70D-38F0-1271-BEA7ABFA9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656" y="1533525"/>
            <a:ext cx="2905125" cy="1895475"/>
          </a:xfrm>
          <a:prstGeom prst="rect">
            <a:avLst/>
          </a:prstGeom>
        </p:spPr>
      </p:pic>
      <p:pic>
        <p:nvPicPr>
          <p:cNvPr id="17" name="图片 16" descr="图表, 散点图&#10;&#10;AI 生成的内容可能不正确。">
            <a:extLst>
              <a:ext uri="{FF2B5EF4-FFF2-40B4-BE49-F238E27FC236}">
                <a16:creationId xmlns:a16="http://schemas.microsoft.com/office/drawing/2014/main" id="{F57DFC41-0739-2F2E-9565-7A8C65C976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7116" y="1554640"/>
            <a:ext cx="2943225" cy="1971675"/>
          </a:xfrm>
          <a:prstGeom prst="rect">
            <a:avLst/>
          </a:prstGeom>
        </p:spPr>
      </p:pic>
      <p:pic>
        <p:nvPicPr>
          <p:cNvPr id="19" name="图片 18" descr="图表, 散点图&#10;&#10;AI 生成的内容可能不正确。">
            <a:extLst>
              <a:ext uri="{FF2B5EF4-FFF2-40B4-BE49-F238E27FC236}">
                <a16:creationId xmlns:a16="http://schemas.microsoft.com/office/drawing/2014/main" id="{4A8FD9E5-E2D6-F747-7245-75A4E56311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4287" y="4637582"/>
            <a:ext cx="2962275" cy="1943100"/>
          </a:xfrm>
          <a:prstGeom prst="rect">
            <a:avLst/>
          </a:prstGeom>
        </p:spPr>
      </p:pic>
      <p:pic>
        <p:nvPicPr>
          <p:cNvPr id="21" name="图片 20" descr="图表, 散点图&#10;&#10;AI 生成的内容可能不正确。">
            <a:extLst>
              <a:ext uri="{FF2B5EF4-FFF2-40B4-BE49-F238E27FC236}">
                <a16:creationId xmlns:a16="http://schemas.microsoft.com/office/drawing/2014/main" id="{5DD89924-1DD0-302A-B0AF-84BB22A14D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7821" y="4658706"/>
            <a:ext cx="3038475" cy="1971675"/>
          </a:xfrm>
          <a:prstGeom prst="rect">
            <a:avLst/>
          </a:prstGeom>
        </p:spPr>
      </p:pic>
      <p:sp>
        <p:nvSpPr>
          <p:cNvPr id="22" name="箭头: 右 21">
            <a:extLst>
              <a:ext uri="{FF2B5EF4-FFF2-40B4-BE49-F238E27FC236}">
                <a16:creationId xmlns:a16="http://schemas.microsoft.com/office/drawing/2014/main" id="{D0B77C70-93D9-E217-3CBA-AA26D5C9F82F}"/>
              </a:ext>
            </a:extLst>
          </p:cNvPr>
          <p:cNvSpPr/>
          <p:nvPr/>
        </p:nvSpPr>
        <p:spPr>
          <a:xfrm>
            <a:off x="2855792" y="2372264"/>
            <a:ext cx="1594048" cy="3364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DF147A1D-1B87-DEB9-6266-2844D24A12C5}"/>
              </a:ext>
            </a:extLst>
          </p:cNvPr>
          <p:cNvSpPr/>
          <p:nvPr/>
        </p:nvSpPr>
        <p:spPr>
          <a:xfrm>
            <a:off x="7298173" y="2313047"/>
            <a:ext cx="1940718" cy="3364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F699FEA1-2053-136B-58CE-155F84AEDE09}"/>
              </a:ext>
            </a:extLst>
          </p:cNvPr>
          <p:cNvSpPr/>
          <p:nvPr/>
        </p:nvSpPr>
        <p:spPr>
          <a:xfrm>
            <a:off x="-2" y="5440917"/>
            <a:ext cx="2594288" cy="3364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AE7BAF4E-B9F4-620D-F8E6-8A25405B3361}"/>
              </a:ext>
            </a:extLst>
          </p:cNvPr>
          <p:cNvSpPr/>
          <p:nvPr/>
        </p:nvSpPr>
        <p:spPr>
          <a:xfrm>
            <a:off x="5491408" y="5476329"/>
            <a:ext cx="3156413" cy="3364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646CB7F-EF89-2B0B-B5C0-A1B4C29B9F3A}"/>
              </a:ext>
            </a:extLst>
          </p:cNvPr>
          <p:cNvSpPr txBox="1"/>
          <p:nvPr/>
        </p:nvSpPr>
        <p:spPr>
          <a:xfrm>
            <a:off x="301925" y="3526315"/>
            <a:ext cx="22923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Step1.</a:t>
            </a:r>
            <a:r>
              <a:rPr lang="zh-CN" altLang="en-US" sz="1400" dirty="0"/>
              <a:t>只有一个</a:t>
            </a:r>
            <a:r>
              <a:rPr lang="en-US" altLang="zh-CN" sz="1400" dirty="0"/>
              <a:t>node</a:t>
            </a:r>
            <a:endParaRPr lang="zh-CN" altLang="en-US" sz="1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C1E05CA-B19D-FDF0-17F3-B5C887AA0A16}"/>
              </a:ext>
            </a:extLst>
          </p:cNvPr>
          <p:cNvSpPr txBox="1"/>
          <p:nvPr/>
        </p:nvSpPr>
        <p:spPr>
          <a:xfrm>
            <a:off x="4449840" y="3452812"/>
            <a:ext cx="35899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Step2.</a:t>
            </a:r>
            <a:r>
              <a:rPr lang="zh-CN" altLang="en-US" sz="1400" dirty="0"/>
              <a:t>第一次分裂</a:t>
            </a:r>
            <a:endParaRPr lang="en-US" altLang="zh-CN" sz="1400" dirty="0"/>
          </a:p>
          <a:p>
            <a:r>
              <a:rPr lang="en-US" altLang="zh-CN" sz="1400" dirty="0"/>
              <a:t>1node</a:t>
            </a:r>
            <a:r>
              <a:rPr lang="zh-CN" altLang="en-US" sz="1400" dirty="0"/>
              <a:t>分裂为</a:t>
            </a:r>
            <a:r>
              <a:rPr lang="en-US" altLang="zh-CN" sz="1400" dirty="0"/>
              <a:t>4</a:t>
            </a:r>
            <a:r>
              <a:rPr lang="zh-CN" altLang="en-US" sz="1400" dirty="0"/>
              <a:t>个</a:t>
            </a:r>
            <a:r>
              <a:rPr lang="en-US" altLang="zh-CN" sz="1400" dirty="0"/>
              <a:t>node</a:t>
            </a:r>
          </a:p>
          <a:p>
            <a:r>
              <a:rPr lang="en-US" altLang="zh-CN" sz="1400" dirty="0"/>
              <a:t>Node</a:t>
            </a:r>
            <a:r>
              <a:rPr lang="zh-CN" altLang="en-US" sz="1400" dirty="0"/>
              <a:t>数量</a:t>
            </a:r>
            <a:r>
              <a:rPr lang="en-US" altLang="zh-CN" sz="1400" dirty="0"/>
              <a:t>4&lt;25</a:t>
            </a:r>
            <a:r>
              <a:rPr lang="zh-CN" altLang="en-US" sz="1400" dirty="0"/>
              <a:t>，还要接着分裂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35ABCB8-AFEA-284C-23C2-52C1ED88D5AA}"/>
              </a:ext>
            </a:extLst>
          </p:cNvPr>
          <p:cNvSpPr txBox="1"/>
          <p:nvPr/>
        </p:nvSpPr>
        <p:spPr>
          <a:xfrm>
            <a:off x="9177116" y="3428999"/>
            <a:ext cx="35230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Step3.</a:t>
            </a:r>
            <a:r>
              <a:rPr lang="zh-CN" altLang="en-US" sz="1400" dirty="0"/>
              <a:t>第二次分裂</a:t>
            </a:r>
            <a:endParaRPr lang="en-US" altLang="zh-CN" sz="14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DE4E892-9D9E-E39C-C841-01527AC31B9C}"/>
              </a:ext>
            </a:extLst>
          </p:cNvPr>
          <p:cNvSpPr txBox="1"/>
          <p:nvPr/>
        </p:nvSpPr>
        <p:spPr>
          <a:xfrm>
            <a:off x="2594286" y="6461445"/>
            <a:ext cx="35230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Step4.</a:t>
            </a:r>
            <a:r>
              <a:rPr lang="zh-CN" altLang="en-US" sz="1400" dirty="0"/>
              <a:t>第三次分裂</a:t>
            </a:r>
            <a:endParaRPr lang="en-US" altLang="zh-CN" sz="14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6F2BA03-08CF-B247-DC5C-2AB7E14A2ADA}"/>
              </a:ext>
            </a:extLst>
          </p:cNvPr>
          <p:cNvSpPr txBox="1"/>
          <p:nvPr/>
        </p:nvSpPr>
        <p:spPr>
          <a:xfrm>
            <a:off x="8585544" y="6497617"/>
            <a:ext cx="35230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Step5.</a:t>
            </a:r>
            <a:r>
              <a:rPr lang="zh-CN" altLang="en-US" sz="1400" dirty="0"/>
              <a:t>第四次分裂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2951685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E8D7-852C-87B7-04D0-8093ED64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79CF5F0E-A7E4-FF12-4B84-2CF5F1A78F06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AAC29DD4-4C6A-5527-26F4-B7F09FF96BFD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F7C1E8-AA8F-F2F3-3C4D-FA33F9A9E030}"/>
              </a:ext>
            </a:extLst>
          </p:cNvPr>
          <p:cNvSpPr txBox="1"/>
          <p:nvPr/>
        </p:nvSpPr>
        <p:spPr>
          <a:xfrm>
            <a:off x="5052390" y="599709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</a:rPr>
              <a:t>计算特征点方向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0121E4-C689-DD0D-719A-FDB1D0F4166E}"/>
              </a:ext>
            </a:extLst>
          </p:cNvPr>
          <p:cNvSpPr txBox="1"/>
          <p:nvPr/>
        </p:nvSpPr>
        <p:spPr>
          <a:xfrm>
            <a:off x="276045" y="1362974"/>
            <a:ext cx="10998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    </a:t>
            </a:r>
            <a:r>
              <a:rPr lang="zh-CN" altLang="en-US" b="1" dirty="0"/>
              <a:t>给每一个 特征点分配一个主方向（</a:t>
            </a:r>
            <a:r>
              <a:rPr lang="en-US" altLang="zh-CN" b="1" dirty="0"/>
              <a:t>orientation</a:t>
            </a:r>
            <a:r>
              <a:rPr lang="zh-CN" altLang="en-US" b="1" dirty="0"/>
              <a:t>）</a:t>
            </a:r>
            <a:r>
              <a:rPr lang="zh-CN" altLang="en-US" dirty="0"/>
              <a:t>，从而让</a:t>
            </a:r>
            <a:r>
              <a:rPr lang="zh-CN" altLang="en-US" b="1" dirty="0"/>
              <a:t>特征点</a:t>
            </a:r>
            <a:r>
              <a:rPr lang="zh-CN" altLang="en-US" dirty="0"/>
              <a:t>描述子具备 </a:t>
            </a:r>
            <a:r>
              <a:rPr lang="zh-CN" altLang="en-US" b="1" dirty="0"/>
              <a:t>旋转不变性</a:t>
            </a:r>
            <a:r>
              <a:rPr lang="zh-CN" altLang="en-US" dirty="0"/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BD65D4B-6C26-8413-AA13-889895DCDB7D}"/>
                  </a:ext>
                </a:extLst>
              </p:cNvPr>
              <p:cNvSpPr txBox="1"/>
              <p:nvPr/>
            </p:nvSpPr>
            <p:spPr>
              <a:xfrm>
                <a:off x="1362973" y="2087478"/>
                <a:ext cx="2123017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10=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nary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BD65D4B-6C26-8413-AA13-889895DCD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2973" y="2087478"/>
                <a:ext cx="2123017" cy="6707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8402678D-501D-8E27-0896-825B7DD88CB0}"/>
                  </a:ext>
                </a:extLst>
              </p:cNvPr>
              <p:cNvSpPr txBox="1"/>
              <p:nvPr/>
            </p:nvSpPr>
            <p:spPr>
              <a:xfrm>
                <a:off x="1362972" y="2758239"/>
                <a:ext cx="2113399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01=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nary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8402678D-501D-8E27-0896-825B7DD88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2972" y="2758239"/>
                <a:ext cx="2113399" cy="6707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D4BB2C0-F56C-1191-BCF0-675AFED51C78}"/>
                  </a:ext>
                </a:extLst>
              </p:cNvPr>
              <p:cNvSpPr txBox="1"/>
              <p:nvPr/>
            </p:nvSpPr>
            <p:spPr>
              <a:xfrm>
                <a:off x="7298961" y="2500252"/>
                <a:ext cx="1086929" cy="5248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den>
                    </m:f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D4BB2C0-F56C-1191-BCF0-675AFED51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8961" y="2500252"/>
                <a:ext cx="1086929" cy="524824"/>
              </a:xfrm>
              <a:prstGeom prst="rect">
                <a:avLst/>
              </a:prstGeom>
              <a:blipFill>
                <a:blip r:embed="rId5"/>
                <a:stretch>
                  <a:fillRect l="-16760" t="-1163" b="-220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286F916-8AAF-5E77-C367-14BFE88A8826}"/>
                  </a:ext>
                </a:extLst>
              </p:cNvPr>
              <p:cNvSpPr txBox="1"/>
              <p:nvPr/>
            </p:nvSpPr>
            <p:spPr>
              <a:xfrm>
                <a:off x="7951694" y="2495827"/>
                <a:ext cx="842513" cy="5248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den>
                    </m:f>
                  </m:oMath>
                </a14:m>
                <a:r>
                  <a:rPr lang="en-US" altLang="zh-CN" sz="2400" dirty="0"/>
                  <a:t>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286F916-8AAF-5E77-C367-14BFE88A8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694" y="2495827"/>
                <a:ext cx="842513" cy="524824"/>
              </a:xfrm>
              <a:prstGeom prst="rect">
                <a:avLst/>
              </a:prstGeom>
              <a:blipFill>
                <a:blip r:embed="rId6"/>
                <a:stretch>
                  <a:fillRect t="-1149" b="-206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DA084DCB-CC70-D1FE-023C-CE47F4765473}"/>
              </a:ext>
            </a:extLst>
          </p:cNvPr>
          <p:cNvSpPr txBox="1"/>
          <p:nvPr/>
        </p:nvSpPr>
        <p:spPr>
          <a:xfrm>
            <a:off x="766096" y="4571696"/>
            <a:ext cx="56272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特征点周围是一堆“亮点”</a:t>
            </a:r>
            <a:endParaRPr lang="en-US" altLang="zh-CN" dirty="0"/>
          </a:p>
          <a:p>
            <a:r>
              <a:rPr lang="zh-CN" altLang="en-US" dirty="0"/>
              <a:t>亮点分布不均 → 质心偏向某个方向</a:t>
            </a:r>
            <a:endParaRPr lang="en-US" altLang="zh-CN" dirty="0"/>
          </a:p>
          <a:p>
            <a:r>
              <a:rPr lang="zh-CN" altLang="en-US" dirty="0"/>
              <a:t>从特征点指向质心的方向 </a:t>
            </a:r>
            <a:r>
              <a:rPr lang="en-US" altLang="zh-CN" dirty="0"/>
              <a:t>= </a:t>
            </a:r>
            <a:r>
              <a:rPr lang="zh-CN" altLang="en-US" dirty="0"/>
              <a:t>主方向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7E5F00-0A15-8132-1C6D-4522737C605D}"/>
              </a:ext>
            </a:extLst>
          </p:cNvPr>
          <p:cNvSpPr txBox="1"/>
          <p:nvPr/>
        </p:nvSpPr>
        <p:spPr>
          <a:xfrm>
            <a:off x="6565868" y="4294697"/>
            <a:ext cx="4914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如果图像旋转了：</a:t>
            </a:r>
            <a:endParaRPr lang="en-US" altLang="zh-CN" dirty="0"/>
          </a:p>
          <a:p>
            <a:r>
              <a:rPr lang="zh-CN" altLang="en-US" dirty="0"/>
              <a:t>质心方向也会一起旋转</a:t>
            </a:r>
            <a:endParaRPr lang="en-US" altLang="zh-CN" dirty="0"/>
          </a:p>
          <a:p>
            <a:r>
              <a:rPr lang="zh-CN" altLang="en-US" dirty="0"/>
              <a:t>描述子跟着旋转</a:t>
            </a:r>
            <a:endParaRPr lang="en-US" altLang="zh-CN" dirty="0"/>
          </a:p>
          <a:p>
            <a:r>
              <a:rPr lang="zh-CN" altLang="en-US" dirty="0"/>
              <a:t>匹配仍然成立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F8A7B4-0DEF-2338-7CDA-22900EFBADA6}"/>
              </a:ext>
            </a:extLst>
          </p:cNvPr>
          <p:cNvSpPr txBox="1"/>
          <p:nvPr/>
        </p:nvSpPr>
        <p:spPr>
          <a:xfrm>
            <a:off x="7391492" y="3383280"/>
            <a:ext cx="1533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重心</a:t>
            </a:r>
          </a:p>
        </p:txBody>
      </p:sp>
    </p:spTree>
    <p:extLst>
      <p:ext uri="{BB962C8B-B14F-4D97-AF65-F5344CB8AC3E}">
        <p14:creationId xmlns:p14="http://schemas.microsoft.com/office/powerpoint/2010/main" val="3001510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45B8A-78BF-5280-AD7F-85DA69E1A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31039AC9-9791-DA4F-97C5-7A64277FF5E5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46A24D74-A9AA-2A24-F580-70DDEEBB131D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ECA693-10C0-5D9C-EC0E-7215749E1051}"/>
              </a:ext>
            </a:extLst>
          </p:cNvPr>
          <p:cNvSpPr txBox="1"/>
          <p:nvPr/>
        </p:nvSpPr>
        <p:spPr>
          <a:xfrm>
            <a:off x="5052390" y="599709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</a:rPr>
              <a:t>特征点描述子</a:t>
            </a:r>
          </a:p>
        </p:txBody>
      </p:sp>
      <p:pic>
        <p:nvPicPr>
          <p:cNvPr id="3" name="图片 2" descr="一棵树&#10;&#10;AI 生成的内容可能不正确。">
            <a:extLst>
              <a:ext uri="{FF2B5EF4-FFF2-40B4-BE49-F238E27FC236}">
                <a16:creationId xmlns:a16="http://schemas.microsoft.com/office/drawing/2014/main" id="{F57F62F9-3D49-1A79-37AD-91A85E468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964" y="1372355"/>
            <a:ext cx="1205182" cy="1167224"/>
          </a:xfrm>
          <a:prstGeom prst="rect">
            <a:avLst/>
          </a:prstGeom>
        </p:spPr>
      </p:pic>
      <p:pic>
        <p:nvPicPr>
          <p:cNvPr id="10" name="图片 9" descr="图片包含 游戏机, 塔&#10;&#10;AI 生成的内容可能不正确。">
            <a:extLst>
              <a:ext uri="{FF2B5EF4-FFF2-40B4-BE49-F238E27FC236}">
                <a16:creationId xmlns:a16="http://schemas.microsoft.com/office/drawing/2014/main" id="{A686AC03-4760-E50B-2842-064B79659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300" y="1415657"/>
            <a:ext cx="1119529" cy="1124044"/>
          </a:xfrm>
          <a:prstGeom prst="rect">
            <a:avLst/>
          </a:prstGeom>
        </p:spPr>
      </p:pic>
      <p:pic>
        <p:nvPicPr>
          <p:cNvPr id="12" name="图片 11" descr="图片包含 游戏机&#10;&#10;AI 生成的内容可能不正确。">
            <a:extLst>
              <a:ext uri="{FF2B5EF4-FFF2-40B4-BE49-F238E27FC236}">
                <a16:creationId xmlns:a16="http://schemas.microsoft.com/office/drawing/2014/main" id="{7E686982-5F89-E577-5539-E1FD5C5C22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917516" y="1422334"/>
            <a:ext cx="1124044" cy="1124044"/>
          </a:xfrm>
          <a:prstGeom prst="rect">
            <a:avLst/>
          </a:prstGeom>
        </p:spPr>
      </p:pic>
      <p:pic>
        <p:nvPicPr>
          <p:cNvPr id="14" name="图片 13" descr="图表&#10;&#10;AI 生成的内容可能不正确。">
            <a:extLst>
              <a:ext uri="{FF2B5EF4-FFF2-40B4-BE49-F238E27FC236}">
                <a16:creationId xmlns:a16="http://schemas.microsoft.com/office/drawing/2014/main" id="{1BC4C629-29C7-68CA-A3E7-D1E65805D9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3688152"/>
            <a:ext cx="2774830" cy="2694066"/>
          </a:xfrm>
          <a:prstGeom prst="rect">
            <a:avLst/>
          </a:prstGeom>
        </p:spPr>
      </p:pic>
      <p:sp>
        <p:nvSpPr>
          <p:cNvPr id="15" name="箭头: 右 14">
            <a:extLst>
              <a:ext uri="{FF2B5EF4-FFF2-40B4-BE49-F238E27FC236}">
                <a16:creationId xmlns:a16="http://schemas.microsoft.com/office/drawing/2014/main" id="{69C1B5B9-3633-24C4-A2FC-C02E85641A16}"/>
              </a:ext>
            </a:extLst>
          </p:cNvPr>
          <p:cNvSpPr/>
          <p:nvPr/>
        </p:nvSpPr>
        <p:spPr>
          <a:xfrm>
            <a:off x="2978555" y="4887692"/>
            <a:ext cx="3209365" cy="23905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7" name="图片 16" descr="图片包含 图示&#10;&#10;AI 生成的内容可能不正确。">
            <a:extLst>
              <a:ext uri="{FF2B5EF4-FFF2-40B4-BE49-F238E27FC236}">
                <a16:creationId xmlns:a16="http://schemas.microsoft.com/office/drawing/2014/main" id="{6BDBFE81-E035-D0A8-0F67-1B93450B71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8109" y="3724801"/>
            <a:ext cx="2875336" cy="280389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E3D1351-2B44-D5DB-7E4F-5584C47738BB}"/>
              </a:ext>
            </a:extLst>
          </p:cNvPr>
          <p:cNvSpPr txBox="1"/>
          <p:nvPr/>
        </p:nvSpPr>
        <p:spPr>
          <a:xfrm>
            <a:off x="304800" y="2829023"/>
            <a:ext cx="9908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用一个短小、稳定、可快速比较的“指纹”，来判断两个特征点是不是来自同一个真实世界点。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70100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CBD4F-F92E-3FEF-DD3C-57E248128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0A545168-AA36-91C3-0210-2E6C19E14626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5432041D-8D28-0407-CC8A-B67562C48672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en-US" altLang="zh-CN" sz="2400" b="1" dirty="0">
                <a:solidFill>
                  <a:srgbClr val="0070C0"/>
                </a:solidFill>
              </a:rPr>
              <a:t>SLAM</a:t>
            </a:r>
            <a:r>
              <a:rPr lang="zh-CN" altLang="en-US" sz="2400" b="1" dirty="0">
                <a:solidFill>
                  <a:srgbClr val="0070C0"/>
                </a:solidFill>
              </a:rPr>
              <a:t>与语义分割结合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2D4D67B-0B98-98CF-7772-418DBB5EB1D7}"/>
              </a:ext>
            </a:extLst>
          </p:cNvPr>
          <p:cNvSpPr txBox="1"/>
          <p:nvPr/>
        </p:nvSpPr>
        <p:spPr>
          <a:xfrm>
            <a:off x="240486" y="3901799"/>
            <a:ext cx="11224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特征在静态环境下表现很好，但在室内场景中，行人动态目标会严重影响 </a:t>
            </a:r>
            <a:r>
              <a:rPr lang="en-US" altLang="zh-CN" dirty="0"/>
              <a:t>SLAM </a:t>
            </a:r>
            <a:r>
              <a:rPr lang="zh-CN" altLang="en-US" dirty="0"/>
              <a:t>的稳定性</a:t>
            </a:r>
            <a:endParaRPr lang="en-US" altLang="zh-CN" dirty="0"/>
          </a:p>
          <a:p>
            <a:r>
              <a:rPr lang="zh-CN" altLang="en-US" dirty="0"/>
              <a:t>缺点：每一帧增加加了太多的特征点，影响后续的匹配和跟踪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917F18E-86C4-49C6-E242-E3AC0B38A87E}"/>
              </a:ext>
            </a:extLst>
          </p:cNvPr>
          <p:cNvSpPr txBox="1"/>
          <p:nvPr/>
        </p:nvSpPr>
        <p:spPr>
          <a:xfrm>
            <a:off x="455640" y="1338730"/>
            <a:ext cx="6988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特征点只看亮度突变，空间的分配均匀，不关心特征点结构信息</a:t>
            </a:r>
            <a:endParaRPr lang="en-US" altLang="zh-CN" dirty="0"/>
          </a:p>
          <a:p>
            <a:r>
              <a:rPr lang="zh-CN" altLang="en-US" dirty="0"/>
              <a:t>缺点：没有考虑到角点的本身信息</a:t>
            </a:r>
          </a:p>
        </p:txBody>
      </p:sp>
    </p:spTree>
    <p:extLst>
      <p:ext uri="{BB962C8B-B14F-4D97-AF65-F5344CB8AC3E}">
        <p14:creationId xmlns:p14="http://schemas.microsoft.com/office/powerpoint/2010/main" val="149735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5E189-46D3-CAF5-7DBB-741EF4686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D8C4313C-58A8-3230-B024-4A3C0A2B55D6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A8B9FA42-AEF2-0E71-0E37-2535756895C3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zh-CN" altLang="en-US" sz="2400" b="1" dirty="0">
                <a:solidFill>
                  <a:srgbClr val="0070C0"/>
                </a:solidFill>
              </a:rPr>
              <a:t>局部梯度能量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D6D909B-2BD2-D4A8-B1E7-C3B636A4A186}"/>
              </a:ext>
            </a:extLst>
          </p:cNvPr>
          <p:cNvSpPr txBox="1"/>
          <p:nvPr/>
        </p:nvSpPr>
        <p:spPr>
          <a:xfrm>
            <a:off x="455640" y="1386541"/>
            <a:ext cx="114833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利用梯度信息刻画角点邻域的结构复杂度和信息量，从而提升特征点的判别能力</a:t>
            </a:r>
            <a:endParaRPr lang="en-US" altLang="zh-CN" dirty="0"/>
          </a:p>
          <a:p>
            <a:r>
              <a:rPr lang="zh-CN" altLang="en-US" dirty="0"/>
              <a:t>梯度定义：</a:t>
            </a:r>
            <a:endParaRPr lang="en-US" altLang="zh-CN" dirty="0"/>
          </a:p>
          <a:p>
            <a:r>
              <a:rPr lang="en-US" altLang="zh-CN" dirty="0"/>
              <a:t>		</a:t>
            </a:r>
          </a:p>
          <a:p>
            <a:r>
              <a:rPr lang="en-US" altLang="zh-CN" dirty="0"/>
              <a:t>	</a:t>
            </a: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5D70AFB6-DD4E-EBD8-EEDF-86CF63ECF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697" y="4942356"/>
            <a:ext cx="4113960" cy="956006"/>
          </a:xfrm>
          <a:prstGeom prst="rect">
            <a:avLst/>
          </a:prstGeom>
        </p:spPr>
      </p:pic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D3C9FD54-C34A-9078-1233-537D5011A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3" y="2100087"/>
            <a:ext cx="4566024" cy="19109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1EA72AC-B4D2-EB6A-6498-1279238566EE}"/>
                  </a:ext>
                </a:extLst>
              </p:cNvPr>
              <p:cNvSpPr txBox="1"/>
              <p:nvPr/>
            </p:nvSpPr>
            <p:spPr>
              <a:xfrm>
                <a:off x="573741" y="4181484"/>
                <a:ext cx="54505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在以特征点为中心的局部邻域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zh-CN" altLang="en-US" dirty="0"/>
                  <a:t>内，定义梯度能量为：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1EA72AC-B4D2-EB6A-6498-127923856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41" y="4181484"/>
                <a:ext cx="5450541" cy="369332"/>
              </a:xfrm>
              <a:prstGeom prst="rect">
                <a:avLst/>
              </a:prstGeom>
              <a:blipFill>
                <a:blip r:embed="rId4"/>
                <a:stretch>
                  <a:fillRect l="-895" t="-9836" r="-5145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673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3F704-772A-E014-AE19-6C9C9E799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8EAE532A-DDF5-FA21-33AB-F6E9A0081766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C61F7432-313E-BBA9-E74B-B30BF0B0438A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en-US" altLang="zh-CN" sz="2400" b="1" dirty="0">
                <a:solidFill>
                  <a:srgbClr val="0070C0"/>
                </a:solidFill>
              </a:rPr>
              <a:t>SLAM</a:t>
            </a:r>
            <a:r>
              <a:rPr lang="zh-CN" altLang="en-US" sz="2400" b="1" dirty="0">
                <a:solidFill>
                  <a:srgbClr val="0070C0"/>
                </a:solidFill>
              </a:rPr>
              <a:t>与语义分割结合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6E22DA1-19BD-7976-3FBF-B10EB6DF124E}"/>
              </a:ext>
            </a:extLst>
          </p:cNvPr>
          <p:cNvSpPr txBox="1"/>
          <p:nvPr/>
        </p:nvSpPr>
        <p:spPr>
          <a:xfrm>
            <a:off x="410577" y="1497584"/>
            <a:ext cx="112815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传统角点筛选方法主要关注空间均匀性，容易保留结构信息不足的弱角点</a:t>
            </a:r>
            <a:endParaRPr lang="en-US" altLang="zh-CN" dirty="0"/>
          </a:p>
          <a:p>
            <a:r>
              <a:rPr lang="zh-CN" altLang="en-US" dirty="0"/>
              <a:t>通过引入局部梯度能量作为补充约束，可以在保证特征点分布均匀的同时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有效筛选出具有更丰富局部结构和更强判别能力的特征点</a:t>
            </a:r>
            <a:endParaRPr lang="en-US" altLang="zh-CN" dirty="0"/>
          </a:p>
          <a:p>
            <a:r>
              <a:rPr lang="zh-CN" altLang="en-US" dirty="0"/>
              <a:t>从而提升后续特征匹配和视觉 </a:t>
            </a:r>
            <a:r>
              <a:rPr lang="en-US" altLang="zh-CN" dirty="0"/>
              <a:t>SLAM </a:t>
            </a:r>
            <a:r>
              <a:rPr lang="zh-CN" altLang="en-US" dirty="0"/>
              <a:t>系统的整体性能</a:t>
            </a:r>
          </a:p>
        </p:txBody>
      </p:sp>
    </p:spTree>
    <p:extLst>
      <p:ext uri="{BB962C8B-B14F-4D97-AF65-F5344CB8AC3E}">
        <p14:creationId xmlns:p14="http://schemas.microsoft.com/office/powerpoint/2010/main" val="2460406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16399-B508-465A-3F61-8AD0E8F75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FF501C1-DEC2-FE28-8F07-B22801BAD664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C82ACBA-F9DA-3828-62B0-1F3D5F95A0C8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</a:rPr>
              <a:t>语义分割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2FE572-4D0F-C5E3-1251-FAF4E66ACDAC}"/>
              </a:ext>
            </a:extLst>
          </p:cNvPr>
          <p:cNvSpPr txBox="1"/>
          <p:nvPr/>
        </p:nvSpPr>
        <p:spPr>
          <a:xfrm>
            <a:off x="391459" y="1470212"/>
            <a:ext cx="5704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语义分割的对图像的理解是像素级别的。</a:t>
            </a:r>
          </a:p>
        </p:txBody>
      </p:sp>
      <p:pic>
        <p:nvPicPr>
          <p:cNvPr id="6" name="图片 5" descr="狗的照片上写着字&#10;&#10;AI 生成的内容可能不正确。">
            <a:extLst>
              <a:ext uri="{FF2B5EF4-FFF2-40B4-BE49-F238E27FC236}">
                <a16:creationId xmlns:a16="http://schemas.microsoft.com/office/drawing/2014/main" id="{C6B0169B-9C20-7DA8-F7BF-7EACB67C3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20" y="2648185"/>
            <a:ext cx="4399200" cy="1905885"/>
          </a:xfrm>
          <a:prstGeom prst="rect">
            <a:avLst/>
          </a:prstGeom>
        </p:spPr>
      </p:pic>
      <p:pic>
        <p:nvPicPr>
          <p:cNvPr id="10" name="图片 9" descr="穿着蓝色衣服的卡通人物&#10;&#10;AI 生成的内容可能不正确。">
            <a:extLst>
              <a:ext uri="{FF2B5EF4-FFF2-40B4-BE49-F238E27FC236}">
                <a16:creationId xmlns:a16="http://schemas.microsoft.com/office/drawing/2014/main" id="{3279B902-120C-2B46-0F18-9ABA780D4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0202" y="2511572"/>
            <a:ext cx="3443069" cy="2042498"/>
          </a:xfrm>
          <a:prstGeom prst="rect">
            <a:avLst/>
          </a:prstGeom>
        </p:spPr>
      </p:pic>
      <p:pic>
        <p:nvPicPr>
          <p:cNvPr id="5" name="图片 4" descr="卡通人物&#10;&#10;AI 生成的内容可能不正确。">
            <a:extLst>
              <a:ext uri="{FF2B5EF4-FFF2-40B4-BE49-F238E27FC236}">
                <a16:creationId xmlns:a16="http://schemas.microsoft.com/office/drawing/2014/main" id="{8365C429-BDE6-D2D8-7416-328B1D623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4437" y="2717539"/>
            <a:ext cx="3147643" cy="176717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590BF3B-5089-8686-81AD-45FEAAC4C18E}"/>
              </a:ext>
            </a:extLst>
          </p:cNvPr>
          <p:cNvSpPr txBox="1"/>
          <p:nvPr/>
        </p:nvSpPr>
        <p:spPr>
          <a:xfrm>
            <a:off x="1039906" y="4793129"/>
            <a:ext cx="194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目标检测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9391F7-6207-120E-D4FA-7FDD36BA6A02}"/>
              </a:ext>
            </a:extLst>
          </p:cNvPr>
          <p:cNvSpPr txBox="1"/>
          <p:nvPr/>
        </p:nvSpPr>
        <p:spPr>
          <a:xfrm>
            <a:off x="5441577" y="4760863"/>
            <a:ext cx="194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语义分割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2A3551-4BEF-F8DD-25BB-1CA4DA825A23}"/>
              </a:ext>
            </a:extLst>
          </p:cNvPr>
          <p:cNvSpPr txBox="1"/>
          <p:nvPr/>
        </p:nvSpPr>
        <p:spPr>
          <a:xfrm>
            <a:off x="9377083" y="4793129"/>
            <a:ext cx="194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示例分割</a:t>
            </a:r>
          </a:p>
        </p:txBody>
      </p:sp>
    </p:spTree>
    <p:extLst>
      <p:ext uri="{BB962C8B-B14F-4D97-AF65-F5344CB8AC3E}">
        <p14:creationId xmlns:p14="http://schemas.microsoft.com/office/powerpoint/2010/main" val="322625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1A715-1322-E417-AC5A-A870B18D6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A6AED542-7818-63F9-F3CF-F1BF46FEE071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053F5489-C62D-C0F0-686B-7EA3EDE4E903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</a:rPr>
              <a:t>语义分割</a:t>
            </a:r>
          </a:p>
        </p:txBody>
      </p:sp>
      <p:pic>
        <p:nvPicPr>
          <p:cNvPr id="12" name="图片 11" descr="人骑着摩托车&#10;&#10;AI 生成的内容可能不正确。">
            <a:extLst>
              <a:ext uri="{FF2B5EF4-FFF2-40B4-BE49-F238E27FC236}">
                <a16:creationId xmlns:a16="http://schemas.microsoft.com/office/drawing/2014/main" id="{EEA428F2-9A7C-A90D-7D52-61A5DE99A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290" y="1263512"/>
            <a:ext cx="3467100" cy="2781300"/>
          </a:xfrm>
          <a:prstGeom prst="rect">
            <a:avLst/>
          </a:prstGeom>
        </p:spPr>
      </p:pic>
      <p:pic>
        <p:nvPicPr>
          <p:cNvPr id="14" name="图片 13" descr="人在骑自行车&#10;&#10;AI 生成的内容可能不正确。">
            <a:extLst>
              <a:ext uri="{FF2B5EF4-FFF2-40B4-BE49-F238E27FC236}">
                <a16:creationId xmlns:a16="http://schemas.microsoft.com/office/drawing/2014/main" id="{131D4A43-D2DC-16DD-C265-0FD4FDAFD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825" y="1387337"/>
            <a:ext cx="3362325" cy="2533650"/>
          </a:xfrm>
          <a:prstGeom prst="rect">
            <a:avLst/>
          </a:prstGeom>
        </p:spPr>
      </p:pic>
      <p:pic>
        <p:nvPicPr>
          <p:cNvPr id="16" name="图片 15" descr="人们在看台上的人跳起来&#10;&#10;AI 生成的内容可能不正确。">
            <a:extLst>
              <a:ext uri="{FF2B5EF4-FFF2-40B4-BE49-F238E27FC236}">
                <a16:creationId xmlns:a16="http://schemas.microsoft.com/office/drawing/2014/main" id="{ECCF1598-1FFA-00ED-676F-DC87226FA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777" y="4044812"/>
            <a:ext cx="3286125" cy="2552700"/>
          </a:xfrm>
          <a:prstGeom prst="rect">
            <a:avLst/>
          </a:prstGeom>
        </p:spPr>
      </p:pic>
      <p:pic>
        <p:nvPicPr>
          <p:cNvPr id="18" name="图片 17" descr="显示照片的马&#10;&#10;AI 生成的内容可能不正确。">
            <a:extLst>
              <a:ext uri="{FF2B5EF4-FFF2-40B4-BE49-F238E27FC236}">
                <a16:creationId xmlns:a16="http://schemas.microsoft.com/office/drawing/2014/main" id="{B4602B23-BE4D-7CA3-6A8D-72A146349E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825" y="3742281"/>
            <a:ext cx="3559471" cy="2855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015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BF79E-6CDB-65D3-6F11-276F898E4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C5F06FF-3BA9-EAC2-D6B9-4AC9E704DD9A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209F053D-7D3D-27FF-F460-498CAAD29C2C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zh-CN" altLang="en-US" sz="2400" b="1" dirty="0">
                <a:solidFill>
                  <a:srgbClr val="0070C0"/>
                </a:solidFill>
              </a:rPr>
              <a:t>语义分割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CC8913-5FC5-9AD3-516D-A493D66CC915}"/>
              </a:ext>
            </a:extLst>
          </p:cNvPr>
          <p:cNvSpPr txBox="1"/>
          <p:nvPr/>
        </p:nvSpPr>
        <p:spPr>
          <a:xfrm>
            <a:off x="8124177" y="2324847"/>
            <a:ext cx="353209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输入图像</a:t>
            </a:r>
          </a:p>
          <a:p>
            <a:pPr algn="ctr"/>
            <a:r>
              <a:rPr lang="zh-CN" altLang="en-US" dirty="0"/>
              <a:t>   ↓</a:t>
            </a:r>
          </a:p>
          <a:p>
            <a:pPr algn="ctr"/>
            <a:r>
              <a:rPr lang="zh-CN" altLang="en-US" dirty="0"/>
              <a:t>Encoder（Backbone + ASPP）</a:t>
            </a:r>
          </a:p>
          <a:p>
            <a:pPr algn="ctr"/>
            <a:r>
              <a:rPr lang="zh-CN" altLang="en-US" dirty="0"/>
              <a:t>   ↓</a:t>
            </a:r>
          </a:p>
          <a:p>
            <a:pPr algn="ctr"/>
            <a:r>
              <a:rPr lang="zh-CN" altLang="en-US" dirty="0"/>
              <a:t>Decoder（特征融合 + 上采样）</a:t>
            </a:r>
          </a:p>
          <a:p>
            <a:pPr algn="ctr"/>
            <a:r>
              <a:rPr lang="zh-CN" altLang="en-US" dirty="0"/>
              <a:t>   ↓</a:t>
            </a:r>
          </a:p>
          <a:p>
            <a:pPr algn="ctr"/>
            <a:r>
              <a:rPr lang="zh-CN" altLang="en-US" dirty="0"/>
              <a:t>像素级语义分割结果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3D980FB4-D649-EACF-95DC-F5212B1A7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00" y="2143737"/>
            <a:ext cx="6900149" cy="353807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0559656-1C70-76EF-3A21-F37090DB23E5}"/>
              </a:ext>
            </a:extLst>
          </p:cNvPr>
          <p:cNvSpPr txBox="1"/>
          <p:nvPr/>
        </p:nvSpPr>
        <p:spPr>
          <a:xfrm>
            <a:off x="6242424" y="2971177"/>
            <a:ext cx="1640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负责 </a:t>
            </a:r>
            <a:r>
              <a:rPr lang="zh-CN" altLang="en-US" b="1" dirty="0"/>
              <a:t>语义理解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F296DC6-D138-FE5C-0004-88D873F90D0D}"/>
              </a:ext>
            </a:extLst>
          </p:cNvPr>
          <p:cNvSpPr txBox="1"/>
          <p:nvPr/>
        </p:nvSpPr>
        <p:spPr>
          <a:xfrm>
            <a:off x="6242424" y="4191180"/>
            <a:ext cx="19692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负责 </a:t>
            </a:r>
            <a:r>
              <a:rPr lang="zh-CN" altLang="en-US" b="1" dirty="0"/>
              <a:t>边界细化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536A77D-F507-10B6-8608-C330CAC9F32A}"/>
              </a:ext>
            </a:extLst>
          </p:cNvPr>
          <p:cNvSpPr txBox="1"/>
          <p:nvPr/>
        </p:nvSpPr>
        <p:spPr>
          <a:xfrm>
            <a:off x="3364037" y="1380357"/>
            <a:ext cx="3376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DeepLab</a:t>
            </a:r>
            <a:r>
              <a:rPr lang="en-US" altLang="zh-CN" b="1" dirty="0"/>
              <a:t> v3 </a:t>
            </a:r>
            <a:r>
              <a:rPr lang="zh-CN" altLang="en-US" b="1" dirty="0"/>
              <a:t>网络结构</a:t>
            </a:r>
          </a:p>
        </p:txBody>
      </p:sp>
    </p:spTree>
    <p:extLst>
      <p:ext uri="{BB962C8B-B14F-4D97-AF65-F5344CB8AC3E}">
        <p14:creationId xmlns:p14="http://schemas.microsoft.com/office/powerpoint/2010/main" val="13810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0F831-01D4-8911-2D8E-968BA3352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AA81EAF-4FAA-2C6A-9052-4ECB7BD8FD8F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0841C2E0-0493-1C54-28A5-0BBA060D43C7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2800" b="1" dirty="0">
                <a:solidFill>
                  <a:srgbClr val="0070C0"/>
                </a:solidFill>
              </a:rPr>
              <a:t>方案设计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9C86ECF-25C2-EA99-0FED-7CDF9CD920C4}"/>
              </a:ext>
            </a:extLst>
          </p:cNvPr>
          <p:cNvSpPr txBox="1"/>
          <p:nvPr/>
        </p:nvSpPr>
        <p:spPr>
          <a:xfrm>
            <a:off x="2589364" y="2259833"/>
            <a:ext cx="510235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输入图像</a:t>
            </a:r>
          </a:p>
          <a:p>
            <a:pPr algn="ctr"/>
            <a:r>
              <a:rPr lang="zh-CN" altLang="en-US" sz="2800" b="1" dirty="0"/>
              <a:t>   ↓</a:t>
            </a:r>
          </a:p>
          <a:p>
            <a:pPr algn="ctr"/>
            <a:r>
              <a:rPr lang="zh-CN" altLang="en-US" sz="2800" b="1" dirty="0"/>
              <a:t>语义分割（像素级分类）</a:t>
            </a:r>
          </a:p>
          <a:p>
            <a:pPr algn="ctr"/>
            <a:r>
              <a:rPr lang="zh-CN" altLang="en-US" sz="2800" b="1" dirty="0"/>
              <a:t>   ↓</a:t>
            </a:r>
          </a:p>
          <a:p>
            <a:pPr algn="ctr"/>
            <a:r>
              <a:rPr lang="zh-CN" altLang="en-US" sz="2800" b="1" dirty="0"/>
              <a:t>动态区域剔除</a:t>
            </a:r>
          </a:p>
          <a:p>
            <a:pPr algn="ctr"/>
            <a:r>
              <a:rPr lang="zh-CN" altLang="en-US" sz="2800" b="1" dirty="0"/>
              <a:t>   ↓</a:t>
            </a:r>
          </a:p>
          <a:p>
            <a:pPr algn="ctr"/>
            <a:r>
              <a:rPr lang="zh-CN" altLang="en-US" sz="2800" b="1" dirty="0"/>
              <a:t>特征提取与匹配</a:t>
            </a:r>
          </a:p>
          <a:p>
            <a:pPr algn="ctr"/>
            <a:r>
              <a:rPr lang="zh-CN" altLang="en-US" sz="2800" b="1" dirty="0"/>
              <a:t>   ↓</a:t>
            </a:r>
          </a:p>
          <a:p>
            <a:pPr algn="ctr"/>
            <a:r>
              <a:rPr lang="zh-CN" altLang="en-US" sz="2800" b="1" dirty="0"/>
              <a:t>位姿估计与地图构建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6B34C5-4DC3-740C-1FC4-973223F81A62}"/>
              </a:ext>
            </a:extLst>
          </p:cNvPr>
          <p:cNvSpPr txBox="1"/>
          <p:nvPr/>
        </p:nvSpPr>
        <p:spPr>
          <a:xfrm>
            <a:off x="3836894" y="1691342"/>
            <a:ext cx="2694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语义分割模块引入</a:t>
            </a:r>
          </a:p>
        </p:txBody>
      </p:sp>
    </p:spTree>
    <p:extLst>
      <p:ext uri="{BB962C8B-B14F-4D97-AF65-F5344CB8AC3E}">
        <p14:creationId xmlns:p14="http://schemas.microsoft.com/office/powerpoint/2010/main" val="2237661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B132F-6692-1CC7-E7CE-C26D58113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85BA2A33-DBAA-DC43-7CA5-12CC1AA9E58B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7C13FBA7-AD59-39AD-972F-266221659936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938399-71CD-BD6D-4D61-8CBBC784ECBC}"/>
              </a:ext>
            </a:extLst>
          </p:cNvPr>
          <p:cNvSpPr txBox="1"/>
          <p:nvPr/>
        </p:nvSpPr>
        <p:spPr>
          <a:xfrm>
            <a:off x="867303" y="2826871"/>
            <a:ext cx="10457394" cy="1710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59982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思想政治上，积极的向党组织靠拢，拥护中国共产党的领导。认真学习马克斯列宁主义、毛泽东思想、邓小平理论、科学发展观、习近平新时代中国特色社会主义思想。在校期间主动加强了对政治理论知识的学习，积极完成了每期的青年大学习，切实地提高了自己的思想认识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59982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在组织纪律方面，严格遵守学校相关规章制度，不做违纪违规违法的事。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AFDC9D7-C29B-F084-D078-1C5F90606251}"/>
              </a:ext>
            </a:extLst>
          </p:cNvPr>
          <p:cNvSpPr txBox="1"/>
          <p:nvPr/>
        </p:nvSpPr>
        <p:spPr>
          <a:xfrm>
            <a:off x="4898502" y="599709"/>
            <a:ext cx="1415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zh-CN" altLang="en-US" sz="2400" b="1" dirty="0">
                <a:solidFill>
                  <a:srgbClr val="0070C0"/>
                </a:solidFill>
              </a:rPr>
              <a:t>期中总结</a:t>
            </a:r>
          </a:p>
        </p:txBody>
      </p:sp>
    </p:spTree>
    <p:extLst>
      <p:ext uri="{BB962C8B-B14F-4D97-AF65-F5344CB8AC3E}">
        <p14:creationId xmlns:p14="http://schemas.microsoft.com/office/powerpoint/2010/main" val="2697207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48069-4FFA-E823-11DC-BFF87CEFE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23ACE7F8-ED52-45AB-80C6-6D47EA624F2C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0FC67AAD-A866-30A9-322D-004242BC1FDB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8A5C5E5-FAA7-45FB-DC6D-C9F2B9C78A33}"/>
              </a:ext>
            </a:extLst>
          </p:cNvPr>
          <p:cNvSpPr txBox="1"/>
          <p:nvPr/>
        </p:nvSpPr>
        <p:spPr>
          <a:xfrm>
            <a:off x="2757763" y="1859339"/>
            <a:ext cx="5161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/>
          </a:p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FD565C-70A6-CD61-44EE-0A23C9BD1825}"/>
              </a:ext>
            </a:extLst>
          </p:cNvPr>
          <p:cNvSpPr txBox="1"/>
          <p:nvPr/>
        </p:nvSpPr>
        <p:spPr>
          <a:xfrm>
            <a:off x="4898502" y="599709"/>
            <a:ext cx="1415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zh-CN" altLang="en-US" sz="2400" b="1" dirty="0">
                <a:solidFill>
                  <a:srgbClr val="0070C0"/>
                </a:solidFill>
              </a:rPr>
              <a:t>期中总结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521563A-5869-77F7-D221-35ADDCAA1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523320"/>
              </p:ext>
            </p:extLst>
          </p:nvPr>
        </p:nvGraphicFramePr>
        <p:xfrm>
          <a:off x="825134" y="2006332"/>
          <a:ext cx="9331674" cy="1815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0558">
                  <a:extLst>
                    <a:ext uri="{9D8B030D-6E8A-4147-A177-3AD203B41FA5}">
                      <a16:colId xmlns:a16="http://schemas.microsoft.com/office/drawing/2014/main" val="1565809166"/>
                    </a:ext>
                  </a:extLst>
                </a:gridCol>
                <a:gridCol w="3110558">
                  <a:extLst>
                    <a:ext uri="{9D8B030D-6E8A-4147-A177-3AD203B41FA5}">
                      <a16:colId xmlns:a16="http://schemas.microsoft.com/office/drawing/2014/main" val="1926985813"/>
                    </a:ext>
                  </a:extLst>
                </a:gridCol>
                <a:gridCol w="3110558">
                  <a:extLst>
                    <a:ext uri="{9D8B030D-6E8A-4147-A177-3AD203B41FA5}">
                      <a16:colId xmlns:a16="http://schemas.microsoft.com/office/drawing/2014/main" val="3025337812"/>
                    </a:ext>
                  </a:extLst>
                </a:gridCol>
              </a:tblGrid>
              <a:tr h="90795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时间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奖项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6955706"/>
                  </a:ext>
                </a:extLst>
              </a:tr>
              <a:tr h="907957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CN" sz="1800" dirty="0"/>
                        <a:t>2025</a:t>
                      </a:r>
                      <a:r>
                        <a:rPr lang="zh-CN" altLang="en-US" sz="1800" dirty="0"/>
                        <a:t>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zh-CN" altLang="en-US" sz="1800" dirty="0"/>
                        <a:t>“兆易创新杯”第二十届中国研究生电子设计竞赛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zh-CN" altLang="en-US" sz="1800" dirty="0"/>
                        <a:t>省级一等奖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6265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9115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11276-B627-681A-D494-68CF19965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432D0590-5CBF-8439-C953-48FD5893F17A}"/>
              </a:ext>
            </a:extLst>
          </p:cNvPr>
          <p:cNvSpPr/>
          <p:nvPr/>
        </p:nvSpPr>
        <p:spPr>
          <a:xfrm flipV="1">
            <a:off x="9949989" y="429064"/>
            <a:ext cx="2242012" cy="710623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C75C772D-26BA-FD83-1324-0570D040D36E}"/>
              </a:ext>
            </a:extLst>
          </p:cNvPr>
          <p:cNvSpPr/>
          <p:nvPr/>
        </p:nvSpPr>
        <p:spPr>
          <a:xfrm rot="10800000" flipV="1">
            <a:off x="-1" y="429065"/>
            <a:ext cx="10104783" cy="710622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06DE6F1-8ED5-CA3A-778C-444B2133B9D5}"/>
              </a:ext>
            </a:extLst>
          </p:cNvPr>
          <p:cNvSpPr txBox="1"/>
          <p:nvPr/>
        </p:nvSpPr>
        <p:spPr>
          <a:xfrm>
            <a:off x="4783085" y="599709"/>
            <a:ext cx="1415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2400" b="1">
                <a:solidFill>
                  <a:srgbClr val="1F3A5F"/>
                </a:solidFill>
              </a:defRPr>
            </a:pPr>
            <a:r>
              <a:rPr lang="zh-CN" altLang="en-US" sz="2400" b="1" dirty="0">
                <a:solidFill>
                  <a:srgbClr val="0070C0"/>
                </a:solidFill>
              </a:rPr>
              <a:t>期中总结</a:t>
            </a:r>
          </a:p>
        </p:txBody>
      </p:sp>
      <p:graphicFrame>
        <p:nvGraphicFramePr>
          <p:cNvPr id="3" name="表格 9">
            <a:extLst>
              <a:ext uri="{FF2B5EF4-FFF2-40B4-BE49-F238E27FC236}">
                <a16:creationId xmlns:a16="http://schemas.microsoft.com/office/drawing/2014/main" id="{8E8E64A4-2959-2BD2-687F-2B29FECD9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085549"/>
              </p:ext>
            </p:extLst>
          </p:nvPr>
        </p:nvGraphicFramePr>
        <p:xfrm>
          <a:off x="853193" y="1537226"/>
          <a:ext cx="9612000" cy="416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304">
                  <a:extLst>
                    <a:ext uri="{9D8B030D-6E8A-4147-A177-3AD203B41FA5}">
                      <a16:colId xmlns:a16="http://schemas.microsoft.com/office/drawing/2014/main" val="668580942"/>
                    </a:ext>
                  </a:extLst>
                </a:gridCol>
                <a:gridCol w="2516232">
                  <a:extLst>
                    <a:ext uri="{9D8B030D-6E8A-4147-A177-3AD203B41FA5}">
                      <a16:colId xmlns:a16="http://schemas.microsoft.com/office/drawing/2014/main" val="3446936119"/>
                    </a:ext>
                  </a:extLst>
                </a:gridCol>
                <a:gridCol w="2516232">
                  <a:extLst>
                    <a:ext uri="{9D8B030D-6E8A-4147-A177-3AD203B41FA5}">
                      <a16:colId xmlns:a16="http://schemas.microsoft.com/office/drawing/2014/main" val="1430247082"/>
                    </a:ext>
                  </a:extLst>
                </a:gridCol>
                <a:gridCol w="2516232">
                  <a:extLst>
                    <a:ext uri="{9D8B030D-6E8A-4147-A177-3AD203B41FA5}">
                      <a16:colId xmlns:a16="http://schemas.microsoft.com/office/drawing/2014/main" val="129526656"/>
                    </a:ext>
                  </a:extLst>
                </a:gridCol>
              </a:tblGrid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aseline="0" dirty="0"/>
                        <a:t>课程名称</a:t>
                      </a:r>
                      <a:endParaRPr lang="zh-CN" altLang="en-US" sz="13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aseline="0" dirty="0"/>
                        <a:t>成绩</a:t>
                      </a:r>
                      <a:endParaRPr lang="zh-CN" altLang="en-US" sz="13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aseline="0" dirty="0"/>
                        <a:t>课程名称</a:t>
                      </a:r>
                      <a:endParaRPr lang="zh-CN" altLang="en-US" sz="13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aseline="0" dirty="0"/>
                        <a:t>成绩</a:t>
                      </a:r>
                      <a:endParaRPr lang="zh-CN" altLang="en-US" sz="13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8690533"/>
                  </a:ext>
                </a:extLst>
              </a:tr>
              <a:tr h="50794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MicrosoftYaHei"/>
                          <a:ea typeface="+mn-ea"/>
                          <a:cs typeface="+mn-cs"/>
                        </a:rPr>
                        <a:t>中特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500" b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线性系统理论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76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49562199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自然辨证法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500" b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机器人控制技术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62230976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英语（专硕）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机器学习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34448919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工程伦理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最优控制与状态估计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98132019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人工智能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论文写作指导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850670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数理统计与数据分析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控制工程实践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29708560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矩阵论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5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5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68564653"/>
                  </a:ext>
                </a:extLst>
              </a:tr>
              <a:tr h="43150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zh-CN" altLang="en-US" sz="1900" b="0" u="none" strike="noStrike" baseline="0" dirty="0">
                          <a:solidFill>
                            <a:srgbClr val="000000"/>
                          </a:solidFill>
                          <a:effectLst/>
                        </a:rPr>
                        <a:t>平均成绩</a:t>
                      </a:r>
                      <a:endParaRPr lang="zh-CN" altLang="en-US" sz="1900" b="0" i="0" u="none" strike="noStrike" baseline="0" dirty="0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zh-CN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altLang="zh-CN" sz="1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zh-CN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59110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118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jb3VudCI6NiwiaGRpZCI6IjE2MTJhYWM4ODBlZGRiOTg2MjRmY2Q3NmU0NzUwOTBkIiwidXNlckNvdW50IjoyfQ=="/>
  <p:tag name="KSO_WPP_MARK_KEY" val="b5d5d4d8-fae6-4f32-8417-d48d32afacb0"/>
</p:tagLst>
</file>

<file path=ppt/theme/theme1.xml><?xml version="1.0" encoding="utf-8"?>
<a:theme xmlns:a="http://schemas.openxmlformats.org/drawingml/2006/main" name="Office 主题​​">
  <a:themeElements>
    <a:clrScheme name="自定义 185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CA9B6"/>
      </a:accent1>
      <a:accent2>
        <a:srgbClr val="80CAC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3020</TotalTime>
  <Words>1712</Words>
  <Application>Microsoft Office PowerPoint</Application>
  <PresentationFormat>宽屏</PresentationFormat>
  <Paragraphs>214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MicrosoftYaHei</vt:lpstr>
      <vt:lpstr>阿里巴巴普惠体</vt:lpstr>
      <vt:lpstr>等线</vt:lpstr>
      <vt:lpstr>等线 Light</vt:lpstr>
      <vt:lpstr>黑体</vt:lpstr>
      <vt:lpstr>微软雅黑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LIC</dc:creator>
  <cp:lastModifiedBy>lic lic</cp:lastModifiedBy>
  <cp:revision>240</cp:revision>
  <dcterms:created xsi:type="dcterms:W3CDTF">2019-11-15T01:58:00Z</dcterms:created>
  <dcterms:modified xsi:type="dcterms:W3CDTF">2026-01-03T12:09:16Z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KSOTemplateUUID">
    <vt:lpwstr>v1.0_mb_dlQcp65oTb8jH0+a0xOncA==</vt:lpwstr>
  </property>
  <property fmtid="{D5CDD505-2E9C-101B-9397-08002B2CF9AE}" pid="4" name="ICV">
    <vt:lpwstr>CD135054CAF64EFEBBF99609DB0A9577</vt:lpwstr>
  </property>
</Properties>
</file>